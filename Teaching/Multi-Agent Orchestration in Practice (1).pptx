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embeddedFontLst>
    <p:embeddedFont>
      <p:font typeface="Fira Code" panose="020B0809050000020004" pitchFamily="49" charset="0"/>
      <p:bold r:id="rId26"/>
    </p:embeddedFont>
    <p:embeddedFont>
      <p:font typeface="Fira Code SemiBold" panose="020B0604020202020204" charset="0"/>
      <p:regular r:id="rId27"/>
      <p:bold r:id="rId28"/>
    </p:embeddedFont>
    <p:embeddedFont>
      <p:font typeface="Inter" panose="020B0604020202020204" charset="0"/>
      <p:regular r:id="rId29"/>
      <p:bold r:id="rId30"/>
      <p:italic r:id="rId31"/>
      <p:boldItalic r:id="rId32"/>
    </p:embeddedFont>
    <p:embeddedFont>
      <p:font typeface="Inter SemiBold" panose="020B0604020202020204" charset="0"/>
      <p:regular r:id="rId33"/>
      <p:bold r:id="rId34"/>
      <p:italic r:id="rId35"/>
      <p:boldItalic r:id="rId36"/>
    </p:embeddedFont>
    <p:embeddedFont>
      <p:font typeface="Poppins" panose="00000500000000000000" pitchFamily="2" charset="0"/>
      <p:regular r:id="rId37"/>
      <p:bold r:id="rId38"/>
      <p:italic r:id="rId39"/>
      <p:boldItalic r:id="rId40"/>
    </p:embeddedFont>
    <p:embeddedFont>
      <p:font typeface="Poppins SemiBold" panose="00000700000000000000" pitchFamily="2" charset="0"/>
      <p:regular r:id="rId41"/>
      <p:bold r:id="rId42"/>
      <p:italic r:id="rId43"/>
      <p:boldItalic r:id="rId44"/>
    </p:embeddedFont>
    <p:embeddedFont>
      <p:font typeface="Roboto Mono" panose="00000009000000000000" pitchFamily="49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4" d="100"/>
          <a:sy n="84" d="100"/>
        </p:scale>
        <p:origin x="629" y="7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1.fntdata"/><Relationship Id="rId39" Type="http://schemas.openxmlformats.org/officeDocument/2006/relationships/font" Target="fonts/font14.fntdata"/><Relationship Id="rId21" Type="http://schemas.openxmlformats.org/officeDocument/2006/relationships/slide" Target="slides/slide20.xml"/><Relationship Id="rId34" Type="http://schemas.openxmlformats.org/officeDocument/2006/relationships/font" Target="fonts/font9.fntdata"/><Relationship Id="rId42" Type="http://schemas.openxmlformats.org/officeDocument/2006/relationships/font" Target="fonts/font17.fntdata"/><Relationship Id="rId47" Type="http://schemas.openxmlformats.org/officeDocument/2006/relationships/font" Target="fonts/font22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font" Target="fonts/font4.fntdata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7.fntdata"/><Relationship Id="rId37" Type="http://schemas.openxmlformats.org/officeDocument/2006/relationships/font" Target="fonts/font12.fntdata"/><Relationship Id="rId40" Type="http://schemas.openxmlformats.org/officeDocument/2006/relationships/font" Target="fonts/font15.fntdata"/><Relationship Id="rId45" Type="http://schemas.openxmlformats.org/officeDocument/2006/relationships/font" Target="fonts/font20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3.fntdata"/><Relationship Id="rId36" Type="http://schemas.openxmlformats.org/officeDocument/2006/relationships/font" Target="fonts/font11.fntdata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6.fntdata"/><Relationship Id="rId44" Type="http://schemas.openxmlformats.org/officeDocument/2006/relationships/font" Target="fonts/font19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2.fntdata"/><Relationship Id="rId30" Type="http://schemas.openxmlformats.org/officeDocument/2006/relationships/font" Target="fonts/font5.fntdata"/><Relationship Id="rId35" Type="http://schemas.openxmlformats.org/officeDocument/2006/relationships/font" Target="fonts/font10.fntdata"/><Relationship Id="rId43" Type="http://schemas.openxmlformats.org/officeDocument/2006/relationships/font" Target="fonts/font18.fntdata"/><Relationship Id="rId48" Type="http://schemas.openxmlformats.org/officeDocument/2006/relationships/font" Target="fonts/font23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33" Type="http://schemas.openxmlformats.org/officeDocument/2006/relationships/font" Target="fonts/font8.fntdata"/><Relationship Id="rId38" Type="http://schemas.openxmlformats.org/officeDocument/2006/relationships/font" Target="fonts/font13.fntdata"/><Relationship Id="rId46" Type="http://schemas.openxmlformats.org/officeDocument/2006/relationships/font" Target="fonts/font21.fntdata"/><Relationship Id="rId20" Type="http://schemas.openxmlformats.org/officeDocument/2006/relationships/slide" Target="slides/slide19.xml"/><Relationship Id="rId41" Type="http://schemas.openxmlformats.org/officeDocument/2006/relationships/font" Target="fonts/font1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fb8cf72dab_1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" name="Google Shape;92;g3fb8cf72dab_1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3" name="Google Shape;12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8cf72dab_1_5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g3fb8cf72dab_1_5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h1d241ae6d83a1144_35_2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4" name="Google Shape;204;h1d241ae6d83a1144_35_2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g3fb8cf72dab_1_11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3" name="Google Shape;233;g3fb8cf72dab_1_11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9" name="Google Shape;259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fb8cf72dab_1_168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6" name="Google Shape;286;g3fb8cf72dab_1_168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h1d241ae6d83a1144_35_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24" name="Google Shape;324;h1d241ae6d83a1144_35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h1d241ae6d83a1144_35_1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63" name="Google Shape;363;h1d241ae6d83a1144_35_1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" name="Google Shape;399;h1d241ae6d83a1144_35_45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0" name="Google Shape;400;h1d241ae6d83a1144_35_4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h1d241ae6d83a1144_35_12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9" name="Google Shape;429;h1d241ae6d83a1144_35_12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Google Shape;452;h1d241ae6d83a1144_35_13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453;h1d241ae6d83a1144_35_13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9" name="Google Shape;479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0" name="Google Shape;480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Google Shape;487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8" name="Google Shape;48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1" name="Google Shape;501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3" name="Google Shape;52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24" name="Google Shape;52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1" name="Google Shape;541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2" name="Google Shape;542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7" name="Google Shape;557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58" name="Google Shape;558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h1d241ae6d83a1144_35_13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0" name="Google Shape;580;h1d241ae6d83a1144_35_13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12" name="Google Shape;612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Google Shape;628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9" name="Google Shape;629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Google Shape;646;h1d241ae6d83a1144_35_18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h1d241ae6d83a1144_35_18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Relationship Id="rId9" Type="http://schemas.openxmlformats.org/officeDocument/2006/relationships/image" Target="../media/image1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1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10" Type="http://schemas.openxmlformats.org/officeDocument/2006/relationships/image" Target="../media/image7.png"/><Relationship Id="rId4" Type="http://schemas.openxmlformats.org/officeDocument/2006/relationships/image" Target="../media/image22.png"/><Relationship Id="rId9" Type="http://schemas.openxmlformats.org/officeDocument/2006/relationships/image" Target="../media/image2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30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3.png"/><Relationship Id="rId5" Type="http://schemas.openxmlformats.org/officeDocument/2006/relationships/image" Target="../media/image32.png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3.png"/><Relationship Id="rId4" Type="http://schemas.openxmlformats.org/officeDocument/2006/relationships/image" Target="../media/image42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8.png"/><Relationship Id="rId3" Type="http://schemas.openxmlformats.org/officeDocument/2006/relationships/image" Target="../media/image1.png"/><Relationship Id="rId7" Type="http://schemas.openxmlformats.org/officeDocument/2006/relationships/image" Target="../media/image4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6.png"/><Relationship Id="rId5" Type="http://schemas.openxmlformats.org/officeDocument/2006/relationships/image" Target="../media/image45.png"/><Relationship Id="rId10" Type="http://schemas.openxmlformats.org/officeDocument/2006/relationships/image" Target="../media/image50.png"/><Relationship Id="rId4" Type="http://schemas.openxmlformats.org/officeDocument/2006/relationships/image" Target="../media/image44.png"/><Relationship Id="rId9" Type="http://schemas.openxmlformats.org/officeDocument/2006/relationships/image" Target="../media/image49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1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333500" y="2979475"/>
            <a:ext cx="9525000" cy="1240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30" b="1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Multi-Agent Orchestration</a:t>
            </a:r>
            <a:endParaRPr sz="4030" b="1">
              <a:solidFill>
                <a:srgbClr val="F8FAFC"/>
              </a:solidFill>
              <a:latin typeface="Poppins"/>
              <a:ea typeface="Poppins"/>
              <a:cs typeface="Poppins"/>
              <a:sym typeface="Poppins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30" b="1">
                <a:solidFill>
                  <a:srgbClr val="38BDF8"/>
                </a:solidFill>
                <a:latin typeface="Poppins"/>
                <a:ea typeface="Poppins"/>
                <a:cs typeface="Poppins"/>
                <a:sym typeface="Poppins"/>
              </a:rPr>
              <a:t>in Practice</a:t>
            </a:r>
            <a:endParaRPr sz="4030" b="1">
              <a:solidFill>
                <a:srgbClr val="38BDF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grpSp>
        <p:nvGrpSpPr>
          <p:cNvPr id="86" name="Google Shape;86;p13"/>
          <p:cNvGrpSpPr/>
          <p:nvPr/>
        </p:nvGrpSpPr>
        <p:grpSpPr>
          <a:xfrm>
            <a:off x="3279675" y="1943325"/>
            <a:ext cx="5632657" cy="690706"/>
            <a:chOff x="0" y="0"/>
            <a:chExt cx="2952900" cy="362100"/>
          </a:xfrm>
        </p:grpSpPr>
        <p:sp>
          <p:nvSpPr>
            <p:cNvPr id="87" name="Google Shape;87;p13"/>
            <p:cNvSpPr/>
            <p:nvPr/>
          </p:nvSpPr>
          <p:spPr>
            <a:xfrm>
              <a:off x="0" y="0"/>
              <a:ext cx="2952900" cy="362100"/>
            </a:xfrm>
            <a:prstGeom prst="roundRect">
              <a:avLst>
                <a:gd name="adj" fmla="val 50000"/>
              </a:avLst>
            </a:prstGeom>
            <a:solidFill>
              <a:srgbClr val="1E293B"/>
            </a:solidFill>
            <a:ln w="27275" cap="flat" cmpd="sng">
              <a:solidFill>
                <a:srgbClr val="0284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8" name="Google Shape;88;p13"/>
            <p:cNvSpPr txBox="1"/>
            <p:nvPr/>
          </p:nvSpPr>
          <p:spPr>
            <a:xfrm>
              <a:off x="0" y="0"/>
              <a:ext cx="29529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98" b="0">
                  <a:solidFill>
                    <a:srgbClr val="38BD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DOMAIN-COPILOT (D3T5) CASE STUDY</a:t>
              </a:r>
              <a:endParaRPr sz="2098" b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89" name="Google Shape;89;p13"/>
          <p:cNvSpPr txBox="1"/>
          <p:nvPr/>
        </p:nvSpPr>
        <p:spPr>
          <a:xfrm>
            <a:off x="5739300" y="4739275"/>
            <a:ext cx="5119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Rana Alaa Abdelaziz | Software Developer </a:t>
            </a:r>
            <a:endParaRPr sz="2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5" name="Google Shape;95;p14"/>
          <p:cNvGrpSpPr/>
          <p:nvPr/>
        </p:nvGrpSpPr>
        <p:grpSpPr>
          <a:xfrm>
            <a:off x="346226" y="3122306"/>
            <a:ext cx="11499546" cy="2531974"/>
            <a:chOff x="904875" y="3619500"/>
            <a:chExt cx="10382400" cy="2286000"/>
          </a:xfrm>
        </p:grpSpPr>
        <p:grpSp>
          <p:nvGrpSpPr>
            <p:cNvPr id="96" name="Google Shape;96;p14"/>
            <p:cNvGrpSpPr/>
            <p:nvPr/>
          </p:nvGrpSpPr>
          <p:grpSpPr>
            <a:xfrm>
              <a:off x="904875" y="3619500"/>
              <a:ext cx="3333900" cy="2286000"/>
              <a:chOff x="0" y="0"/>
              <a:chExt cx="3333900" cy="2286000"/>
            </a:xfrm>
          </p:grpSpPr>
          <p:sp>
            <p:nvSpPr>
              <p:cNvPr id="97" name="Google Shape;97;p14"/>
              <p:cNvSpPr/>
              <p:nvPr/>
            </p:nvSpPr>
            <p:spPr>
              <a:xfrm>
                <a:off x="0" y="0"/>
                <a:ext cx="3333900" cy="2286000"/>
              </a:xfrm>
              <a:prstGeom prst="roundRect">
                <a:avLst>
                  <a:gd name="adj" fmla="val 6666"/>
                </a:avLst>
              </a:prstGeom>
              <a:solidFill>
                <a:srgbClr val="1E293B">
                  <a:alpha val="70000"/>
                </a:srgbClr>
              </a:solidFill>
              <a:ln w="15850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8" name="Google Shape;98;p14"/>
              <p:cNvSpPr/>
              <p:nvPr/>
            </p:nvSpPr>
            <p:spPr>
              <a:xfrm>
                <a:off x="0" y="0"/>
                <a:ext cx="3333900" cy="381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99" name="Google Shape;99;p14"/>
              <p:cNvSpPr/>
              <p:nvPr/>
            </p:nvSpPr>
            <p:spPr>
              <a:xfrm>
                <a:off x="190500" y="247650"/>
                <a:ext cx="419100" cy="419100"/>
              </a:xfrm>
              <a:prstGeom prst="ellipse">
                <a:avLst/>
              </a:prstGeom>
              <a:solidFill>
                <a:srgbClr val="0284C7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0" name="Google Shape;100;p14"/>
              <p:cNvSpPr txBox="1"/>
              <p:nvPr/>
            </p:nvSpPr>
            <p:spPr>
              <a:xfrm>
                <a:off x="209550" y="29591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215" dirty="0">
                  <a:solidFill>
                    <a:srgbClr val="38BDF8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1" name="Google Shape;101;p14"/>
              <p:cNvSpPr txBox="1"/>
              <p:nvPr/>
            </p:nvSpPr>
            <p:spPr>
              <a:xfrm>
                <a:off x="762000" y="304800"/>
                <a:ext cx="2333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61" b="1">
                    <a:solidFill>
                      <a:srgbClr val="0EA5E9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01 / GENERATION</a:t>
                </a:r>
                <a:endParaRPr sz="1661" b="1">
                  <a:solidFill>
                    <a:srgbClr val="0EA5E9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  <p:sp>
            <p:nvSpPr>
              <p:cNvPr id="102" name="Google Shape;102;p14"/>
              <p:cNvSpPr txBox="1"/>
              <p:nvPr/>
            </p:nvSpPr>
            <p:spPr>
              <a:xfrm>
                <a:off x="266700" y="781050"/>
                <a:ext cx="2800500" cy="12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772" b="0">
                    <a:solidFill>
                      <a:srgbClr val="F8FAFC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Three Generation Agents</a:t>
                </a:r>
                <a:endParaRPr sz="1772" b="0">
                  <a:solidFill>
                    <a:srgbClr val="F8FAFC"/>
                  </a:solidFill>
                  <a:latin typeface="Poppins SemiBold"/>
                  <a:ea typeface="Poppins SemiBold"/>
                  <a:cs typeface="Poppins SemiBold"/>
                  <a:sym typeface="Poppins SemiBold"/>
                </a:endParaRPr>
              </a:p>
              <a:p>
                <a:pPr marL="0" lvl="0" indent="0" algn="l" rtl="0">
                  <a:spcBef>
                    <a:spcPts val="665"/>
                  </a:spcBef>
                  <a:spcAft>
                    <a:spcPts val="0"/>
                  </a:spcAft>
                  <a:buNone/>
                </a:pPr>
                <a:r>
                  <a:rPr lang="en-US" sz="1329" b="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Producing competency reports, module outlines, and assessment items grounded in corpus evidence.</a:t>
                </a:r>
                <a:endParaRPr sz="1329" b="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03" name="Google Shape;103;p14"/>
            <p:cNvGrpSpPr/>
            <p:nvPr/>
          </p:nvGrpSpPr>
          <p:grpSpPr>
            <a:xfrm>
              <a:off x="4429125" y="3619500"/>
              <a:ext cx="3333900" cy="2286000"/>
              <a:chOff x="0" y="0"/>
              <a:chExt cx="3333900" cy="2286000"/>
            </a:xfrm>
          </p:grpSpPr>
          <p:sp>
            <p:nvSpPr>
              <p:cNvPr id="104" name="Google Shape;104;p14"/>
              <p:cNvSpPr/>
              <p:nvPr/>
            </p:nvSpPr>
            <p:spPr>
              <a:xfrm>
                <a:off x="0" y="0"/>
                <a:ext cx="3333900" cy="2286000"/>
              </a:xfrm>
              <a:prstGeom prst="roundRect">
                <a:avLst>
                  <a:gd name="adj" fmla="val 6666"/>
                </a:avLst>
              </a:prstGeom>
              <a:solidFill>
                <a:srgbClr val="1E293B">
                  <a:alpha val="70000"/>
                </a:srgbClr>
              </a:solidFill>
              <a:ln w="15850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5" name="Google Shape;105;p14"/>
              <p:cNvSpPr/>
              <p:nvPr/>
            </p:nvSpPr>
            <p:spPr>
              <a:xfrm>
                <a:off x="0" y="0"/>
                <a:ext cx="3333900" cy="38100"/>
              </a:xfrm>
              <a:prstGeom prst="roundRect">
                <a:avLst>
                  <a:gd name="adj" fmla="val 50000"/>
                </a:avLst>
              </a:prstGeom>
              <a:solidFill>
                <a:srgbClr val="34D39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6" name="Google Shape;106;p14"/>
              <p:cNvSpPr/>
              <p:nvPr/>
            </p:nvSpPr>
            <p:spPr>
              <a:xfrm>
                <a:off x="190500" y="247650"/>
                <a:ext cx="419100" cy="419100"/>
              </a:xfrm>
              <a:prstGeom prst="ellipse">
                <a:avLst/>
              </a:prstGeom>
              <a:solidFill>
                <a:srgbClr val="059669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07" name="Google Shape;107;p14"/>
              <p:cNvSpPr txBox="1"/>
              <p:nvPr/>
            </p:nvSpPr>
            <p:spPr>
              <a:xfrm>
                <a:off x="209550" y="29591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215" dirty="0">
                  <a:solidFill>
                    <a:srgbClr val="34D399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08" name="Google Shape;108;p14"/>
              <p:cNvSpPr txBox="1"/>
              <p:nvPr/>
            </p:nvSpPr>
            <p:spPr>
              <a:xfrm>
                <a:off x="762000" y="304800"/>
                <a:ext cx="2333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61" b="1">
                    <a:solidFill>
                      <a:srgbClr val="10B981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02 / HUMAN-IN-THE-LOOP</a:t>
                </a:r>
                <a:endParaRPr sz="1661" b="1">
                  <a:solidFill>
                    <a:srgbClr val="10B981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  <p:sp>
            <p:nvSpPr>
              <p:cNvPr id="109" name="Google Shape;109;p14"/>
              <p:cNvSpPr txBox="1"/>
              <p:nvPr/>
            </p:nvSpPr>
            <p:spPr>
              <a:xfrm>
                <a:off x="266700" y="781050"/>
                <a:ext cx="2800500" cy="12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772" b="0">
                    <a:solidFill>
                      <a:srgbClr val="F8FAFC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Durable Review Gate</a:t>
                </a:r>
                <a:endParaRPr sz="1772" b="0">
                  <a:solidFill>
                    <a:srgbClr val="F8FAFC"/>
                  </a:solidFill>
                  <a:latin typeface="Poppins SemiBold"/>
                  <a:ea typeface="Poppins SemiBold"/>
                  <a:cs typeface="Poppins SemiBold"/>
                  <a:sym typeface="Poppins SemiBold"/>
                </a:endParaRPr>
              </a:p>
              <a:p>
                <a:pPr marL="0" lvl="0" indent="0" algn="l" rtl="0">
                  <a:spcBef>
                    <a:spcPts val="665"/>
                  </a:spcBef>
                  <a:spcAft>
                    <a:spcPts val="0"/>
                  </a:spcAft>
                  <a:buNone/>
                </a:pPr>
                <a:r>
                  <a:rPr lang="en-US" sz="1329" b="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State persistence using Postgres checkpointers with explicit approval &amp; conditional routing.</a:t>
                </a:r>
                <a:endParaRPr sz="1329" b="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10" name="Google Shape;110;p14"/>
            <p:cNvGrpSpPr/>
            <p:nvPr/>
          </p:nvGrpSpPr>
          <p:grpSpPr>
            <a:xfrm>
              <a:off x="7953375" y="3619500"/>
              <a:ext cx="3333900" cy="2286000"/>
              <a:chOff x="0" y="0"/>
              <a:chExt cx="3333900" cy="2286000"/>
            </a:xfrm>
          </p:grpSpPr>
          <p:sp>
            <p:nvSpPr>
              <p:cNvPr id="111" name="Google Shape;111;p14"/>
              <p:cNvSpPr/>
              <p:nvPr/>
            </p:nvSpPr>
            <p:spPr>
              <a:xfrm>
                <a:off x="0" y="0"/>
                <a:ext cx="3333900" cy="2286000"/>
              </a:xfrm>
              <a:prstGeom prst="roundRect">
                <a:avLst>
                  <a:gd name="adj" fmla="val 6666"/>
                </a:avLst>
              </a:prstGeom>
              <a:solidFill>
                <a:srgbClr val="1E293B">
                  <a:alpha val="70000"/>
                </a:srgbClr>
              </a:solidFill>
              <a:ln w="15850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2" name="Google Shape;112;p14"/>
              <p:cNvSpPr/>
              <p:nvPr/>
            </p:nvSpPr>
            <p:spPr>
              <a:xfrm>
                <a:off x="0" y="0"/>
                <a:ext cx="3333900" cy="38100"/>
              </a:xfrm>
              <a:prstGeom prst="roundRect">
                <a:avLst>
                  <a:gd name="adj" fmla="val 50000"/>
                </a:avLst>
              </a:prstGeom>
              <a:solidFill>
                <a:srgbClr val="FBBF24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3" name="Google Shape;113;p14"/>
              <p:cNvSpPr/>
              <p:nvPr/>
            </p:nvSpPr>
            <p:spPr>
              <a:xfrm>
                <a:off x="190500" y="247650"/>
                <a:ext cx="419100" cy="419100"/>
              </a:xfrm>
              <a:prstGeom prst="ellipse">
                <a:avLst/>
              </a:prstGeom>
              <a:solidFill>
                <a:srgbClr val="D97706">
                  <a:alpha val="25000"/>
                </a:srgbClr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14" name="Google Shape;114;p14"/>
              <p:cNvSpPr txBox="1"/>
              <p:nvPr/>
            </p:nvSpPr>
            <p:spPr>
              <a:xfrm>
                <a:off x="209550" y="295910"/>
                <a:ext cx="3810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2215" dirty="0">
                  <a:solidFill>
                    <a:srgbClr val="FBBF24"/>
                  </a:solidFill>
                  <a:latin typeface="Material Icons"/>
                  <a:ea typeface="Material Icons"/>
                  <a:cs typeface="Material Icons"/>
                  <a:sym typeface="Material Icons"/>
                </a:endParaRPr>
              </a:p>
            </p:txBody>
          </p:sp>
          <p:sp>
            <p:nvSpPr>
              <p:cNvPr id="115" name="Google Shape;115;p14"/>
              <p:cNvSpPr txBox="1"/>
              <p:nvPr/>
            </p:nvSpPr>
            <p:spPr>
              <a:xfrm>
                <a:off x="762000" y="304800"/>
                <a:ext cx="23337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661" b="1">
                    <a:solidFill>
                      <a:srgbClr val="F59E0B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03 / LESSONS LEARNED</a:t>
                </a:r>
                <a:endParaRPr sz="1661" b="1">
                  <a:solidFill>
                    <a:srgbClr val="F59E0B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  <p:sp>
            <p:nvSpPr>
              <p:cNvPr id="116" name="Google Shape;116;p14"/>
              <p:cNvSpPr txBox="1"/>
              <p:nvPr/>
            </p:nvSpPr>
            <p:spPr>
              <a:xfrm>
                <a:off x="266700" y="781050"/>
                <a:ext cx="2800500" cy="128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772" b="0">
                    <a:solidFill>
                      <a:srgbClr val="F8FAFC"/>
                    </a:solidFill>
                    <a:latin typeface="Poppins SemiBold"/>
                    <a:ea typeface="Poppins SemiBold"/>
                    <a:cs typeface="Poppins SemiBold"/>
                    <a:sym typeface="Poppins SemiBold"/>
                  </a:rPr>
                  <a:t>Three Real Bugs</a:t>
                </a:r>
                <a:endParaRPr sz="1772" b="0">
                  <a:solidFill>
                    <a:srgbClr val="F8FAFC"/>
                  </a:solidFill>
                  <a:latin typeface="Poppins SemiBold"/>
                  <a:ea typeface="Poppins SemiBold"/>
                  <a:cs typeface="Poppins SemiBold"/>
                  <a:sym typeface="Poppins SemiBold"/>
                </a:endParaRPr>
              </a:p>
              <a:p>
                <a:pPr marL="0" lvl="0" indent="0" algn="l" rtl="0">
                  <a:spcBef>
                    <a:spcPts val="665"/>
                  </a:spcBef>
                  <a:spcAft>
                    <a:spcPts val="0"/>
                  </a:spcAft>
                  <a:buNone/>
                </a:pPr>
                <a:r>
                  <a:rPr lang="en-US" sz="1329" b="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Hard-earned lessons on serialization, state transitions, and architectural boundaries in production.</a:t>
                </a:r>
                <a:endParaRPr sz="1329" b="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17" name="Google Shape;117;p14"/>
          <p:cNvGrpSpPr/>
          <p:nvPr/>
        </p:nvGrpSpPr>
        <p:grpSpPr>
          <a:xfrm>
            <a:off x="3279675" y="595900"/>
            <a:ext cx="5632657" cy="690706"/>
            <a:chOff x="0" y="0"/>
            <a:chExt cx="2952900" cy="362100"/>
          </a:xfrm>
        </p:grpSpPr>
        <p:sp>
          <p:nvSpPr>
            <p:cNvPr id="118" name="Google Shape;118;p14"/>
            <p:cNvSpPr/>
            <p:nvPr/>
          </p:nvSpPr>
          <p:spPr>
            <a:xfrm>
              <a:off x="0" y="0"/>
              <a:ext cx="2952900" cy="362100"/>
            </a:xfrm>
            <a:prstGeom prst="roundRect">
              <a:avLst>
                <a:gd name="adj" fmla="val 50000"/>
              </a:avLst>
            </a:prstGeom>
            <a:solidFill>
              <a:srgbClr val="1E293B"/>
            </a:solidFill>
            <a:ln w="27275" cap="flat" cmpd="sng">
              <a:solidFill>
                <a:srgbClr val="0284C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9" name="Google Shape;119;p14"/>
            <p:cNvSpPr txBox="1"/>
            <p:nvPr/>
          </p:nvSpPr>
          <p:spPr>
            <a:xfrm>
              <a:off x="0" y="0"/>
              <a:ext cx="2952900" cy="362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2098" b="0">
                  <a:solidFill>
                    <a:srgbClr val="38BDF8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DOMAIN-COPILOT (D3T5) CASE STUDY</a:t>
              </a:r>
              <a:endParaRPr sz="2098" b="0">
                <a:solidFill>
                  <a:srgbClr val="38BDF8"/>
                </a:solidFill>
                <a:latin typeface="Inter SemiBold"/>
                <a:ea typeface="Inter SemiBold"/>
                <a:cs typeface="Inter SemiBold"/>
                <a:sym typeface="Inter SemiBold"/>
              </a:endParaRPr>
            </a:p>
          </p:txBody>
        </p:sp>
      </p:grpSp>
      <p:sp>
        <p:nvSpPr>
          <p:cNvPr id="120" name="Google Shape;120;p14"/>
          <p:cNvSpPr txBox="1"/>
          <p:nvPr/>
        </p:nvSpPr>
        <p:spPr>
          <a:xfrm>
            <a:off x="1072650" y="1804250"/>
            <a:ext cx="6718200" cy="80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chemeClr val="lt1"/>
                </a:solidFill>
              </a:rPr>
              <a:t>How Our System is Built</a:t>
            </a:r>
            <a:endParaRPr sz="4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5" name="Google Shape;125;p15"/>
          <p:cNvGrpSpPr/>
          <p:nvPr/>
        </p:nvGrpSpPr>
        <p:grpSpPr>
          <a:xfrm>
            <a:off x="571500" y="428625"/>
            <a:ext cx="11049000" cy="609750"/>
            <a:chOff x="0" y="0"/>
            <a:chExt cx="11049000" cy="609750"/>
          </a:xfrm>
        </p:grpSpPr>
        <p:sp>
          <p:nvSpPr>
            <p:cNvPr id="126" name="Google Shape;126;p15"/>
            <p:cNvSpPr txBox="1"/>
            <p:nvPr/>
          </p:nvSpPr>
          <p:spPr>
            <a:xfrm>
              <a:off x="0" y="0"/>
              <a:ext cx="11049000" cy="523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000" b="1">
                  <a:solidFill>
                    <a:srgbClr val="F8FAFC"/>
                  </a:solidFill>
                  <a:latin typeface="Poppins"/>
                  <a:ea typeface="Poppins"/>
                  <a:cs typeface="Poppins"/>
                  <a:sym typeface="Poppins"/>
                </a:rPr>
                <a:t>Session Roadmap</a:t>
              </a:r>
              <a:endParaRPr sz="3000" b="1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  <p:sp>
          <p:nvSpPr>
            <p:cNvPr id="127" name="Google Shape;127;p15"/>
            <p:cNvSpPr/>
            <p:nvPr/>
          </p:nvSpPr>
          <p:spPr>
            <a:xfrm>
              <a:off x="0" y="590550"/>
              <a:ext cx="11049000" cy="19200"/>
            </a:xfrm>
            <a:prstGeom prst="rect">
              <a:avLst/>
            </a:prstGeom>
            <a:solidFill>
              <a:srgbClr val="1E293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28" name="Google Shape;128;p15"/>
          <p:cNvGrpSpPr/>
          <p:nvPr/>
        </p:nvGrpSpPr>
        <p:grpSpPr>
          <a:xfrm>
            <a:off x="571500" y="1285875"/>
            <a:ext cx="5334000" cy="1095300"/>
            <a:chOff x="0" y="0"/>
            <a:chExt cx="5334000" cy="1095300"/>
          </a:xfrm>
        </p:grpSpPr>
        <p:sp>
          <p:nvSpPr>
            <p:cNvPr id="129" name="Google Shape;129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0" name="Google Shape;130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1" name="Google Shape;131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01 / ORCHESTRATION ARCHITECTURE</a:t>
              </a:r>
              <a:endParaRPr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P</a:t>
              </a:r>
              <a:r>
                <a:rPr lang="en-US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ipeline vs. agent framework, and what a graph buys you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2" name="Google Shape;132;p15"/>
          <p:cNvGrpSpPr/>
          <p:nvPr/>
        </p:nvGrpSpPr>
        <p:grpSpPr>
          <a:xfrm>
            <a:off x="571500" y="2552700"/>
            <a:ext cx="5334000" cy="1095300"/>
            <a:chOff x="0" y="0"/>
            <a:chExt cx="5334000" cy="1095300"/>
          </a:xfrm>
        </p:grpSpPr>
        <p:sp>
          <p:nvSpPr>
            <p:cNvPr id="133" name="Google Shape;133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4" name="Google Shape;134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5" name="Google Shape;135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02 / GRAPH STRUCTURE</a:t>
              </a:r>
              <a:endParaRPr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N</a:t>
              </a:r>
              <a:r>
                <a:rPr lang="en-US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odes, edges, and the Clean Architecture boundary it has to respect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36" name="Google Shape;136;p15"/>
          <p:cNvGrpSpPr/>
          <p:nvPr/>
        </p:nvGrpSpPr>
        <p:grpSpPr>
          <a:xfrm>
            <a:off x="571500" y="3819525"/>
            <a:ext cx="5334000" cy="1095300"/>
            <a:chOff x="0" y="0"/>
            <a:chExt cx="5334000" cy="1095300"/>
          </a:xfrm>
        </p:grpSpPr>
        <p:sp>
          <p:nvSpPr>
            <p:cNvPr id="137" name="Google Shape;137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8" name="Google Shape;138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9" name="Google Shape;139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03 / STATE &amp; REDUCERS</a:t>
              </a:r>
              <a:endParaRPr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T</a:t>
              </a:r>
              <a:r>
                <a:rPr lang="en-US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he audit_trail bug that taught us why TypedDict fields need Annotated reducers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0" name="Google Shape;140;p15"/>
          <p:cNvGrpSpPr/>
          <p:nvPr/>
        </p:nvGrpSpPr>
        <p:grpSpPr>
          <a:xfrm>
            <a:off x="571500" y="5086350"/>
            <a:ext cx="5334000" cy="1095300"/>
            <a:chOff x="0" y="0"/>
            <a:chExt cx="5334000" cy="1095300"/>
          </a:xfrm>
        </p:grpSpPr>
        <p:sp>
          <p:nvSpPr>
            <p:cNvPr id="141" name="Google Shape;141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" name="Google Shape;142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" name="Google Shape;143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04 / RESILIENCE PATTERNS</a:t>
              </a:r>
              <a:endParaRPr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T</a:t>
              </a:r>
              <a:r>
                <a:rPr lang="en-US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imeout, retry-with-backoff, graceful degradation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4" name="Google Shape;144;p15"/>
          <p:cNvGrpSpPr/>
          <p:nvPr/>
        </p:nvGrpSpPr>
        <p:grpSpPr>
          <a:xfrm>
            <a:off x="6286500" y="1285875"/>
            <a:ext cx="5334000" cy="1095300"/>
            <a:chOff x="0" y="0"/>
            <a:chExt cx="5334000" cy="1095300"/>
          </a:xfrm>
        </p:grpSpPr>
        <p:sp>
          <p:nvSpPr>
            <p:cNvPr id="145" name="Google Shape;145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" name="Google Shape;146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34D399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" name="Google Shape;147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34D399"/>
                  </a:solidFill>
                  <a:latin typeface="Fira Code"/>
                  <a:ea typeface="Fira Code"/>
                  <a:cs typeface="Fira Code"/>
                  <a:sym typeface="Fira Code"/>
                </a:rPr>
                <a:t>05 / APPROVAL GATE</a:t>
              </a:r>
              <a:endParaRPr b="1">
                <a:solidFill>
                  <a:srgbClr val="34D399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Pausing the graph with interrupt_before and persisting state via Postgres. </a:t>
              </a:r>
              <a:endParaRPr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48" name="Google Shape;148;p15"/>
          <p:cNvGrpSpPr/>
          <p:nvPr/>
        </p:nvGrpSpPr>
        <p:grpSpPr>
          <a:xfrm>
            <a:off x="6286500" y="2552700"/>
            <a:ext cx="5334000" cy="1095300"/>
            <a:chOff x="0" y="0"/>
            <a:chExt cx="5334000" cy="1095300"/>
          </a:xfrm>
        </p:grpSpPr>
        <p:sp>
          <p:nvSpPr>
            <p:cNvPr id="149" name="Google Shape;149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0" name="Google Shape;150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FBBF2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1" name="Google Shape;151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FBBF24"/>
                  </a:solidFill>
                  <a:latin typeface="Fira Code"/>
                  <a:ea typeface="Fira Code"/>
                  <a:cs typeface="Fira Code"/>
                  <a:sym typeface="Fira Code"/>
                </a:rPr>
                <a:t>06 / LESSONS &amp; BUGS</a:t>
              </a:r>
              <a:endParaRPr b="1">
                <a:solidFill>
                  <a:srgbClr val="FBBF24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Three real bugs — serialization, illegal state transitions, and a stale ADR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2" name="Google Shape;152;p15"/>
          <p:cNvGrpSpPr/>
          <p:nvPr/>
        </p:nvGrpSpPr>
        <p:grpSpPr>
          <a:xfrm>
            <a:off x="6286500" y="3819525"/>
            <a:ext cx="5334000" cy="1095300"/>
            <a:chOff x="0" y="0"/>
            <a:chExt cx="5334000" cy="1095300"/>
          </a:xfrm>
        </p:grpSpPr>
        <p:sp>
          <p:nvSpPr>
            <p:cNvPr id="153" name="Google Shape;153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4" name="Google Shape;154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F472B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5" name="Google Shape;155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F472B6"/>
                  </a:solidFill>
                  <a:latin typeface="Fira Code"/>
                  <a:ea typeface="Fira Code"/>
                  <a:cs typeface="Fira Code"/>
                  <a:sym typeface="Fira Code"/>
                </a:rPr>
                <a:t>07 / REAL-TIME UX</a:t>
              </a:r>
              <a:endParaRPr b="1">
                <a:solidFill>
                  <a:srgbClr val="F472B6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S</a:t>
              </a:r>
              <a:r>
                <a:rPr lang="en-US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treaming progress and why cancellation is hard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156" name="Google Shape;156;p15"/>
          <p:cNvGrpSpPr/>
          <p:nvPr/>
        </p:nvGrpSpPr>
        <p:grpSpPr>
          <a:xfrm>
            <a:off x="6286500" y="5086350"/>
            <a:ext cx="5334000" cy="1095300"/>
            <a:chOff x="0" y="0"/>
            <a:chExt cx="5334000" cy="1095300"/>
          </a:xfrm>
        </p:grpSpPr>
        <p:sp>
          <p:nvSpPr>
            <p:cNvPr id="157" name="Google Shape;157;p15"/>
            <p:cNvSpPr/>
            <p:nvPr/>
          </p:nvSpPr>
          <p:spPr>
            <a:xfrm>
              <a:off x="0" y="0"/>
              <a:ext cx="5334000" cy="1095300"/>
            </a:xfrm>
            <a:prstGeom prst="roundRect">
              <a:avLst>
                <a:gd name="adj" fmla="val 10434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8" name="Google Shape;158;p15"/>
            <p:cNvSpPr/>
            <p:nvPr/>
          </p:nvSpPr>
          <p:spPr>
            <a:xfrm>
              <a:off x="0" y="0"/>
              <a:ext cx="47700" cy="1095300"/>
            </a:xfrm>
            <a:prstGeom prst="roundRect">
              <a:avLst>
                <a:gd name="adj" fmla="val 40000"/>
              </a:avLst>
            </a:prstGeom>
            <a:solidFill>
              <a:srgbClr val="F472B6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9" name="Google Shape;159;p15"/>
            <p:cNvSpPr txBox="1"/>
            <p:nvPr/>
          </p:nvSpPr>
          <p:spPr>
            <a:xfrm>
              <a:off x="209550" y="133350"/>
              <a:ext cx="4934100" cy="8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b="1">
                  <a:solidFill>
                    <a:srgbClr val="F472B6"/>
                  </a:solidFill>
                  <a:latin typeface="Fira Code"/>
                  <a:ea typeface="Fira Code"/>
                  <a:cs typeface="Fira Code"/>
                  <a:sym typeface="Fira Code"/>
                </a:rPr>
                <a:t>08 / HANDS-ON LAB </a:t>
              </a:r>
              <a:endParaRPr b="1">
                <a:solidFill>
                  <a:srgbClr val="F472B6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You'll run this graph, break it, and fix it yourself </a:t>
              </a:r>
              <a:endParaRPr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4" name="Google Shape;164;p16"/>
          <p:cNvGrpSpPr/>
          <p:nvPr/>
        </p:nvGrpSpPr>
        <p:grpSpPr>
          <a:xfrm>
            <a:off x="571500" y="1428750"/>
            <a:ext cx="5334000" cy="4857900"/>
            <a:chOff x="0" y="0"/>
            <a:chExt cx="5334000" cy="4857900"/>
          </a:xfrm>
        </p:grpSpPr>
        <p:sp>
          <p:nvSpPr>
            <p:cNvPr id="165" name="Google Shape;165;p16"/>
            <p:cNvSpPr/>
            <p:nvPr/>
          </p:nvSpPr>
          <p:spPr>
            <a:xfrm>
              <a:off x="0" y="0"/>
              <a:ext cx="5334000" cy="4857900"/>
            </a:xfrm>
            <a:prstGeom prst="roundRect">
              <a:avLst>
                <a:gd name="adj" fmla="val 3137"/>
              </a:avLst>
            </a:prstGeom>
            <a:solidFill>
              <a:srgbClr val="1E293B">
                <a:alpha val="70000"/>
              </a:srgbClr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6" name="Google Shape;166;p16"/>
            <p:cNvSpPr/>
            <p:nvPr/>
          </p:nvSpPr>
          <p:spPr>
            <a:xfrm>
              <a:off x="0" y="0"/>
              <a:ext cx="5334000" cy="38100"/>
            </a:xfrm>
            <a:prstGeom prst="roundRect">
              <a:avLst>
                <a:gd name="adj" fmla="val 50000"/>
              </a:avLst>
            </a:prstGeom>
            <a:solidFill>
              <a:srgbClr val="64748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7" name="Google Shape;167;p16"/>
            <p:cNvSpPr/>
            <p:nvPr/>
          </p:nvSpPr>
          <p:spPr>
            <a:xfrm>
              <a:off x="171450" y="190500"/>
              <a:ext cx="419100" cy="419100"/>
            </a:xfrm>
            <a:prstGeom prst="ellipse">
              <a:avLst/>
            </a:prstGeom>
            <a:solidFill>
              <a:srgbClr val="64748B">
                <a:alpha val="2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8" name="Google Shape;168;p16"/>
            <p:cNvSpPr txBox="1"/>
            <p:nvPr/>
          </p:nvSpPr>
          <p:spPr>
            <a:xfrm>
              <a:off x="171450" y="21971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dirty="0">
                <a:solidFill>
                  <a:srgbClr val="94A3B8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69" name="Google Shape;169;p16"/>
            <p:cNvSpPr txBox="1"/>
            <p:nvPr/>
          </p:nvSpPr>
          <p:spPr>
            <a:xfrm>
              <a:off x="704850" y="228600"/>
              <a:ext cx="438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00" b="0">
                  <a:solidFill>
                    <a:srgbClr val="F8FAFC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Hand-Rolled Pipeline</a:t>
              </a:r>
              <a:endParaRPr sz="1900" b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grpSp>
          <p:nvGrpSpPr>
            <p:cNvPr id="170" name="Google Shape;170;p16"/>
            <p:cNvGrpSpPr/>
            <p:nvPr/>
          </p:nvGrpSpPr>
          <p:grpSpPr>
            <a:xfrm>
              <a:off x="228600" y="809625"/>
              <a:ext cx="4876800" cy="607338"/>
              <a:chOff x="0" y="0"/>
              <a:chExt cx="4876800" cy="607338"/>
            </a:xfrm>
          </p:grpSpPr>
          <p:sp>
            <p:nvSpPr>
              <p:cNvPr id="171" name="Google Shape;171;p16"/>
              <p:cNvSpPr/>
              <p:nvPr/>
            </p:nvSpPr>
            <p:spPr>
              <a:xfrm>
                <a:off x="0" y="0"/>
                <a:ext cx="4876800" cy="533400"/>
              </a:xfrm>
              <a:prstGeom prst="roundRect">
                <a:avLst>
                  <a:gd name="adj" fmla="val 16666"/>
                </a:avLst>
              </a:prstGeom>
              <a:solidFill>
                <a:srgbClr val="0F172A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2" name="Google Shape;172;p16"/>
              <p:cNvSpPr txBox="1"/>
              <p:nvPr/>
            </p:nvSpPr>
            <p:spPr>
              <a:xfrm>
                <a:off x="152400" y="150138"/>
                <a:ext cx="4572000" cy="45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>
                    <a:solidFill>
                      <a:srgbClr val="38BDF8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for step in [a, b, c]: step.run(state)</a:t>
                </a:r>
                <a:endParaRPr sz="1250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p:grpSp>
        <p:grpSp>
          <p:nvGrpSpPr>
            <p:cNvPr id="173" name="Google Shape;173;p16"/>
            <p:cNvGrpSpPr/>
            <p:nvPr/>
          </p:nvGrpSpPr>
          <p:grpSpPr>
            <a:xfrm>
              <a:off x="228600" y="1476375"/>
              <a:ext cx="4838700" cy="533400"/>
              <a:chOff x="0" y="0"/>
              <a:chExt cx="4838700" cy="533400"/>
            </a:xfrm>
          </p:grpSpPr>
          <p:sp>
            <p:nvSpPr>
              <p:cNvPr id="174" name="Google Shape;174;p16"/>
              <p:cNvSpPr/>
              <p:nvPr/>
            </p:nvSpPr>
            <p:spPr>
              <a:xfrm>
                <a:off x="0" y="0"/>
                <a:ext cx="38100" cy="533400"/>
              </a:xfrm>
              <a:prstGeom prst="roundRect">
                <a:avLst>
                  <a:gd name="adj" fmla="val 50000"/>
                </a:avLst>
              </a:prstGeom>
              <a:solidFill>
                <a:srgbClr val="47556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5" name="Google Shape;175;p16"/>
              <p:cNvSpPr txBox="1"/>
              <p:nvPr/>
            </p:nvSpPr>
            <p:spPr>
              <a:xfrm>
                <a:off x="190500" y="0"/>
                <a:ext cx="4648200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0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Retry, timeout, and pause/resume are each hand-built, per pipeline</a:t>
                </a:r>
                <a:endParaRPr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6" name="Google Shape;176;p16"/>
            <p:cNvGrpSpPr/>
            <p:nvPr/>
          </p:nvGrpSpPr>
          <p:grpSpPr>
            <a:xfrm>
              <a:off x="228600" y="2238375"/>
              <a:ext cx="4838700" cy="609600"/>
              <a:chOff x="0" y="0"/>
              <a:chExt cx="4838700" cy="609600"/>
            </a:xfrm>
          </p:grpSpPr>
          <p:sp>
            <p:nvSpPr>
              <p:cNvPr id="177" name="Google Shape;177;p16"/>
              <p:cNvSpPr/>
              <p:nvPr/>
            </p:nvSpPr>
            <p:spPr>
              <a:xfrm>
                <a:off x="0" y="0"/>
                <a:ext cx="38100" cy="609600"/>
              </a:xfrm>
              <a:prstGeom prst="roundRect">
                <a:avLst>
                  <a:gd name="adj" fmla="val 50000"/>
                </a:avLst>
              </a:prstGeom>
              <a:solidFill>
                <a:srgbClr val="47556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8" name="Google Shape;178;p16"/>
              <p:cNvSpPr txBox="1"/>
              <p:nvPr/>
            </p:nvSpPr>
            <p:spPr>
              <a:xfrm>
                <a:off x="190500" y="0"/>
                <a:ext cx="46482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0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Adding a human-approval pause means threading state through your own DB tables</a:t>
                </a:r>
                <a:endParaRPr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79" name="Google Shape;179;p16"/>
            <p:cNvGrpSpPr/>
            <p:nvPr/>
          </p:nvGrpSpPr>
          <p:grpSpPr>
            <a:xfrm>
              <a:off x="228600" y="3076575"/>
              <a:ext cx="4838700" cy="609600"/>
              <a:chOff x="0" y="0"/>
              <a:chExt cx="4838700" cy="609600"/>
            </a:xfrm>
          </p:grpSpPr>
          <p:sp>
            <p:nvSpPr>
              <p:cNvPr id="180" name="Google Shape;180;p16"/>
              <p:cNvSpPr/>
              <p:nvPr/>
            </p:nvSpPr>
            <p:spPr>
              <a:xfrm>
                <a:off x="0" y="0"/>
                <a:ext cx="38100" cy="609600"/>
              </a:xfrm>
              <a:prstGeom prst="roundRect">
                <a:avLst>
                  <a:gd name="adj" fmla="val 50000"/>
                </a:avLst>
              </a:prstGeom>
              <a:solidFill>
                <a:srgbClr val="475569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1" name="Google Shape;181;p16"/>
              <p:cNvSpPr txBox="1"/>
              <p:nvPr/>
            </p:nvSpPr>
            <p:spPr>
              <a:xfrm>
                <a:off x="190500" y="0"/>
                <a:ext cx="46482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0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Works fine — until step 4 needs to fail gracefully or pause for a day</a:t>
                </a:r>
                <a:endParaRPr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182" name="Google Shape;182;p16"/>
          <p:cNvGrpSpPr/>
          <p:nvPr/>
        </p:nvGrpSpPr>
        <p:grpSpPr>
          <a:xfrm>
            <a:off x="6286500" y="1428750"/>
            <a:ext cx="6013750" cy="4857900"/>
            <a:chOff x="0" y="0"/>
            <a:chExt cx="6013750" cy="4857900"/>
          </a:xfrm>
        </p:grpSpPr>
        <p:sp>
          <p:nvSpPr>
            <p:cNvPr id="183" name="Google Shape;183;p16"/>
            <p:cNvSpPr/>
            <p:nvPr/>
          </p:nvSpPr>
          <p:spPr>
            <a:xfrm>
              <a:off x="0" y="0"/>
              <a:ext cx="5334000" cy="4857900"/>
            </a:xfrm>
            <a:prstGeom prst="roundRect">
              <a:avLst>
                <a:gd name="adj" fmla="val 3137"/>
              </a:avLst>
            </a:prstGeom>
            <a:solidFill>
              <a:srgbClr val="1E293B">
                <a:alpha val="70000"/>
              </a:srgbClr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4" name="Google Shape;184;p16"/>
            <p:cNvSpPr/>
            <p:nvPr/>
          </p:nvSpPr>
          <p:spPr>
            <a:xfrm>
              <a:off x="0" y="0"/>
              <a:ext cx="5334000" cy="38100"/>
            </a:xfrm>
            <a:prstGeom prst="roundRect">
              <a:avLst>
                <a:gd name="adj" fmla="val 50000"/>
              </a:avLst>
            </a:prstGeom>
            <a:solidFill>
              <a:srgbClr val="FCD34D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5" name="Google Shape;185;p16"/>
            <p:cNvSpPr/>
            <p:nvPr/>
          </p:nvSpPr>
          <p:spPr>
            <a:xfrm>
              <a:off x="171450" y="190500"/>
              <a:ext cx="419100" cy="419100"/>
            </a:xfrm>
            <a:prstGeom prst="ellipse">
              <a:avLst/>
            </a:prstGeom>
            <a:solidFill>
              <a:srgbClr val="D97706">
                <a:alpha val="25000"/>
              </a:srgbClr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6" name="Google Shape;186;p16"/>
            <p:cNvSpPr txBox="1"/>
            <p:nvPr/>
          </p:nvSpPr>
          <p:spPr>
            <a:xfrm>
              <a:off x="171450" y="219710"/>
              <a:ext cx="419100" cy="419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000" dirty="0">
                <a:solidFill>
                  <a:srgbClr val="FCD34D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  <p:sp>
          <p:nvSpPr>
            <p:cNvPr id="187" name="Google Shape;187;p16"/>
            <p:cNvSpPr txBox="1"/>
            <p:nvPr/>
          </p:nvSpPr>
          <p:spPr>
            <a:xfrm>
              <a:off x="704850" y="228600"/>
              <a:ext cx="43815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900" b="0">
                  <a:solidFill>
                    <a:srgbClr val="FCD34D"/>
                  </a:solidFill>
                  <a:latin typeface="Poppins SemiBold"/>
                  <a:ea typeface="Poppins SemiBold"/>
                  <a:cs typeface="Poppins SemiBold"/>
                  <a:sym typeface="Poppins SemiBold"/>
                </a:rPr>
                <a:t>A Graph (LangGraph)</a:t>
              </a:r>
              <a:endParaRPr sz="1900" b="0">
                <a:solidFill>
                  <a:srgbClr val="FCD34D"/>
                </a:solidFill>
                <a:latin typeface="Poppins SemiBold"/>
                <a:ea typeface="Poppins SemiBold"/>
                <a:cs typeface="Poppins SemiBold"/>
                <a:sym typeface="Poppins SemiBold"/>
              </a:endParaRPr>
            </a:p>
          </p:txBody>
        </p:sp>
        <p:grpSp>
          <p:nvGrpSpPr>
            <p:cNvPr id="188" name="Google Shape;188;p16"/>
            <p:cNvGrpSpPr/>
            <p:nvPr/>
          </p:nvGrpSpPr>
          <p:grpSpPr>
            <a:xfrm>
              <a:off x="228600" y="809625"/>
              <a:ext cx="5785150" cy="457200"/>
              <a:chOff x="0" y="0"/>
              <a:chExt cx="5785150" cy="457200"/>
            </a:xfrm>
          </p:grpSpPr>
          <p:sp>
            <p:nvSpPr>
              <p:cNvPr id="189" name="Google Shape;189;p16"/>
              <p:cNvSpPr/>
              <p:nvPr/>
            </p:nvSpPr>
            <p:spPr>
              <a:xfrm>
                <a:off x="0" y="0"/>
                <a:ext cx="4876800" cy="457200"/>
              </a:xfrm>
              <a:prstGeom prst="roundRect">
                <a:avLst>
                  <a:gd name="adj" fmla="val 16666"/>
                </a:avLst>
              </a:prstGeom>
              <a:solidFill>
                <a:srgbClr val="0F172A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0" name="Google Shape;190;p16"/>
              <p:cNvSpPr txBox="1"/>
              <p:nvPr/>
            </p:nvSpPr>
            <p:spPr>
              <a:xfrm>
                <a:off x="832150" y="56025"/>
                <a:ext cx="4953000" cy="326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250">
                    <a:solidFill>
                      <a:srgbClr val="38BDF8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(state, config) → partial state</a:t>
                </a:r>
                <a:endParaRPr sz="105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91" name="Google Shape;191;p16"/>
            <p:cNvGrpSpPr/>
            <p:nvPr/>
          </p:nvGrpSpPr>
          <p:grpSpPr>
            <a:xfrm>
              <a:off x="228600" y="1476375"/>
              <a:ext cx="4838700" cy="542925"/>
              <a:chOff x="0" y="0"/>
              <a:chExt cx="4838700" cy="542925"/>
            </a:xfrm>
          </p:grpSpPr>
          <p:sp>
            <p:nvSpPr>
              <p:cNvPr id="192" name="Google Shape;192;p16"/>
              <p:cNvSpPr/>
              <p:nvPr/>
            </p:nvSpPr>
            <p:spPr>
              <a:xfrm>
                <a:off x="0" y="0"/>
                <a:ext cx="38100" cy="533400"/>
              </a:xfrm>
              <a:prstGeom prst="roundRect">
                <a:avLst>
                  <a:gd name="adj" fmla="val 50000"/>
                </a:avLst>
              </a:prstGeom>
              <a:solidFill>
                <a:srgbClr val="F59E0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3" name="Google Shape;193;p16"/>
              <p:cNvSpPr txBox="1"/>
              <p:nvPr/>
            </p:nvSpPr>
            <p:spPr>
              <a:xfrm>
                <a:off x="190500" y="9525"/>
                <a:ext cx="4648200" cy="53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0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Edges — including conditional edges — decide what runs next</a:t>
                </a:r>
                <a:endParaRPr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94" name="Google Shape;194;p16"/>
            <p:cNvGrpSpPr/>
            <p:nvPr/>
          </p:nvGrpSpPr>
          <p:grpSpPr>
            <a:xfrm>
              <a:off x="228600" y="2238375"/>
              <a:ext cx="4838700" cy="609600"/>
              <a:chOff x="0" y="0"/>
              <a:chExt cx="4838700" cy="609600"/>
            </a:xfrm>
          </p:grpSpPr>
          <p:sp>
            <p:nvSpPr>
              <p:cNvPr id="195" name="Google Shape;195;p16"/>
              <p:cNvSpPr/>
              <p:nvPr/>
            </p:nvSpPr>
            <p:spPr>
              <a:xfrm>
                <a:off x="0" y="0"/>
                <a:ext cx="38100" cy="609600"/>
              </a:xfrm>
              <a:prstGeom prst="roundRect">
                <a:avLst>
                  <a:gd name="adj" fmla="val 50000"/>
                </a:avLst>
              </a:prstGeom>
              <a:solidFill>
                <a:srgbClr val="F59E0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6" name="Google Shape;196;p16"/>
              <p:cNvSpPr txBox="1"/>
              <p:nvPr/>
            </p:nvSpPr>
            <p:spPr>
              <a:xfrm>
                <a:off x="190500" y="0"/>
                <a:ext cx="46482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0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A checkpointer persists state between nodes for free</a:t>
                </a:r>
                <a:endParaRPr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197" name="Google Shape;197;p16"/>
            <p:cNvGrpSpPr/>
            <p:nvPr/>
          </p:nvGrpSpPr>
          <p:grpSpPr>
            <a:xfrm>
              <a:off x="228600" y="3076575"/>
              <a:ext cx="4838700" cy="609600"/>
              <a:chOff x="0" y="0"/>
              <a:chExt cx="4838700" cy="609600"/>
            </a:xfrm>
          </p:grpSpPr>
          <p:sp>
            <p:nvSpPr>
              <p:cNvPr id="198" name="Google Shape;198;p16"/>
              <p:cNvSpPr/>
              <p:nvPr/>
            </p:nvSpPr>
            <p:spPr>
              <a:xfrm>
                <a:off x="0" y="0"/>
                <a:ext cx="38100" cy="609600"/>
              </a:xfrm>
              <a:prstGeom prst="roundRect">
                <a:avLst>
                  <a:gd name="adj" fmla="val 50000"/>
                </a:avLst>
              </a:prstGeom>
              <a:solidFill>
                <a:srgbClr val="F59E0B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" name="Google Shape;199;p16"/>
              <p:cNvSpPr txBox="1"/>
              <p:nvPr/>
            </p:nvSpPr>
            <p:spPr>
              <a:xfrm>
                <a:off x="190500" y="0"/>
                <a:ext cx="4648200" cy="6096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0">
                    <a:solidFill>
                      <a:srgbClr val="38BDF8"/>
                    </a:solidFill>
                    <a:highlight>
                      <a:srgbClr val="0F172A"/>
                    </a:highlight>
                    <a:latin typeface="Fira Code"/>
                    <a:ea typeface="Fira Code"/>
                    <a:cs typeface="Fira Code"/>
                    <a:sym typeface="Fira Code"/>
                  </a:rPr>
                  <a:t>interrupt_before</a:t>
                </a:r>
                <a:r>
                  <a:rPr lang="en-US" sz="1350" b="0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 turns "pause for human review" into one keyword arg</a:t>
                </a:r>
                <a:endParaRPr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sp>
        <p:nvSpPr>
          <p:cNvPr id="200" name="Google Shape;200;p16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Pipeline vs Graph</a:t>
            </a:r>
            <a:endParaRPr/>
          </a:p>
        </p:txBody>
      </p:sp>
      <p:sp>
        <p:nvSpPr>
          <p:cNvPr id="201" name="Google Shape;201;p16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7" name="Google Shape;207;p17"/>
          <p:cNvSpPr txBox="1"/>
          <p:nvPr/>
        </p:nvSpPr>
        <p:spPr>
          <a:xfrm>
            <a:off x="571500" y="571500"/>
            <a:ext cx="11601600" cy="101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LangGraph Basics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3000">
              <a:solidFill>
                <a:srgbClr val="F8FAF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208" name="Google Shape;208;p17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09" name="Google Shape;209;p17"/>
          <p:cNvGrpSpPr/>
          <p:nvPr/>
        </p:nvGrpSpPr>
        <p:grpSpPr>
          <a:xfrm>
            <a:off x="571500" y="1428750"/>
            <a:ext cx="5334000" cy="1409700"/>
            <a:chOff x="0" y="0"/>
            <a:chExt cx="5334000" cy="1409700"/>
          </a:xfrm>
        </p:grpSpPr>
        <p:sp>
          <p:nvSpPr>
            <p:cNvPr id="210" name="Google Shape;210;p17"/>
            <p:cNvSpPr/>
            <p:nvPr/>
          </p:nvSpPr>
          <p:spPr>
            <a:xfrm>
              <a:off x="0" y="0"/>
              <a:ext cx="5334000" cy="1409700"/>
            </a:xfrm>
            <a:prstGeom prst="roundRect">
              <a:avLst>
                <a:gd name="adj" fmla="val 8108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1" name="Google Shape;211;p17"/>
            <p:cNvSpPr/>
            <p:nvPr/>
          </p:nvSpPr>
          <p:spPr>
            <a:xfrm>
              <a:off x="0" y="0"/>
              <a:ext cx="47700" cy="14097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2" name="Google Shape;212;p17"/>
            <p:cNvSpPr txBox="1"/>
            <p:nvPr/>
          </p:nvSpPr>
          <p:spPr>
            <a:xfrm>
              <a:off x="238125" y="152400"/>
              <a:ext cx="48579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01 / NODES &amp; FUNCTIONS</a:t>
              </a:r>
              <a:endParaRPr sz="1200"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A node is a plain function. It receives the full state, and a config carrying per-run values (thread_id, cancel_event) — it returns </a:t>
              </a:r>
              <a:r>
                <a:rPr lang="en-US" sz="1350" b="0">
                  <a:solidFill>
                    <a:srgbClr val="F8FAFC"/>
                  </a:solidFill>
                  <a:latin typeface="Inter SemiBold"/>
                  <a:ea typeface="Inter SemiBold"/>
                  <a:cs typeface="Inter SemiBold"/>
                  <a:sym typeface="Inter SemiBold"/>
                </a:rPr>
                <a:t>only the keys it's updating</a:t>
              </a:r>
              <a:r>
                <a:rPr lang="en-US"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.</a:t>
              </a:r>
              <a:endParaRPr sz="1350"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3" name="Google Shape;213;p17"/>
          <p:cNvGrpSpPr/>
          <p:nvPr/>
        </p:nvGrpSpPr>
        <p:grpSpPr>
          <a:xfrm>
            <a:off x="571500" y="3028950"/>
            <a:ext cx="5334000" cy="1409700"/>
            <a:chOff x="0" y="0"/>
            <a:chExt cx="5334000" cy="1409700"/>
          </a:xfrm>
        </p:grpSpPr>
        <p:sp>
          <p:nvSpPr>
            <p:cNvPr id="214" name="Google Shape;214;p17"/>
            <p:cNvSpPr/>
            <p:nvPr/>
          </p:nvSpPr>
          <p:spPr>
            <a:xfrm>
              <a:off x="0" y="0"/>
              <a:ext cx="5334000" cy="1409700"/>
            </a:xfrm>
            <a:prstGeom prst="roundRect">
              <a:avLst>
                <a:gd name="adj" fmla="val 8108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5" name="Google Shape;215;p17"/>
            <p:cNvSpPr/>
            <p:nvPr/>
          </p:nvSpPr>
          <p:spPr>
            <a:xfrm>
              <a:off x="0" y="0"/>
              <a:ext cx="47700" cy="14097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6" name="Google Shape;216;p17"/>
            <p:cNvSpPr txBox="1"/>
            <p:nvPr/>
          </p:nvSpPr>
          <p:spPr>
            <a:xfrm>
              <a:off x="238125" y="152400"/>
              <a:ext cx="4857900" cy="1104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02 / STATE REDUCTION</a:t>
              </a:r>
              <a:endParaRPr sz="1200"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600"/>
                </a:spcBef>
                <a:spcAft>
                  <a:spcPts val="0"/>
                </a:spcAft>
                <a:buNone/>
              </a:pPr>
              <a:r>
                <a:rPr lang="en-US" sz="1350" b="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rPr>
                <a:t>LangGraph merges that partial dict into state and hands the result to whatever node the edges point to next.</a:t>
              </a:r>
              <a:endParaRPr sz="1350" b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17" name="Google Shape;217;p17"/>
          <p:cNvGrpSpPr/>
          <p:nvPr/>
        </p:nvGrpSpPr>
        <p:grpSpPr>
          <a:xfrm>
            <a:off x="571500" y="4629150"/>
            <a:ext cx="5334000" cy="1562100"/>
            <a:chOff x="0" y="0"/>
            <a:chExt cx="5334000" cy="1562100"/>
          </a:xfrm>
        </p:grpSpPr>
        <p:sp>
          <p:nvSpPr>
            <p:cNvPr id="218" name="Google Shape;218;p17"/>
            <p:cNvSpPr/>
            <p:nvPr/>
          </p:nvSpPr>
          <p:spPr>
            <a:xfrm>
              <a:off x="0" y="0"/>
              <a:ext cx="5334000" cy="1562100"/>
            </a:xfrm>
            <a:prstGeom prst="roundRect">
              <a:avLst>
                <a:gd name="adj" fmla="val 7317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9" name="Google Shape;219;p17"/>
            <p:cNvSpPr/>
            <p:nvPr/>
          </p:nvSpPr>
          <p:spPr>
            <a:xfrm>
              <a:off x="0" y="0"/>
              <a:ext cx="47700" cy="1562100"/>
            </a:xfrm>
            <a:prstGeom prst="roundRect">
              <a:avLst>
                <a:gd name="adj" fmla="val 4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0" name="Google Shape;220;p17"/>
            <p:cNvSpPr txBox="1"/>
            <p:nvPr/>
          </p:nvSpPr>
          <p:spPr>
            <a:xfrm>
              <a:off x="238125" y="152400"/>
              <a:ext cx="4857900" cy="3333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200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03 / GRAPH EDGES</a:t>
              </a:r>
              <a:endParaRPr sz="1200"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grpSp>
        <p:nvGrpSpPr>
          <p:cNvPr id="221" name="Google Shape;221;p17"/>
          <p:cNvGrpSpPr/>
          <p:nvPr/>
        </p:nvGrpSpPr>
        <p:grpSpPr>
          <a:xfrm>
            <a:off x="6286500" y="1428750"/>
            <a:ext cx="5334000" cy="4762500"/>
            <a:chOff x="0" y="0"/>
            <a:chExt cx="5334000" cy="4762500"/>
          </a:xfrm>
        </p:grpSpPr>
        <p:sp>
          <p:nvSpPr>
            <p:cNvPr id="222" name="Google Shape;222;p17"/>
            <p:cNvSpPr/>
            <p:nvPr/>
          </p:nvSpPr>
          <p:spPr>
            <a:xfrm>
              <a:off x="0" y="0"/>
              <a:ext cx="5334000" cy="4762500"/>
            </a:xfrm>
            <a:prstGeom prst="roundRect">
              <a:avLst>
                <a:gd name="adj" fmla="val 2400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3" name="Google Shape;223;p17"/>
            <p:cNvSpPr/>
            <p:nvPr/>
          </p:nvSpPr>
          <p:spPr>
            <a:xfrm>
              <a:off x="0" y="0"/>
              <a:ext cx="5334000" cy="4002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4286"/>
                  </a:moveTo>
                  <a:cubicBezTo>
                    <a:pt x="0" y="15343"/>
                    <a:pt x="1151" y="0"/>
                    <a:pt x="2571" y="0"/>
                  </a:cubicBezTo>
                  <a:lnTo>
                    <a:pt x="117429" y="0"/>
                  </a:lnTo>
                  <a:cubicBezTo>
                    <a:pt x="118849" y="0"/>
                    <a:pt x="120000" y="15343"/>
                    <a:pt x="120000" y="34286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4" name="Google Shape;224;p17"/>
            <p:cNvSpPr/>
            <p:nvPr/>
          </p:nvSpPr>
          <p:spPr>
            <a:xfrm>
              <a:off x="142875" y="1524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5" name="Google Shape;225;p17"/>
            <p:cNvSpPr/>
            <p:nvPr/>
          </p:nvSpPr>
          <p:spPr>
            <a:xfrm>
              <a:off x="295275" y="1524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6" name="Google Shape;226;p17"/>
            <p:cNvSpPr/>
            <p:nvPr/>
          </p:nvSpPr>
          <p:spPr>
            <a:xfrm>
              <a:off x="447675" y="1524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7" name="Google Shape;227;p17"/>
            <p:cNvSpPr txBox="1"/>
            <p:nvPr/>
          </p:nvSpPr>
          <p:spPr>
            <a:xfrm>
              <a:off x="698850" y="165650"/>
              <a:ext cx="28575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050">
                  <a:solidFill>
                    <a:srgbClr val="DCDCAA"/>
                  </a:solidFill>
                  <a:highlight>
                    <a:srgbClr val="1F1F1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copilot_graph</a:t>
              </a:r>
              <a:endParaRPr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00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pic>
        <p:nvPicPr>
          <p:cNvPr id="228" name="Google Shape;228;p17" descr="image.png"/>
          <p:cNvPicPr preferRelativeResize="0"/>
          <p:nvPr/>
        </p:nvPicPr>
        <p:blipFill rotWithShape="1">
          <a:blip r:embed="rId4">
            <a:alphaModFix/>
          </a:blip>
          <a:srcRect t="1784" b="1784"/>
          <a:stretch/>
        </p:blipFill>
        <p:spPr>
          <a:xfrm>
            <a:off x="809625" y="5143500"/>
            <a:ext cx="2305200" cy="25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9" name="Google Shape;229;p17" descr="image.png"/>
          <p:cNvPicPr preferRelativeResize="0"/>
          <p:nvPr/>
        </p:nvPicPr>
        <p:blipFill rotWithShape="1">
          <a:blip r:embed="rId5">
            <a:alphaModFix/>
          </a:blip>
          <a:srcRect t="1784" b="1784"/>
          <a:stretch/>
        </p:blipFill>
        <p:spPr>
          <a:xfrm>
            <a:off x="809625" y="5619750"/>
            <a:ext cx="3638700" cy="25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0" name="Google Shape;230;p17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6286500" y="2409825"/>
            <a:ext cx="5334000" cy="3781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18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System Workflow</a:t>
            </a:r>
            <a:endParaRPr/>
          </a:p>
        </p:txBody>
      </p:sp>
      <p:sp>
        <p:nvSpPr>
          <p:cNvPr id="236" name="Google Shape;236;p18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37" name="Google Shape;237;p18"/>
          <p:cNvGrpSpPr/>
          <p:nvPr/>
        </p:nvGrpSpPr>
        <p:grpSpPr>
          <a:xfrm>
            <a:off x="1910388" y="1597700"/>
            <a:ext cx="8371218" cy="4415073"/>
            <a:chOff x="0" y="0"/>
            <a:chExt cx="3429000" cy="4076706"/>
          </a:xfrm>
        </p:grpSpPr>
        <p:sp>
          <p:nvSpPr>
            <p:cNvPr id="238" name="Google Shape;238;p18"/>
            <p:cNvSpPr/>
            <p:nvPr/>
          </p:nvSpPr>
          <p:spPr>
            <a:xfrm>
              <a:off x="0" y="6"/>
              <a:ext cx="3429000" cy="4076700"/>
            </a:xfrm>
            <a:prstGeom prst="roundRect">
              <a:avLst>
                <a:gd name="adj" fmla="val 3333"/>
              </a:avLst>
            </a:prstGeom>
            <a:solidFill>
              <a:srgbClr val="1E293B">
                <a:alpha val="80000"/>
              </a:srgbClr>
            </a:solidFill>
            <a:ln w="1145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18"/>
            <p:cNvSpPr/>
            <p:nvPr/>
          </p:nvSpPr>
          <p:spPr>
            <a:xfrm>
              <a:off x="0" y="0"/>
              <a:ext cx="3429000" cy="38100"/>
            </a:xfrm>
            <a:prstGeom prst="roundRect">
              <a:avLst>
                <a:gd name="adj" fmla="val 5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240" name="Google Shape;240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277643" y="1861193"/>
            <a:ext cx="1699305" cy="84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1" name="Google Shape;241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115297" y="2026158"/>
            <a:ext cx="728639" cy="448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2" name="Google Shape;242;p18" descr="image.png"/>
          <p:cNvPicPr preferRelativeResize="0"/>
          <p:nvPr/>
        </p:nvPicPr>
        <p:blipFill rotWithShape="1">
          <a:blip r:embed="rId5">
            <a:alphaModFix/>
          </a:blip>
          <a:srcRect l="-160165" r="168590"/>
          <a:stretch/>
        </p:blipFill>
        <p:spPr>
          <a:xfrm>
            <a:off x="1338600" y="2017534"/>
            <a:ext cx="1960600" cy="1070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43" name="Google Shape;243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087690" y="1844287"/>
            <a:ext cx="1699310" cy="84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995585" y="2045048"/>
            <a:ext cx="728639" cy="448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5" name="Google Shape;245;p18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951697" y="1825377"/>
            <a:ext cx="1804731" cy="849653"/>
          </a:xfrm>
          <a:prstGeom prst="rect">
            <a:avLst/>
          </a:prstGeom>
          <a:noFill/>
          <a:ln>
            <a:noFill/>
          </a:ln>
        </p:spPr>
      </p:pic>
      <p:pic>
        <p:nvPicPr>
          <p:cNvPr id="246" name="Google Shape;246;p18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065104" y="3429858"/>
            <a:ext cx="1804725" cy="832049"/>
          </a:xfrm>
          <a:prstGeom prst="rect">
            <a:avLst/>
          </a:prstGeom>
          <a:noFill/>
          <a:ln>
            <a:noFill/>
          </a:ln>
        </p:spPr>
      </p:pic>
      <p:pic>
        <p:nvPicPr>
          <p:cNvPr id="247" name="Google Shape;247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8543119" y="2831731"/>
            <a:ext cx="584127" cy="448112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7090757" y="3584030"/>
            <a:ext cx="728639" cy="448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49" name="Google Shape;249;p18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145749" y="3421047"/>
            <a:ext cx="1699305" cy="849663"/>
          </a:xfrm>
          <a:prstGeom prst="rect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250" name="Google Shape;25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10800000">
            <a:off x="4171401" y="3584030"/>
            <a:ext cx="728639" cy="448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1" name="Google Shape;251;p18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224933" y="3397584"/>
            <a:ext cx="1804726" cy="902363"/>
          </a:xfrm>
          <a:prstGeom prst="rect">
            <a:avLst/>
          </a:prstGeom>
          <a:noFill/>
          <a:ln>
            <a:noFill/>
          </a:ln>
        </p:spPr>
      </p:pic>
      <p:sp>
        <p:nvSpPr>
          <p:cNvPr id="252" name="Google Shape;252;p18"/>
          <p:cNvSpPr txBox="1"/>
          <p:nvPr/>
        </p:nvSpPr>
        <p:spPr>
          <a:xfrm>
            <a:off x="0" y="0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253" name="Google Shape;253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 rot="5400000">
            <a:off x="5653127" y="4429674"/>
            <a:ext cx="607050" cy="46570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8"/>
          <p:cNvSpPr txBox="1"/>
          <p:nvPr/>
        </p:nvSpPr>
        <p:spPr>
          <a:xfrm>
            <a:off x="5288475" y="5335663"/>
            <a:ext cx="1230600" cy="67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2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8"/>
          <p:cNvSpPr/>
          <p:nvPr/>
        </p:nvSpPr>
        <p:spPr>
          <a:xfrm>
            <a:off x="5188841" y="5065221"/>
            <a:ext cx="1699200" cy="832200"/>
          </a:xfrm>
          <a:prstGeom prst="roundRect">
            <a:avLst>
              <a:gd name="adj" fmla="val 16667"/>
            </a:avLst>
          </a:prstGeom>
          <a:solidFill>
            <a:srgbClr val="FBBF24">
              <a:alpha val="15000"/>
            </a:srgbClr>
          </a:solidFill>
          <a:ln w="11450" cap="flat" cmpd="sng">
            <a:solidFill>
              <a:srgbClr val="FBBF24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72550" tIns="72550" rIns="72550" bIns="7255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111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8"/>
          <p:cNvSpPr txBox="1"/>
          <p:nvPr/>
        </p:nvSpPr>
        <p:spPr>
          <a:xfrm>
            <a:off x="5701108" y="5250600"/>
            <a:ext cx="858600" cy="46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72550" tIns="72550" rIns="72550" bIns="7255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45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End</a:t>
            </a:r>
            <a:endParaRPr sz="2045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19"/>
          <p:cNvSpPr txBox="1"/>
          <p:nvPr/>
        </p:nvSpPr>
        <p:spPr>
          <a:xfrm>
            <a:off x="857175" y="3954958"/>
            <a:ext cx="10763400" cy="51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Infrastructure Isolation: </a:t>
            </a:r>
            <a:r>
              <a:rPr lang="en-US">
                <a:solidFill>
                  <a:srgbClr val="38BDF8"/>
                </a:solidFill>
              </a:rPr>
              <a:t>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copilot_graph.py</a:t>
            </a:r>
            <a:r>
              <a:rPr lang="en-US" sz="1100">
                <a:solidFill>
                  <a:schemeClr val="lt1"/>
                </a:solidFill>
              </a:rPr>
              <a:t> file — containing all nodes, edges, and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interrupt_before</a:t>
            </a:r>
            <a:r>
              <a:rPr lang="en-US" sz="1100">
                <a:solidFill>
                  <a:schemeClr val="dk1"/>
                </a:solidFill>
              </a:rPr>
              <a:t> </a:t>
            </a:r>
            <a:r>
              <a:rPr lang="en-US" sz="1100">
                <a:solidFill>
                  <a:schemeClr val="lt1"/>
                </a:solidFill>
              </a:rPr>
              <a:t>logic — is strictly confined to the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infrastructure/orchestration/</a:t>
            </a:r>
            <a:r>
              <a:rPr lang="en-US" sz="1100">
                <a:solidFill>
                  <a:schemeClr val="lt1"/>
                </a:solidFill>
              </a:rPr>
              <a:t> folder.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63" name="Google Shape;263;p19"/>
          <p:cNvSpPr txBox="1"/>
          <p:nvPr/>
        </p:nvSpPr>
        <p:spPr>
          <a:xfrm>
            <a:off x="857175" y="4828054"/>
            <a:ext cx="10763400" cy="49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661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Enforced Automatically: </a:t>
            </a:r>
            <a:r>
              <a:rPr lang="en-US" sz="1100">
                <a:solidFill>
                  <a:schemeClr val="lt1"/>
                </a:solidFill>
              </a:rPr>
              <a:t>A custom CI test walks the AST of every file under</a:t>
            </a:r>
            <a:r>
              <a:rPr lang="en-US" sz="1100">
                <a:solidFill>
                  <a:srgbClr val="38BDF8"/>
                </a:solidFill>
              </a:rPr>
              <a:t>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domain/</a:t>
            </a:r>
            <a:r>
              <a:rPr lang="en-US" sz="1100">
                <a:solidFill>
                  <a:srgbClr val="38BDF8"/>
                </a:solidFill>
              </a:rPr>
              <a:t> </a:t>
            </a:r>
            <a:r>
              <a:rPr lang="en-US" sz="1100">
                <a:solidFill>
                  <a:schemeClr val="lt1"/>
                </a:solidFill>
              </a:rPr>
              <a:t>and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application/</a:t>
            </a:r>
            <a:r>
              <a:rPr lang="en-US" sz="1100">
                <a:solidFill>
                  <a:schemeClr val="dk1"/>
                </a:solidFill>
              </a:rPr>
              <a:t>, </a:t>
            </a:r>
            <a:r>
              <a:rPr lang="en-US" sz="1100">
                <a:solidFill>
                  <a:schemeClr val="lt1"/>
                </a:solidFill>
              </a:rPr>
              <a:t>instantly failing the build if it detects a restricted framework import </a:t>
            </a:r>
            <a:r>
              <a:rPr lang="en-US" sz="1425">
                <a:solidFill>
                  <a:schemeClr val="lt1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.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64" name="Google Shape;264;p19"/>
          <p:cNvSpPr txBox="1"/>
          <p:nvPr/>
        </p:nvSpPr>
        <p:spPr>
          <a:xfrm>
            <a:off x="857175" y="5684341"/>
            <a:ext cx="107634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Zero Framework Leakage:</a:t>
            </a:r>
            <a:r>
              <a:rPr lang="en-US" sz="1425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</a:t>
            </a:r>
            <a:r>
              <a:rPr lang="en-US" sz="1100">
                <a:solidFill>
                  <a:schemeClr val="lt1"/>
                </a:solidFill>
              </a:rPr>
              <a:t>The three agents depend entirely on injected domain ports (like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LlmProvider</a:t>
            </a:r>
            <a:r>
              <a:rPr lang="en-US" sz="1100">
                <a:solidFill>
                  <a:schemeClr val="dk1"/>
                </a:solidFill>
              </a:rPr>
              <a:t>).</a:t>
            </a:r>
            <a:r>
              <a:rPr lang="en-US" sz="1100">
                <a:solidFill>
                  <a:schemeClr val="lt1"/>
                </a:solidFill>
              </a:rPr>
              <a:t> They are completely decoupled and have no idea LangGraph exists. 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265" name="Google Shape;265;p19"/>
          <p:cNvSpPr txBox="1"/>
          <p:nvPr/>
        </p:nvSpPr>
        <p:spPr>
          <a:xfrm>
            <a:off x="571425" y="395495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6" name="Google Shape;266;p19"/>
          <p:cNvSpPr txBox="1"/>
          <p:nvPr/>
        </p:nvSpPr>
        <p:spPr>
          <a:xfrm>
            <a:off x="571425" y="4828054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7" name="Google Shape;267;p19"/>
          <p:cNvSpPr txBox="1"/>
          <p:nvPr/>
        </p:nvSpPr>
        <p:spPr>
          <a:xfrm>
            <a:off x="571425" y="5684341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268" name="Google Shape;268;p19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Clean Architecture</a:t>
            </a:r>
            <a:endParaRPr/>
          </a:p>
        </p:txBody>
      </p:sp>
      <p:sp>
        <p:nvSpPr>
          <p:cNvPr id="269" name="Google Shape;269;p19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70" name="Google Shape;270;p19"/>
          <p:cNvGrpSpPr/>
          <p:nvPr/>
        </p:nvGrpSpPr>
        <p:grpSpPr>
          <a:xfrm>
            <a:off x="571500" y="1418575"/>
            <a:ext cx="11049000" cy="1970938"/>
            <a:chOff x="0" y="-494637"/>
            <a:chExt cx="11049000" cy="1970938"/>
          </a:xfrm>
        </p:grpSpPr>
        <p:sp>
          <p:nvSpPr>
            <p:cNvPr id="271" name="Google Shape;271;p19"/>
            <p:cNvSpPr/>
            <p:nvPr/>
          </p:nvSpPr>
          <p:spPr>
            <a:xfrm>
              <a:off x="0" y="0"/>
              <a:ext cx="11049000" cy="1476300"/>
            </a:xfrm>
            <a:prstGeom prst="roundRect">
              <a:avLst>
                <a:gd name="adj" fmla="val 774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9"/>
            <p:cNvSpPr txBox="1"/>
            <p:nvPr/>
          </p:nvSpPr>
          <p:spPr>
            <a:xfrm>
              <a:off x="190500" y="-494637"/>
              <a:ext cx="10668000" cy="266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0">
                  <a:solidFill>
                    <a:srgbClr val="F59E0B"/>
                  </a:solidFill>
                  <a:latin typeface="Fira Code SemiBold"/>
                  <a:ea typeface="Fira Code SemiBold"/>
                  <a:cs typeface="Fira Code SemiBold"/>
                  <a:sym typeface="Fira Code SemiBold"/>
                </a:rPr>
                <a:t>← NEVER IMPORT: langgraph, fastapi, openai, sqlalchemy, psycopg2 →</a:t>
              </a:r>
              <a:endParaRPr sz="1300" b="0">
                <a:solidFill>
                  <a:srgbClr val="F59E0B"/>
                </a:solidFill>
                <a:latin typeface="Fira Code SemiBold"/>
                <a:ea typeface="Fira Code SemiBold"/>
                <a:cs typeface="Fira Code SemiBold"/>
                <a:sym typeface="Fira Code SemiBold"/>
              </a:endParaRPr>
            </a:p>
          </p:txBody>
        </p:sp>
        <p:grpSp>
          <p:nvGrpSpPr>
            <p:cNvPr id="273" name="Google Shape;273;p19"/>
            <p:cNvGrpSpPr/>
            <p:nvPr/>
          </p:nvGrpSpPr>
          <p:grpSpPr>
            <a:xfrm>
              <a:off x="285750" y="476250"/>
              <a:ext cx="3143400" cy="762000"/>
              <a:chOff x="0" y="0"/>
              <a:chExt cx="3143400" cy="762000"/>
            </a:xfrm>
          </p:grpSpPr>
          <p:sp>
            <p:nvSpPr>
              <p:cNvPr id="274" name="Google Shape;274;p19"/>
              <p:cNvSpPr/>
              <p:nvPr/>
            </p:nvSpPr>
            <p:spPr>
              <a:xfrm>
                <a:off x="0" y="0"/>
                <a:ext cx="31434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0F172A"/>
              </a:solidFill>
              <a:ln w="14300" cap="flat" cmpd="sng">
                <a:solidFill>
                  <a:srgbClr val="38BDF8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5" name="Google Shape;275;p19"/>
              <p:cNvSpPr txBox="1"/>
              <p:nvPr/>
            </p:nvSpPr>
            <p:spPr>
              <a:xfrm>
                <a:off x="0" y="0"/>
                <a:ext cx="3143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>
                    <a:solidFill>
                      <a:srgbClr val="38BDF8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domain/</a:t>
                </a:r>
                <a:endParaRPr sz="1500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950" b="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Core Business Entities &amp; Logic</a:t>
                </a:r>
                <a:endParaRPr sz="950" b="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pic>
          <p:nvPicPr>
            <p:cNvPr id="276" name="Google Shape;276;p1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3543300" y="847725"/>
              <a:ext cx="266700" cy="19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77" name="Google Shape;277;p19"/>
            <p:cNvGrpSpPr/>
            <p:nvPr/>
          </p:nvGrpSpPr>
          <p:grpSpPr>
            <a:xfrm>
              <a:off x="3952875" y="476250"/>
              <a:ext cx="3143400" cy="762000"/>
              <a:chOff x="0" y="0"/>
              <a:chExt cx="3143400" cy="762000"/>
            </a:xfrm>
          </p:grpSpPr>
          <p:sp>
            <p:nvSpPr>
              <p:cNvPr id="278" name="Google Shape;278;p19"/>
              <p:cNvSpPr/>
              <p:nvPr/>
            </p:nvSpPr>
            <p:spPr>
              <a:xfrm>
                <a:off x="0" y="0"/>
                <a:ext cx="3143400" cy="762000"/>
              </a:xfrm>
              <a:prstGeom prst="roundRect">
                <a:avLst>
                  <a:gd name="adj" fmla="val 10000"/>
                </a:avLst>
              </a:prstGeom>
              <a:solidFill>
                <a:srgbClr val="0F172A"/>
              </a:solidFill>
              <a:ln w="14300" cap="flat" cmpd="sng">
                <a:solidFill>
                  <a:srgbClr val="38BDF8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9"/>
              <p:cNvSpPr txBox="1"/>
              <p:nvPr/>
            </p:nvSpPr>
            <p:spPr>
              <a:xfrm>
                <a:off x="0" y="0"/>
                <a:ext cx="3143400" cy="762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500" b="1">
                    <a:solidFill>
                      <a:srgbClr val="38BDF8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application/</a:t>
                </a:r>
                <a:endParaRPr sz="1500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  <a:p>
                <a:pPr marL="0" lvl="0" indent="0" algn="ctr" rtl="0">
                  <a:spcBef>
                    <a:spcPts val="300"/>
                  </a:spcBef>
                  <a:spcAft>
                    <a:spcPts val="0"/>
                  </a:spcAft>
                  <a:buNone/>
                </a:pPr>
                <a:r>
                  <a:rPr lang="en-US" sz="950" b="0">
                    <a:solidFill>
                      <a:srgbClr val="94A3B8"/>
                    </a:solidFill>
                    <a:latin typeface="Inter"/>
                    <a:ea typeface="Inter"/>
                    <a:cs typeface="Inter"/>
                    <a:sym typeface="Inter"/>
                  </a:rPr>
                  <a:t>Use Cases &amp; Port Interfaces</a:t>
                </a:r>
                <a:endParaRPr sz="950" b="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pic>
          <p:nvPicPr>
            <p:cNvPr id="280" name="Google Shape;280;p19"/>
            <p:cNvPicPr preferRelativeResize="0"/>
            <p:nvPr/>
          </p:nvPicPr>
          <p:blipFill rotWithShape="1">
            <a:blip r:embed="rId4">
              <a:alphaModFix/>
            </a:blip>
            <a:srcRect/>
            <a:stretch/>
          </p:blipFill>
          <p:spPr>
            <a:xfrm>
              <a:off x="7210425" y="847725"/>
              <a:ext cx="266700" cy="19200"/>
            </a:xfrm>
            <a:prstGeom prst="rect">
              <a:avLst/>
            </a:prstGeom>
            <a:noFill/>
            <a:ln>
              <a:noFill/>
            </a:ln>
          </p:spPr>
        </p:pic>
        <p:grpSp>
          <p:nvGrpSpPr>
            <p:cNvPr id="281" name="Google Shape;281;p19"/>
            <p:cNvGrpSpPr/>
            <p:nvPr/>
          </p:nvGrpSpPr>
          <p:grpSpPr>
            <a:xfrm>
              <a:off x="7620000" y="400050"/>
              <a:ext cx="3143400" cy="914400"/>
              <a:chOff x="0" y="0"/>
              <a:chExt cx="3143400" cy="914400"/>
            </a:xfrm>
          </p:grpSpPr>
          <p:sp>
            <p:nvSpPr>
              <p:cNvPr id="282" name="Google Shape;282;p19"/>
              <p:cNvSpPr/>
              <p:nvPr/>
            </p:nvSpPr>
            <p:spPr>
              <a:xfrm>
                <a:off x="0" y="0"/>
                <a:ext cx="3143400" cy="914400"/>
              </a:xfrm>
              <a:prstGeom prst="roundRect">
                <a:avLst>
                  <a:gd name="adj" fmla="val 8333"/>
                </a:avLst>
              </a:prstGeom>
              <a:solidFill>
                <a:srgbClr val="0F172A"/>
              </a:solidFill>
              <a:ln w="19050" cap="flat" cmpd="sng">
                <a:solidFill>
                  <a:srgbClr val="F59E0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3" name="Google Shape;283;p19"/>
              <p:cNvSpPr txBox="1"/>
              <p:nvPr/>
            </p:nvSpPr>
            <p:spPr>
              <a:xfrm>
                <a:off x="0" y="0"/>
                <a:ext cx="3143400" cy="914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00" b="1">
                    <a:solidFill>
                      <a:srgbClr val="FCD34D"/>
                    </a:solidFill>
                    <a:latin typeface="Fira Code"/>
                    <a:ea typeface="Fira Code"/>
                    <a:cs typeface="Fira Code"/>
                    <a:sym typeface="Fira Code"/>
                  </a:rPr>
                  <a:t>infrastructure/</a:t>
                </a:r>
                <a:endParaRPr sz="1400" b="1">
                  <a:solidFill>
                    <a:srgbClr val="FCD34D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 b="0">
                    <a:solidFill>
                      <a:srgbClr val="F59E0B"/>
                    </a:solidFill>
                    <a:latin typeface="Fira Code SemiBold"/>
                    <a:ea typeface="Fira Code SemiBold"/>
                    <a:cs typeface="Fira Code SemiBold"/>
                    <a:sym typeface="Fira Code SemiBold"/>
                  </a:rPr>
                  <a:t>LangGraph Lives Here</a:t>
                </a:r>
                <a:endParaRPr sz="1400" b="1">
                  <a:solidFill>
                    <a:srgbClr val="FCD34D"/>
                  </a:solidFill>
                  <a:latin typeface="Fira Code"/>
                  <a:ea typeface="Fira Code"/>
                  <a:cs typeface="Fira Code"/>
                  <a:sym typeface="Fira Code"/>
                </a:endParaRPr>
              </a:p>
            </p:txBody>
          </p:sp>
        </p:grp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0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Agent 1: The Standards Mapper </a:t>
            </a:r>
            <a:endParaRPr/>
          </a:p>
        </p:txBody>
      </p:sp>
      <p:sp>
        <p:nvSpPr>
          <p:cNvPr id="289" name="Google Shape;289;p20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290" name="Google Shape;290;p20"/>
          <p:cNvGrpSpPr/>
          <p:nvPr/>
        </p:nvGrpSpPr>
        <p:grpSpPr>
          <a:xfrm>
            <a:off x="6286500" y="1452906"/>
            <a:ext cx="5334000" cy="3214325"/>
            <a:chOff x="6286500" y="1352550"/>
            <a:chExt cx="5334000" cy="4819800"/>
          </a:xfrm>
        </p:grpSpPr>
        <p:sp>
          <p:nvSpPr>
            <p:cNvPr id="291" name="Google Shape;291;p20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20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20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20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20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20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ModuleOutlineGenerator </a:t>
              </a: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297" name="Google Shape;297;p20"/>
          <p:cNvGrpSpPr/>
          <p:nvPr/>
        </p:nvGrpSpPr>
        <p:grpSpPr>
          <a:xfrm>
            <a:off x="571500" y="1352550"/>
            <a:ext cx="5567172" cy="4821175"/>
            <a:chOff x="571500" y="1352550"/>
            <a:chExt cx="5567172" cy="4821175"/>
          </a:xfrm>
        </p:grpSpPr>
        <p:grpSp>
          <p:nvGrpSpPr>
            <p:cNvPr id="298" name="Google Shape;298;p20"/>
            <p:cNvGrpSpPr/>
            <p:nvPr/>
          </p:nvGrpSpPr>
          <p:grpSpPr>
            <a:xfrm>
              <a:off x="571500" y="1352550"/>
              <a:ext cx="2381400" cy="304800"/>
              <a:chOff x="0" y="0"/>
              <a:chExt cx="2381400" cy="304800"/>
            </a:xfrm>
          </p:grpSpPr>
          <p:sp>
            <p:nvSpPr>
              <p:cNvPr id="299" name="Google Shape;299;p20"/>
              <p:cNvSpPr/>
              <p:nvPr/>
            </p:nvSpPr>
            <p:spPr>
              <a:xfrm>
                <a:off x="0" y="0"/>
                <a:ext cx="23814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59E0B">
                  <a:alpha val="12000"/>
                </a:srgbClr>
              </a:solidFill>
              <a:ln w="9525" cap="flat" cmpd="sng">
                <a:solidFill>
                  <a:srgbClr val="F59E0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20"/>
              <p:cNvSpPr txBox="1"/>
              <p:nvPr/>
            </p:nvSpPr>
            <p:spPr>
              <a:xfrm>
                <a:off x="0" y="0"/>
                <a:ext cx="23814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>
                    <a:solidFill>
                      <a:srgbClr val="F59E0B"/>
                    </a:solidFill>
                    <a:latin typeface="Inter"/>
                    <a:ea typeface="Inter"/>
                    <a:cs typeface="Inter"/>
                    <a:sym typeface="Inter"/>
                  </a:rPr>
                  <a:t>DETERMINISTIC GUARDRAILS</a:t>
                </a:r>
                <a:endParaRPr sz="1000" b="1">
                  <a:solidFill>
                    <a:srgbClr val="F59E0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01" name="Google Shape;301;p20"/>
            <p:cNvGrpSpPr/>
            <p:nvPr/>
          </p:nvGrpSpPr>
          <p:grpSpPr>
            <a:xfrm>
              <a:off x="571500" y="1828800"/>
              <a:ext cx="5429400" cy="1285800"/>
              <a:chOff x="0" y="0"/>
              <a:chExt cx="5429400" cy="1285800"/>
            </a:xfrm>
          </p:grpSpPr>
          <p:sp>
            <p:nvSpPr>
              <p:cNvPr id="302" name="Google Shape;302;p20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name="adj" fmla="val 7407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3" name="Google Shape;303;p20"/>
              <p:cNvSpPr/>
              <p:nvPr/>
            </p:nvSpPr>
            <p:spPr>
              <a:xfrm>
                <a:off x="0" y="0"/>
                <a:ext cx="38100" cy="12858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4" name="Google Shape;304;p20"/>
              <p:cNvSpPr txBox="1"/>
              <p:nvPr/>
            </p:nvSpPr>
            <p:spPr>
              <a:xfrm>
                <a:off x="228600" y="152400"/>
                <a:ext cx="5010300" cy="9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1. The LLM is just a parser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We only use the LLM to extract lists of required skills from the corpus. It does not make the final mapping decisions.</a:t>
                </a:r>
                <a:endParaRPr sz="1425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05" name="Google Shape;305;p20"/>
            <p:cNvGrpSpPr/>
            <p:nvPr/>
          </p:nvGrpSpPr>
          <p:grpSpPr>
            <a:xfrm>
              <a:off x="571500" y="3286125"/>
              <a:ext cx="5567172" cy="1381200"/>
              <a:chOff x="0" y="0"/>
              <a:chExt cx="5567172" cy="1381200"/>
            </a:xfrm>
          </p:grpSpPr>
          <p:sp>
            <p:nvSpPr>
              <p:cNvPr id="306" name="Google Shape;306;p20"/>
              <p:cNvSpPr/>
              <p:nvPr/>
            </p:nvSpPr>
            <p:spPr>
              <a:xfrm>
                <a:off x="0" y="0"/>
                <a:ext cx="5429400" cy="1381200"/>
              </a:xfrm>
              <a:prstGeom prst="roundRect">
                <a:avLst>
                  <a:gd name="adj" fmla="val 6896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7" name="Google Shape;307;p20"/>
              <p:cNvSpPr/>
              <p:nvPr/>
            </p:nvSpPr>
            <p:spPr>
              <a:xfrm>
                <a:off x="0" y="0"/>
                <a:ext cx="38100" cy="13812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8" name="Google Shape;308;p20"/>
              <p:cNvSpPr txBox="1"/>
              <p:nvPr/>
            </p:nvSpPr>
            <p:spPr>
              <a:xfrm>
                <a:off x="233172" y="152325"/>
                <a:ext cx="5334000" cy="10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2.Absolute Domain Partitioning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strict Python token matching to guarantee zero cross-domain contamination</a:t>
                </a:r>
                <a:endParaRPr sz="1425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 (e.g., an SQL skill can never match an API module)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09" name="Google Shape;309;p20"/>
            <p:cNvGrpSpPr/>
            <p:nvPr/>
          </p:nvGrpSpPr>
          <p:grpSpPr>
            <a:xfrm>
              <a:off x="571500" y="4838700"/>
              <a:ext cx="5429400" cy="1335025"/>
              <a:chOff x="0" y="0"/>
              <a:chExt cx="5429400" cy="1335025"/>
            </a:xfrm>
          </p:grpSpPr>
          <p:sp>
            <p:nvSpPr>
              <p:cNvPr id="310" name="Google Shape;310;p20"/>
              <p:cNvSpPr/>
              <p:nvPr/>
            </p:nvSpPr>
            <p:spPr>
              <a:xfrm>
                <a:off x="0" y="0"/>
                <a:ext cx="5429400" cy="1333500"/>
              </a:xfrm>
              <a:prstGeom prst="roundRect">
                <a:avLst>
                  <a:gd name="adj" fmla="val 7142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1" name="Google Shape;311;p20"/>
              <p:cNvSpPr/>
              <p:nvPr/>
            </p:nvSpPr>
            <p:spPr>
              <a:xfrm>
                <a:off x="0" y="0"/>
                <a:ext cx="3810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2" name="Google Shape;312;p20"/>
              <p:cNvSpPr txBox="1"/>
              <p:nvPr/>
            </p:nvSpPr>
            <p:spPr>
              <a:xfrm>
                <a:off x="209547" y="306325"/>
                <a:ext cx="5010300" cy="10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3.Zero FrameWork leakage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lnSpc>
                    <a:spcPct val="100000"/>
                  </a:lnSpc>
                  <a:spcBef>
                    <a:spcPts val="450"/>
                  </a:spcBef>
                  <a:spcAft>
                    <a:spcPts val="0"/>
                  </a:spcAft>
                  <a:buClr>
                    <a:schemeClr val="dk1"/>
                  </a:buClr>
                  <a:buFont typeface="Arial"/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The agent operates purely on Domain Ports (LlmProvider, HybridRetrieveUseCase). It has no idea it is inside a LangGraph node </a:t>
                </a:r>
                <a:endParaRPr sz="1425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425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13" name="Google Shape;313;p20"/>
          <p:cNvGrpSpPr/>
          <p:nvPr/>
        </p:nvGrpSpPr>
        <p:grpSpPr>
          <a:xfrm>
            <a:off x="6286500" y="4787474"/>
            <a:ext cx="5334000" cy="1743804"/>
            <a:chOff x="6286500" y="1352550"/>
            <a:chExt cx="5334000" cy="4819800"/>
          </a:xfrm>
        </p:grpSpPr>
        <p:sp>
          <p:nvSpPr>
            <p:cNvPr id="314" name="Google Shape;314;p20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5" name="Google Shape;315;p20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20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20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8" name="Google Shape;318;p20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9" name="Google Shape;319;p20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ModuleOutlineGenerator </a:t>
              </a: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320" name="Google Shape;320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00" y="1896284"/>
            <a:ext cx="5334001" cy="2482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21" name="Google Shape;321;p20"/>
          <p:cNvPicPr preferRelativeResize="0"/>
          <p:nvPr/>
        </p:nvPicPr>
        <p:blipFill rotWithShape="1">
          <a:blip r:embed="rId4">
            <a:alphaModFix/>
          </a:blip>
          <a:srcRect t="21979"/>
          <a:stretch/>
        </p:blipFill>
        <p:spPr>
          <a:xfrm>
            <a:off x="6286500" y="5350700"/>
            <a:ext cx="5334001" cy="936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21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Agent 2: The Module Outline </a:t>
            </a:r>
            <a:endParaRPr/>
          </a:p>
        </p:txBody>
      </p:sp>
      <p:sp>
        <p:nvSpPr>
          <p:cNvPr id="327" name="Google Shape;327;p21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28" name="Google Shape;328;p21"/>
          <p:cNvGrpSpPr/>
          <p:nvPr/>
        </p:nvGrpSpPr>
        <p:grpSpPr>
          <a:xfrm>
            <a:off x="6379550" y="3246472"/>
            <a:ext cx="5334000" cy="3214325"/>
            <a:chOff x="6286500" y="1352550"/>
            <a:chExt cx="5334000" cy="4819800"/>
          </a:xfrm>
        </p:grpSpPr>
        <p:sp>
          <p:nvSpPr>
            <p:cNvPr id="329" name="Google Shape;329;p21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0" name="Google Shape;330;p21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1" name="Google Shape;331;p21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2" name="Google Shape;332;p21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3" name="Google Shape;333;p21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34" name="Google Shape;334;p21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ModuleOutlineGenerator </a:t>
              </a: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35" name="Google Shape;335;p21"/>
          <p:cNvGrpSpPr/>
          <p:nvPr/>
        </p:nvGrpSpPr>
        <p:grpSpPr>
          <a:xfrm>
            <a:off x="571500" y="1352550"/>
            <a:ext cx="5429400" cy="4819650"/>
            <a:chOff x="571500" y="1352550"/>
            <a:chExt cx="5429400" cy="4819650"/>
          </a:xfrm>
        </p:grpSpPr>
        <p:grpSp>
          <p:nvGrpSpPr>
            <p:cNvPr id="336" name="Google Shape;336;p21"/>
            <p:cNvGrpSpPr/>
            <p:nvPr/>
          </p:nvGrpSpPr>
          <p:grpSpPr>
            <a:xfrm>
              <a:off x="571500" y="1352550"/>
              <a:ext cx="2381400" cy="304800"/>
              <a:chOff x="0" y="0"/>
              <a:chExt cx="2381400" cy="304800"/>
            </a:xfrm>
          </p:grpSpPr>
          <p:sp>
            <p:nvSpPr>
              <p:cNvPr id="337" name="Google Shape;337;p21"/>
              <p:cNvSpPr/>
              <p:nvPr/>
            </p:nvSpPr>
            <p:spPr>
              <a:xfrm>
                <a:off x="0" y="0"/>
                <a:ext cx="2381400" cy="304800"/>
              </a:xfrm>
              <a:prstGeom prst="roundRect">
                <a:avLst>
                  <a:gd name="adj" fmla="val 50000"/>
                </a:avLst>
              </a:prstGeom>
              <a:solidFill>
                <a:srgbClr val="F59E0B">
                  <a:alpha val="12000"/>
                </a:srgbClr>
              </a:solidFill>
              <a:ln w="9525" cap="flat" cmpd="sng">
                <a:solidFill>
                  <a:srgbClr val="F59E0B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38" name="Google Shape;338;p21"/>
              <p:cNvSpPr txBox="1"/>
              <p:nvPr/>
            </p:nvSpPr>
            <p:spPr>
              <a:xfrm>
                <a:off x="0" y="0"/>
                <a:ext cx="2381400" cy="304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000" b="1">
                    <a:solidFill>
                      <a:srgbClr val="F59E0B"/>
                    </a:solidFill>
                    <a:latin typeface="Inter"/>
                    <a:ea typeface="Inter"/>
                    <a:cs typeface="Inter"/>
                    <a:sym typeface="Inter"/>
                  </a:rPr>
                  <a:t>DETERMINISTIC GUARDRAILS</a:t>
                </a:r>
                <a:endParaRPr sz="1000" b="1">
                  <a:solidFill>
                    <a:srgbClr val="F59E0B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39" name="Google Shape;339;p21"/>
            <p:cNvGrpSpPr/>
            <p:nvPr/>
          </p:nvGrpSpPr>
          <p:grpSpPr>
            <a:xfrm>
              <a:off x="571500" y="1828800"/>
              <a:ext cx="5429400" cy="1285800"/>
              <a:chOff x="0" y="0"/>
              <a:chExt cx="5429400" cy="1285800"/>
            </a:xfrm>
          </p:grpSpPr>
          <p:sp>
            <p:nvSpPr>
              <p:cNvPr id="340" name="Google Shape;340;p21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name="adj" fmla="val 7407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1" name="Google Shape;341;p21"/>
              <p:cNvSpPr/>
              <p:nvPr/>
            </p:nvSpPr>
            <p:spPr>
              <a:xfrm>
                <a:off x="0" y="0"/>
                <a:ext cx="38100" cy="12858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21"/>
              <p:cNvSpPr txBox="1"/>
              <p:nvPr/>
            </p:nvSpPr>
            <p:spPr>
              <a:xfrm>
                <a:off x="228600" y="152400"/>
                <a:ext cx="5010300" cy="9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1. State Consumption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The agent knows nothing about the graph. It simply takes the CompetencyGapReport generated by Agent 1 and transforms it. </a:t>
                </a:r>
                <a:endParaRPr sz="1425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43" name="Google Shape;343;p21"/>
            <p:cNvGrpSpPr/>
            <p:nvPr/>
          </p:nvGrpSpPr>
          <p:grpSpPr>
            <a:xfrm>
              <a:off x="571500" y="3286125"/>
              <a:ext cx="5429400" cy="1381200"/>
              <a:chOff x="0" y="0"/>
              <a:chExt cx="5429400" cy="1381200"/>
            </a:xfrm>
          </p:grpSpPr>
          <p:sp>
            <p:nvSpPr>
              <p:cNvPr id="344" name="Google Shape;344;p21"/>
              <p:cNvSpPr/>
              <p:nvPr/>
            </p:nvSpPr>
            <p:spPr>
              <a:xfrm>
                <a:off x="0" y="0"/>
                <a:ext cx="5429400" cy="1381200"/>
              </a:xfrm>
              <a:prstGeom prst="roundRect">
                <a:avLst>
                  <a:gd name="adj" fmla="val 6896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5" name="Google Shape;345;p21"/>
              <p:cNvSpPr/>
              <p:nvPr/>
            </p:nvSpPr>
            <p:spPr>
              <a:xfrm>
                <a:off x="0" y="0"/>
                <a:ext cx="38100" cy="13812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21"/>
              <p:cNvSpPr txBox="1"/>
              <p:nvPr/>
            </p:nvSpPr>
            <p:spPr>
              <a:xfrm>
                <a:off x="228600" y="152400"/>
                <a:ext cx="5010300" cy="10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2.Safe String Replacement 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We use .replace() instead of .format() to prevent Python from crashing when injecting raw JSON arrays into the prompt template.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47" name="Google Shape;347;p21"/>
            <p:cNvGrpSpPr/>
            <p:nvPr/>
          </p:nvGrpSpPr>
          <p:grpSpPr>
            <a:xfrm>
              <a:off x="571500" y="4838700"/>
              <a:ext cx="5429400" cy="1333500"/>
              <a:chOff x="0" y="0"/>
              <a:chExt cx="5429400" cy="1333500"/>
            </a:xfrm>
          </p:grpSpPr>
          <p:sp>
            <p:nvSpPr>
              <p:cNvPr id="348" name="Google Shape;348;p21"/>
              <p:cNvSpPr/>
              <p:nvPr/>
            </p:nvSpPr>
            <p:spPr>
              <a:xfrm>
                <a:off x="0" y="0"/>
                <a:ext cx="5429400" cy="1333500"/>
              </a:xfrm>
              <a:prstGeom prst="roundRect">
                <a:avLst>
                  <a:gd name="adj" fmla="val 7142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49" name="Google Shape;349;p21"/>
              <p:cNvSpPr/>
              <p:nvPr/>
            </p:nvSpPr>
            <p:spPr>
              <a:xfrm>
                <a:off x="0" y="0"/>
                <a:ext cx="3810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0" name="Google Shape;350;p21"/>
              <p:cNvSpPr txBox="1"/>
              <p:nvPr/>
            </p:nvSpPr>
            <p:spPr>
              <a:xfrm>
                <a:off x="228600" y="152400"/>
                <a:ext cx="5010300" cy="10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3. Graceful Degradation 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If the LLM hallucinates markdown blocks or malformed JSON, we strip the syntax. If parsing still fails, we catch the JSONDecodeError and use a deterministic fallback mapping instead of crashing the workflow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grpSp>
        <p:nvGrpSpPr>
          <p:cNvPr id="351" name="Google Shape;351;p21"/>
          <p:cNvGrpSpPr/>
          <p:nvPr/>
        </p:nvGrpSpPr>
        <p:grpSpPr>
          <a:xfrm>
            <a:off x="6278550" y="1392499"/>
            <a:ext cx="5334000" cy="1743804"/>
            <a:chOff x="6286500" y="1352550"/>
            <a:chExt cx="5334000" cy="4819800"/>
          </a:xfrm>
        </p:grpSpPr>
        <p:sp>
          <p:nvSpPr>
            <p:cNvPr id="352" name="Google Shape;352;p21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21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4" name="Google Shape;354;p21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5" name="Google Shape;355;p21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6" name="Google Shape;356;p21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7" name="Google Shape;357;p21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ModuleOutlineGenerator </a:t>
              </a: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358" name="Google Shape;358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78550" y="1656900"/>
            <a:ext cx="5333999" cy="11144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9" name="Google Shape;359;p2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71623" y="3589014"/>
            <a:ext cx="5334000" cy="1517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0" name="Google Shape;360;p21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71600" y="5106276"/>
            <a:ext cx="5334000" cy="1239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3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Google Shape;365;p22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Agent 3: The Assessment Generator </a:t>
            </a:r>
            <a:endParaRPr/>
          </a:p>
        </p:txBody>
      </p:sp>
      <p:sp>
        <p:nvSpPr>
          <p:cNvPr id="366" name="Google Shape;366;p22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67" name="Google Shape;367;p22"/>
          <p:cNvGrpSpPr/>
          <p:nvPr/>
        </p:nvGrpSpPr>
        <p:grpSpPr>
          <a:xfrm>
            <a:off x="6379550" y="3246472"/>
            <a:ext cx="5334000" cy="3214325"/>
            <a:chOff x="6286500" y="1352550"/>
            <a:chExt cx="5334000" cy="4819800"/>
          </a:xfrm>
        </p:grpSpPr>
        <p:sp>
          <p:nvSpPr>
            <p:cNvPr id="368" name="Google Shape;368;p22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69" name="Google Shape;369;p22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0" name="Google Shape;370;p22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1" name="Google Shape;371;p22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2" name="Google Shape;372;p22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3" name="Google Shape;373;p22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9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AssessmentGenerator</a:t>
              </a:r>
              <a:endParaRPr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374" name="Google Shape;374;p22"/>
          <p:cNvGrpSpPr/>
          <p:nvPr/>
        </p:nvGrpSpPr>
        <p:grpSpPr>
          <a:xfrm>
            <a:off x="6278550" y="1392499"/>
            <a:ext cx="5334000" cy="1743804"/>
            <a:chOff x="6286500" y="1352550"/>
            <a:chExt cx="5334000" cy="4819800"/>
          </a:xfrm>
        </p:grpSpPr>
        <p:sp>
          <p:nvSpPr>
            <p:cNvPr id="375" name="Google Shape;375;p22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6" name="Google Shape;376;p22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7" name="Google Shape;377;p22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8" name="Google Shape;378;p22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79" name="Google Shape;379;p22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80" name="Google Shape;380;p22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950">
                  <a:solidFill>
                    <a:srgbClr val="64748B"/>
                  </a:solidFill>
                  <a:latin typeface="Inter"/>
                  <a:ea typeface="Inter"/>
                  <a:cs typeface="Inter"/>
                  <a:sym typeface="Inter"/>
                </a:rPr>
                <a:t>AssessmentGenerator</a:t>
              </a:r>
              <a:endParaRPr sz="1050">
                <a:solidFill>
                  <a:srgbClr val="4EC9B0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pic>
        <p:nvPicPr>
          <p:cNvPr id="381" name="Google Shape;381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95722" y="1703075"/>
            <a:ext cx="5334000" cy="12958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82" name="Google Shape;382;p22"/>
          <p:cNvPicPr preferRelativeResize="0"/>
          <p:nvPr/>
        </p:nvPicPr>
        <p:blipFill rotWithShape="1">
          <a:blip r:embed="rId4">
            <a:alphaModFix/>
          </a:blip>
          <a:srcRect l="14926" t="3358" r="4997" b="8028"/>
          <a:stretch/>
        </p:blipFill>
        <p:spPr>
          <a:xfrm>
            <a:off x="6379550" y="3668800"/>
            <a:ext cx="5333999" cy="2758576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83" name="Google Shape;383;p22"/>
          <p:cNvGrpSpPr/>
          <p:nvPr/>
        </p:nvGrpSpPr>
        <p:grpSpPr>
          <a:xfrm>
            <a:off x="571500" y="1352550"/>
            <a:ext cx="5429400" cy="4819650"/>
            <a:chOff x="571500" y="1352550"/>
            <a:chExt cx="5429400" cy="4819650"/>
          </a:xfrm>
        </p:grpSpPr>
        <p:grpSp>
          <p:nvGrpSpPr>
            <p:cNvPr id="384" name="Google Shape;384;p22"/>
            <p:cNvGrpSpPr/>
            <p:nvPr/>
          </p:nvGrpSpPr>
          <p:grpSpPr>
            <a:xfrm>
              <a:off x="571500" y="1828800"/>
              <a:ext cx="5429400" cy="1285800"/>
              <a:chOff x="0" y="0"/>
              <a:chExt cx="5429400" cy="1285800"/>
            </a:xfrm>
          </p:grpSpPr>
          <p:sp>
            <p:nvSpPr>
              <p:cNvPr id="385" name="Google Shape;385;p22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name="adj" fmla="val 7407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6" name="Google Shape;386;p22"/>
              <p:cNvSpPr/>
              <p:nvPr/>
            </p:nvSpPr>
            <p:spPr>
              <a:xfrm>
                <a:off x="0" y="0"/>
                <a:ext cx="38100" cy="12858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87" name="Google Shape;387;p22"/>
              <p:cNvSpPr txBox="1"/>
              <p:nvPr/>
            </p:nvSpPr>
            <p:spPr>
              <a:xfrm>
                <a:off x="228600" y="152400"/>
                <a:ext cx="5010300" cy="9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1. Strict RAG Grounding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The agent retrieves context from the corpus first. If no source material is found for a gap, it completely skips it. It refuses to let the LLM hallucinate</a:t>
                </a:r>
                <a:r>
                  <a:rPr lang="en-US">
                    <a:solidFill>
                      <a:srgbClr val="64748B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questions</a:t>
                </a:r>
                <a:r>
                  <a:rPr lang="en-US">
                    <a:solidFill>
                      <a:schemeClr val="dk1"/>
                    </a:solidFill>
                  </a:rPr>
                  <a:t>. </a:t>
                </a:r>
                <a:endParaRPr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88" name="Google Shape;388;p22"/>
            <p:cNvGrpSpPr/>
            <p:nvPr/>
          </p:nvGrpSpPr>
          <p:grpSpPr>
            <a:xfrm>
              <a:off x="571500" y="3286125"/>
              <a:ext cx="5429400" cy="1381200"/>
              <a:chOff x="0" y="0"/>
              <a:chExt cx="5429400" cy="1381200"/>
            </a:xfrm>
          </p:grpSpPr>
          <p:sp>
            <p:nvSpPr>
              <p:cNvPr id="389" name="Google Shape;389;p22"/>
              <p:cNvSpPr/>
              <p:nvPr/>
            </p:nvSpPr>
            <p:spPr>
              <a:xfrm>
                <a:off x="0" y="0"/>
                <a:ext cx="5429400" cy="1381200"/>
              </a:xfrm>
              <a:prstGeom prst="roundRect">
                <a:avLst>
                  <a:gd name="adj" fmla="val 6896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0" name="Google Shape;390;p22"/>
              <p:cNvSpPr/>
              <p:nvPr/>
            </p:nvSpPr>
            <p:spPr>
              <a:xfrm>
                <a:off x="0" y="0"/>
                <a:ext cx="38100" cy="13812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1" name="Google Shape;391;p22"/>
              <p:cNvSpPr txBox="1"/>
              <p:nvPr/>
            </p:nvSpPr>
            <p:spPr>
              <a:xfrm>
                <a:off x="228600" y="152400"/>
                <a:ext cx="5010300" cy="10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2. Batch Isolation</a:t>
                </a:r>
                <a:r>
                  <a:rPr lang="en-US" sz="1100" b="1">
                    <a:solidFill>
                      <a:schemeClr val="dk1"/>
                    </a:solidFill>
                  </a:rPr>
                  <a:t>:</a:t>
                </a:r>
                <a:r>
                  <a:rPr lang="en-US" sz="1100">
                    <a:solidFill>
                      <a:schemeClr val="dk1"/>
                    </a:solidFill>
                  </a:rPr>
                  <a:t> 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We make one LLM call per subject and isolate them in try/except loops. A single malformed response will drop one question, rather than crashing the entire assessment array.</a:t>
                </a:r>
                <a:r>
                  <a:rPr lang="en-US" sz="1100">
                    <a:solidFill>
                      <a:schemeClr val="dk1"/>
                    </a:solidFill>
                  </a:rPr>
                  <a:t> </a:t>
                </a: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392" name="Google Shape;392;p22"/>
            <p:cNvGrpSpPr/>
            <p:nvPr/>
          </p:nvGrpSpPr>
          <p:grpSpPr>
            <a:xfrm>
              <a:off x="571500" y="4838700"/>
              <a:ext cx="5429400" cy="1333500"/>
              <a:chOff x="0" y="0"/>
              <a:chExt cx="5429400" cy="1333500"/>
            </a:xfrm>
          </p:grpSpPr>
          <p:sp>
            <p:nvSpPr>
              <p:cNvPr id="393" name="Google Shape;393;p22"/>
              <p:cNvSpPr/>
              <p:nvPr/>
            </p:nvSpPr>
            <p:spPr>
              <a:xfrm>
                <a:off x="0" y="0"/>
                <a:ext cx="5429400" cy="1333500"/>
              </a:xfrm>
              <a:prstGeom prst="roundRect">
                <a:avLst>
                  <a:gd name="adj" fmla="val 7142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4" name="Google Shape;394;p22"/>
              <p:cNvSpPr/>
              <p:nvPr/>
            </p:nvSpPr>
            <p:spPr>
              <a:xfrm>
                <a:off x="0" y="0"/>
                <a:ext cx="3810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95" name="Google Shape;395;p22"/>
              <p:cNvSpPr txBox="1"/>
              <p:nvPr/>
            </p:nvSpPr>
            <p:spPr>
              <a:xfrm>
                <a:off x="228600" y="152400"/>
                <a:ext cx="5010300" cy="10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3. Semantic Validation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Every generated question passes through a deterministic validator (checking option counts, letter mappings) before being appended to the state.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396" name="Google Shape;396;p22"/>
            <p:cNvSpPr/>
            <p:nvPr/>
          </p:nvSpPr>
          <p:spPr>
            <a:xfrm>
              <a:off x="571500" y="1352550"/>
              <a:ext cx="2381400" cy="304800"/>
            </a:xfrm>
            <a:prstGeom prst="roundRect">
              <a:avLst>
                <a:gd name="adj" fmla="val 50000"/>
              </a:avLst>
            </a:prstGeom>
            <a:solidFill>
              <a:srgbClr val="F59E0B">
                <a:alpha val="12000"/>
              </a:srgbClr>
            </a:solidFill>
            <a:ln w="9525" cap="flat" cmpd="sng">
              <a:solidFill>
                <a:srgbClr val="F59E0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97" name="Google Shape;397;p22"/>
          <p:cNvSpPr txBox="1"/>
          <p:nvPr/>
        </p:nvSpPr>
        <p:spPr>
          <a:xfrm>
            <a:off x="263000" y="1329150"/>
            <a:ext cx="3000000" cy="33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 b="1">
                <a:solidFill>
                  <a:srgbClr val="F59E0B"/>
                </a:solidFill>
                <a:latin typeface="Inter"/>
                <a:ea typeface="Inter"/>
                <a:cs typeface="Inter"/>
                <a:sym typeface="Inter"/>
              </a:rPr>
              <a:t>DETERMINISTIC GUARDRAILS</a:t>
            </a:r>
            <a:endParaRPr sz="1000" b="1">
              <a:solidFill>
                <a:srgbClr val="F59E0B"/>
              </a:solidFill>
              <a:latin typeface="Inter"/>
              <a:ea typeface="Inter"/>
              <a:cs typeface="Inter"/>
              <a:sym typeface="Inter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23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The Orchestrator (State &amp; Reducers) </a:t>
            </a:r>
            <a:endParaRPr/>
          </a:p>
        </p:txBody>
      </p:sp>
      <p:sp>
        <p:nvSpPr>
          <p:cNvPr id="403" name="Google Shape;403;p23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04" name="Google Shape;404;p23"/>
          <p:cNvGrpSpPr/>
          <p:nvPr/>
        </p:nvGrpSpPr>
        <p:grpSpPr>
          <a:xfrm>
            <a:off x="6286500" y="2019202"/>
            <a:ext cx="5334000" cy="3659192"/>
            <a:chOff x="6286500" y="1352550"/>
            <a:chExt cx="5334000" cy="4819800"/>
          </a:xfrm>
        </p:grpSpPr>
        <p:sp>
          <p:nvSpPr>
            <p:cNvPr id="405" name="Google Shape;405;p23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6" name="Google Shape;406;p23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7" name="Google Shape;407;p23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8" name="Google Shape;408;p23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09" name="Google Shape;409;p23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10" name="Google Shape;410;p23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Clr>
                  <a:schemeClr val="dk1"/>
                </a:buClr>
                <a:buSzPts val="1100"/>
                <a:buFont typeface="Arial"/>
                <a:buNone/>
              </a:pPr>
              <a:r>
                <a:rPr lang="en-US" sz="1050">
                  <a:solidFill>
                    <a:srgbClr val="DCDCAA"/>
                  </a:solidFill>
                  <a:highlight>
                    <a:srgbClr val="1F1F1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copilot_graph.py</a:t>
              </a:r>
              <a:endParaRPr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marR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11" name="Google Shape;411;p23"/>
          <p:cNvGrpSpPr/>
          <p:nvPr/>
        </p:nvGrpSpPr>
        <p:grpSpPr>
          <a:xfrm>
            <a:off x="571500" y="1352550"/>
            <a:ext cx="5429400" cy="4819650"/>
            <a:chOff x="571500" y="1352550"/>
            <a:chExt cx="5429400" cy="4819650"/>
          </a:xfrm>
        </p:grpSpPr>
        <p:grpSp>
          <p:nvGrpSpPr>
            <p:cNvPr id="412" name="Google Shape;412;p23"/>
            <p:cNvGrpSpPr/>
            <p:nvPr/>
          </p:nvGrpSpPr>
          <p:grpSpPr>
            <a:xfrm>
              <a:off x="571500" y="1828800"/>
              <a:ext cx="5429400" cy="1285800"/>
              <a:chOff x="0" y="0"/>
              <a:chExt cx="5429400" cy="1285800"/>
            </a:xfrm>
          </p:grpSpPr>
          <p:sp>
            <p:nvSpPr>
              <p:cNvPr id="413" name="Google Shape;413;p23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name="adj" fmla="val 7407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4" name="Google Shape;414;p23"/>
              <p:cNvSpPr/>
              <p:nvPr/>
            </p:nvSpPr>
            <p:spPr>
              <a:xfrm>
                <a:off x="0" y="0"/>
                <a:ext cx="38100" cy="12858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5" name="Google Shape;415;p23"/>
              <p:cNvSpPr txBox="1"/>
              <p:nvPr/>
            </p:nvSpPr>
            <p:spPr>
              <a:xfrm>
                <a:off x="228600" y="152400"/>
                <a:ext cx="5010300" cy="9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1. TypedDict State 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The graph passes a strongly-typed CopilotState dictionary between nodes. Each agent only reads what it needs and returns partial updates. </a:t>
                </a:r>
                <a:endParaRPr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16" name="Google Shape;416;p23"/>
            <p:cNvGrpSpPr/>
            <p:nvPr/>
          </p:nvGrpSpPr>
          <p:grpSpPr>
            <a:xfrm>
              <a:off x="571500" y="3286125"/>
              <a:ext cx="5429400" cy="1381200"/>
              <a:chOff x="0" y="0"/>
              <a:chExt cx="5429400" cy="1381200"/>
            </a:xfrm>
          </p:grpSpPr>
          <p:sp>
            <p:nvSpPr>
              <p:cNvPr id="417" name="Google Shape;417;p23"/>
              <p:cNvSpPr/>
              <p:nvPr/>
            </p:nvSpPr>
            <p:spPr>
              <a:xfrm>
                <a:off x="0" y="0"/>
                <a:ext cx="5429400" cy="1381200"/>
              </a:xfrm>
              <a:prstGeom prst="roundRect">
                <a:avLst>
                  <a:gd name="adj" fmla="val 6896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8" name="Google Shape;418;p23"/>
              <p:cNvSpPr/>
              <p:nvPr/>
            </p:nvSpPr>
            <p:spPr>
              <a:xfrm>
                <a:off x="0" y="0"/>
                <a:ext cx="38100" cy="13812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19" name="Google Shape;419;p23"/>
              <p:cNvSpPr txBox="1"/>
              <p:nvPr/>
            </p:nvSpPr>
            <p:spPr>
              <a:xfrm>
                <a:off x="228600" y="152400"/>
                <a:ext cx="5010300" cy="10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2. The Overwrite Bug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Originally, audit_trail was a standard list. When multiple nodes returned audit logs, LangGraph silently overwrite the previous node's data instead of keeping a running history.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20" name="Google Shape;420;p23"/>
            <p:cNvGrpSpPr/>
            <p:nvPr/>
          </p:nvGrpSpPr>
          <p:grpSpPr>
            <a:xfrm>
              <a:off x="571500" y="4838700"/>
              <a:ext cx="5429400" cy="1333500"/>
              <a:chOff x="0" y="0"/>
              <a:chExt cx="5429400" cy="1333500"/>
            </a:xfrm>
          </p:grpSpPr>
          <p:sp>
            <p:nvSpPr>
              <p:cNvPr id="421" name="Google Shape;421;p23"/>
              <p:cNvSpPr/>
              <p:nvPr/>
            </p:nvSpPr>
            <p:spPr>
              <a:xfrm>
                <a:off x="0" y="0"/>
                <a:ext cx="5429400" cy="1333500"/>
              </a:xfrm>
              <a:prstGeom prst="roundRect">
                <a:avLst>
                  <a:gd name="adj" fmla="val 7142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2" name="Google Shape;422;p23"/>
              <p:cNvSpPr/>
              <p:nvPr/>
            </p:nvSpPr>
            <p:spPr>
              <a:xfrm>
                <a:off x="0" y="0"/>
                <a:ext cx="3810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23" name="Google Shape;423;p23"/>
              <p:cNvSpPr txBox="1"/>
              <p:nvPr/>
            </p:nvSpPr>
            <p:spPr>
              <a:xfrm>
                <a:off x="228600" y="152400"/>
                <a:ext cx="5010300" cy="10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3. Annotated Reducers 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We fixed this using Annotated[list, operator.add]. This tells LangGraph's internal state manager to reduce (merge) updates by appending them, creating a continuous historical log.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sp>
          <p:nvSpPr>
            <p:cNvPr id="424" name="Google Shape;424;p23"/>
            <p:cNvSpPr/>
            <p:nvPr/>
          </p:nvSpPr>
          <p:spPr>
            <a:xfrm>
              <a:off x="571500" y="1352550"/>
              <a:ext cx="2400300" cy="304800"/>
            </a:xfrm>
            <a:prstGeom prst="roundRect">
              <a:avLst>
                <a:gd name="adj" fmla="val 50000"/>
              </a:avLst>
            </a:prstGeom>
            <a:solidFill>
              <a:srgbClr val="F59E0B">
                <a:alpha val="12000"/>
              </a:srgbClr>
            </a:solidFill>
            <a:ln w="9525" cap="flat" cmpd="sng">
              <a:solidFill>
                <a:srgbClr val="F59E0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25" name="Google Shape;425;p23"/>
          <p:cNvSpPr txBox="1"/>
          <p:nvPr/>
        </p:nvSpPr>
        <p:spPr>
          <a:xfrm>
            <a:off x="443452" y="1329150"/>
            <a:ext cx="26748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>
                <a:solidFill>
                  <a:srgbClr val="FF9900"/>
                </a:solidFill>
              </a:rPr>
              <a:t>STATE ARCHITECTURE </a:t>
            </a:r>
            <a:endParaRPr sz="1000" b="1">
              <a:solidFill>
                <a:srgbClr val="FF99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426" name="Google Shape;426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00" y="2543150"/>
            <a:ext cx="5334001" cy="2897125"/>
          </a:xfrm>
          <a:prstGeom prst="rect">
            <a:avLst/>
          </a:prstGeom>
          <a:solidFill>
            <a:srgbClr val="1E293B"/>
          </a:solidFill>
          <a:ln w="14300" cap="flat" cmpd="sng">
            <a:solidFill>
              <a:srgbClr val="334155"/>
            </a:solidFill>
            <a:prstDash val="solid"/>
            <a:round/>
            <a:headEnd type="none" w="sm" len="sm"/>
            <a:tailEnd type="none" w="sm" len="sm"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1" name="Google Shape;431;p2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-73269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2" name="Google Shape;432;p2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39473"/>
            <a:ext cx="11049000" cy="1530988"/>
          </a:xfrm>
          <a:prstGeom prst="rect">
            <a:avLst/>
          </a:prstGeom>
          <a:noFill/>
          <a:ln>
            <a:noFill/>
          </a:ln>
        </p:spPr>
      </p:pic>
      <p:pic>
        <p:nvPicPr>
          <p:cNvPr id="433" name="Google Shape;433;p2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151161" y="2354975"/>
            <a:ext cx="2013315" cy="666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4" name="Google Shape;434;p2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4361333" y="2239498"/>
            <a:ext cx="2767325" cy="954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435" name="Google Shape;435;p2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352227" y="2228272"/>
            <a:ext cx="2671900" cy="954250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24"/>
          <p:cNvSpPr txBox="1"/>
          <p:nvPr/>
        </p:nvSpPr>
        <p:spPr>
          <a:xfrm>
            <a:off x="571500" y="1328998"/>
            <a:ext cx="11049000" cy="25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Every agent call is wrapped, not called directly.</a:t>
            </a:r>
            <a:endParaRPr sz="1600"/>
          </a:p>
        </p:txBody>
      </p:sp>
      <p:sp>
        <p:nvSpPr>
          <p:cNvPr id="437" name="Google Shape;437;p24"/>
          <p:cNvSpPr txBox="1"/>
          <p:nvPr/>
        </p:nvSpPr>
        <p:spPr>
          <a:xfrm>
            <a:off x="4647608" y="2757520"/>
            <a:ext cx="2194800" cy="18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1" b="0" i="0" u="none" strike="noStrike" cap="none">
                <a:solidFill>
                  <a:srgbClr val="FCD34D"/>
                </a:solidFill>
                <a:latin typeface="Fira Code SemiBold"/>
                <a:ea typeface="Fira Code SemiBold"/>
                <a:cs typeface="Fira Code SemiBold"/>
                <a:sym typeface="Fira Code SemiBold"/>
              </a:rPr>
              <a:t>ThreadPoolExecutor, 60s</a:t>
            </a:r>
            <a:endParaRPr sz="2004"/>
          </a:p>
        </p:txBody>
      </p:sp>
      <p:sp>
        <p:nvSpPr>
          <p:cNvPr id="438" name="Google Shape;438;p24"/>
          <p:cNvSpPr txBox="1"/>
          <p:nvPr/>
        </p:nvSpPr>
        <p:spPr>
          <a:xfrm>
            <a:off x="8638502" y="2746293"/>
            <a:ext cx="2099700" cy="18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81" b="0" i="0" u="none" strike="noStrike" cap="none">
                <a:solidFill>
                  <a:srgbClr val="6EE7B7"/>
                </a:solidFill>
                <a:latin typeface="Fira Code SemiBold"/>
                <a:ea typeface="Fira Code SemiBold"/>
                <a:cs typeface="Fira Code SemiBold"/>
                <a:sym typeface="Fira Code SemiBold"/>
              </a:rPr>
              <a:t>max 2 retries, backoff</a:t>
            </a:r>
            <a:endParaRPr sz="2004"/>
          </a:p>
        </p:txBody>
      </p:sp>
      <p:sp>
        <p:nvSpPr>
          <p:cNvPr id="439" name="Google Shape;439;p24"/>
          <p:cNvSpPr txBox="1"/>
          <p:nvPr/>
        </p:nvSpPr>
        <p:spPr>
          <a:xfrm>
            <a:off x="857250" y="3956744"/>
            <a:ext cx="107634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On timeout → ; on node exception → up to 2 retries with exponential backoff.</a:t>
            </a:r>
            <a:endParaRPr/>
          </a:p>
        </p:txBody>
      </p:sp>
      <p:sp>
        <p:nvSpPr>
          <p:cNvPr id="440" name="Google Shape;440;p24"/>
          <p:cNvSpPr txBox="1"/>
          <p:nvPr/>
        </p:nvSpPr>
        <p:spPr>
          <a:xfrm>
            <a:off x="857250" y="4531966"/>
            <a:ext cx="10763400" cy="4386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Explicit Cancellation:</a:t>
            </a:r>
            <a:r>
              <a:rPr lang="en-US" sz="1425" b="0" i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Unlike timeouts, if a </a:t>
            </a:r>
            <a:r>
              <a:rPr lang="en-US" sz="1425" b="0" i="0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rPr>
              <a:t>ClientCancelledError</a:t>
            </a:r>
            <a:r>
              <a:rPr lang="en-US" sz="1425" b="0" i="0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is caught, the system immediately halts. It respects the user's cancellation and never retries.</a:t>
            </a:r>
            <a:endParaRPr sz="1425" b="0" i="0">
              <a:solidFill>
                <a:srgbClr val="CBD5E1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1" name="Google Shape;441;p24"/>
          <p:cNvSpPr txBox="1"/>
          <p:nvPr/>
        </p:nvSpPr>
        <p:spPr>
          <a:xfrm>
            <a:off x="857250" y="5107185"/>
            <a:ext cx="10763400" cy="56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If every retry fails, the node degrades gracefully: it falls back to plain retrieved evidence rather than crashing the whole graph, and records .</a:t>
            </a:r>
            <a:endParaRPr/>
          </a:p>
        </p:txBody>
      </p:sp>
      <p:sp>
        <p:nvSpPr>
          <p:cNvPr id="442" name="Google Shape;442;p24"/>
          <p:cNvSpPr txBox="1"/>
          <p:nvPr/>
        </p:nvSpPr>
        <p:spPr>
          <a:xfrm>
            <a:off x="571500" y="3956744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id="443" name="Google Shape;443;p2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2043100" y="3922632"/>
            <a:ext cx="173355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p24"/>
          <p:cNvSpPr txBox="1"/>
          <p:nvPr/>
        </p:nvSpPr>
        <p:spPr>
          <a:xfrm>
            <a:off x="571500" y="4531965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445" name="Google Shape;445;p24"/>
          <p:cNvSpPr txBox="1"/>
          <p:nvPr/>
        </p:nvSpPr>
        <p:spPr>
          <a:xfrm>
            <a:off x="571500" y="5107185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id="446" name="Google Shape;446;p2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2090725" y="5453401"/>
            <a:ext cx="163830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447" name="Google Shape;447;p24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Resilience Wrapper</a:t>
            </a:r>
            <a:endParaRPr/>
          </a:p>
        </p:txBody>
      </p:sp>
      <p:sp>
        <p:nvSpPr>
          <p:cNvPr id="448" name="Google Shape;448;p24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49" name="Google Shape;449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3361957" y="2440846"/>
            <a:ext cx="728639" cy="448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50" name="Google Shape;450;p2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427891" y="2464296"/>
            <a:ext cx="728639" cy="4481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5" name="Google Shape;455;p25"/>
          <p:cNvSpPr txBox="1"/>
          <p:nvPr/>
        </p:nvSpPr>
        <p:spPr>
          <a:xfrm>
            <a:off x="571500" y="571500"/>
            <a:ext cx="116016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The Approval Gate</a:t>
            </a:r>
            <a:endParaRPr>
              <a:solidFill>
                <a:schemeClr val="dk1"/>
              </a:solidFill>
            </a:endParaRPr>
          </a:p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6" name="Google Shape;456;p25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457" name="Google Shape;457;p25"/>
          <p:cNvGrpSpPr/>
          <p:nvPr/>
        </p:nvGrpSpPr>
        <p:grpSpPr>
          <a:xfrm>
            <a:off x="6286500" y="2019202"/>
            <a:ext cx="5334000" cy="3659192"/>
            <a:chOff x="6286500" y="1352550"/>
            <a:chExt cx="5334000" cy="4819800"/>
          </a:xfrm>
        </p:grpSpPr>
        <p:sp>
          <p:nvSpPr>
            <p:cNvPr id="458" name="Google Shape;458;p25"/>
            <p:cNvSpPr/>
            <p:nvPr/>
          </p:nvSpPr>
          <p:spPr>
            <a:xfrm>
              <a:off x="6286500" y="1352550"/>
              <a:ext cx="5334000" cy="4819800"/>
            </a:xfrm>
            <a:prstGeom prst="roundRect">
              <a:avLst>
                <a:gd name="adj" fmla="val 2371"/>
              </a:avLst>
            </a:prstGeom>
            <a:solidFill>
              <a:srgbClr val="1E293B"/>
            </a:solidFill>
            <a:ln w="14300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59" name="Google Shape;459;p25"/>
            <p:cNvSpPr/>
            <p:nvPr/>
          </p:nvSpPr>
          <p:spPr>
            <a:xfrm>
              <a:off x="6286500" y="1352550"/>
              <a:ext cx="5334000" cy="3621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7895"/>
                  </a:moveTo>
                  <a:cubicBezTo>
                    <a:pt x="0" y="27845"/>
                    <a:pt x="271" y="18206"/>
                    <a:pt x="753" y="11099"/>
                  </a:cubicBezTo>
                  <a:cubicBezTo>
                    <a:pt x="1235" y="3993"/>
                    <a:pt x="1889" y="0"/>
                    <a:pt x="2571" y="0"/>
                  </a:cubicBezTo>
                  <a:lnTo>
                    <a:pt x="117429" y="0"/>
                  </a:lnTo>
                  <a:cubicBezTo>
                    <a:pt x="118849" y="3"/>
                    <a:pt x="120000" y="16969"/>
                    <a:pt x="120000" y="37895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0" name="Google Shape;460;p25"/>
            <p:cNvSpPr/>
            <p:nvPr/>
          </p:nvSpPr>
          <p:spPr>
            <a:xfrm>
              <a:off x="6467475" y="1485900"/>
              <a:ext cx="95400" cy="954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1" name="Google Shape;461;p25"/>
            <p:cNvSpPr/>
            <p:nvPr/>
          </p:nvSpPr>
          <p:spPr>
            <a:xfrm>
              <a:off x="6619875" y="1485900"/>
              <a:ext cx="95400" cy="954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2" name="Google Shape;462;p25"/>
            <p:cNvSpPr/>
            <p:nvPr/>
          </p:nvSpPr>
          <p:spPr>
            <a:xfrm>
              <a:off x="6772275" y="1485900"/>
              <a:ext cx="95400" cy="954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63" name="Google Shape;463;p25"/>
            <p:cNvSpPr txBox="1"/>
            <p:nvPr/>
          </p:nvSpPr>
          <p:spPr>
            <a:xfrm>
              <a:off x="7000875" y="1428750"/>
              <a:ext cx="1905000" cy="2097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DCDCAA"/>
                  </a:solidFill>
                  <a:highlight>
                    <a:srgbClr val="1F1F1F"/>
                  </a:highlight>
                  <a:latin typeface="Courier New"/>
                  <a:ea typeface="Courier New"/>
                  <a:cs typeface="Courier New"/>
                  <a:sym typeface="Courier New"/>
                </a:rPr>
                <a:t>human_review </a:t>
              </a:r>
              <a:endParaRPr sz="1050">
                <a:solidFill>
                  <a:srgbClr val="DCDCAA"/>
                </a:solidFill>
                <a:highlight>
                  <a:srgbClr val="1F1F1F"/>
                </a:highlight>
                <a:latin typeface="Courier New"/>
                <a:ea typeface="Courier New"/>
                <a:cs typeface="Courier New"/>
                <a:sym typeface="Courier New"/>
              </a:endParaRPr>
            </a:p>
            <a:p>
              <a:pPr marL="0" marR="0" lvl="0" indent="0" algn="l" rtl="0">
                <a:lnSpc>
                  <a:spcPct val="135714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950">
                <a:solidFill>
                  <a:srgbClr val="64748B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464" name="Google Shape;464;p25"/>
          <p:cNvGrpSpPr/>
          <p:nvPr/>
        </p:nvGrpSpPr>
        <p:grpSpPr>
          <a:xfrm>
            <a:off x="571500" y="1828800"/>
            <a:ext cx="5429400" cy="4343400"/>
            <a:chOff x="571500" y="1828800"/>
            <a:chExt cx="5429400" cy="4343400"/>
          </a:xfrm>
        </p:grpSpPr>
        <p:grpSp>
          <p:nvGrpSpPr>
            <p:cNvPr id="465" name="Google Shape;465;p25"/>
            <p:cNvGrpSpPr/>
            <p:nvPr/>
          </p:nvGrpSpPr>
          <p:grpSpPr>
            <a:xfrm>
              <a:off x="571500" y="1828800"/>
              <a:ext cx="5429400" cy="1285800"/>
              <a:chOff x="0" y="0"/>
              <a:chExt cx="5429400" cy="1285800"/>
            </a:xfrm>
          </p:grpSpPr>
          <p:sp>
            <p:nvSpPr>
              <p:cNvPr id="466" name="Google Shape;466;p25"/>
              <p:cNvSpPr/>
              <p:nvPr/>
            </p:nvSpPr>
            <p:spPr>
              <a:xfrm>
                <a:off x="0" y="0"/>
                <a:ext cx="5429400" cy="1285800"/>
              </a:xfrm>
              <a:prstGeom prst="roundRect">
                <a:avLst>
                  <a:gd name="adj" fmla="val 7407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7" name="Google Shape;467;p25"/>
              <p:cNvSpPr/>
              <p:nvPr/>
            </p:nvSpPr>
            <p:spPr>
              <a:xfrm>
                <a:off x="0" y="0"/>
                <a:ext cx="38100" cy="12858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68" name="Google Shape;468;p25"/>
              <p:cNvSpPr txBox="1"/>
              <p:nvPr/>
            </p:nvSpPr>
            <p:spPr>
              <a:xfrm>
                <a:off x="228600" y="152400"/>
                <a:ext cx="5010300" cy="9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Durable Pausing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The graph genuinely halts before the human_review node, writing a durable checkpoint row to Postgres and returning control to the application layer. </a:t>
                </a:r>
                <a:endParaRPr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69" name="Google Shape;469;p25"/>
            <p:cNvGrpSpPr/>
            <p:nvPr/>
          </p:nvGrpSpPr>
          <p:grpSpPr>
            <a:xfrm>
              <a:off x="571500" y="3286125"/>
              <a:ext cx="5429400" cy="1381200"/>
              <a:chOff x="0" y="0"/>
              <a:chExt cx="5429400" cy="1381200"/>
            </a:xfrm>
          </p:grpSpPr>
          <p:sp>
            <p:nvSpPr>
              <p:cNvPr id="470" name="Google Shape;470;p25"/>
              <p:cNvSpPr/>
              <p:nvPr/>
            </p:nvSpPr>
            <p:spPr>
              <a:xfrm>
                <a:off x="0" y="0"/>
                <a:ext cx="5429400" cy="1381200"/>
              </a:xfrm>
              <a:prstGeom prst="roundRect">
                <a:avLst>
                  <a:gd name="adj" fmla="val 6896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1" name="Google Shape;471;p25"/>
              <p:cNvSpPr/>
              <p:nvPr/>
            </p:nvSpPr>
            <p:spPr>
              <a:xfrm>
                <a:off x="0" y="0"/>
                <a:ext cx="38100" cy="13812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2" name="Google Shape;472;p25"/>
              <p:cNvSpPr txBox="1"/>
              <p:nvPr/>
            </p:nvSpPr>
            <p:spPr>
              <a:xfrm>
                <a:off x="228600" y="152400"/>
                <a:ext cx="5010300" cy="1076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State Retrieval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The frontend calls get_state(config) to fetch the paused payload, allowing the instructor to safely inspect the generated outline and assessment.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  <p:grpSp>
          <p:nvGrpSpPr>
            <p:cNvPr id="473" name="Google Shape;473;p25"/>
            <p:cNvGrpSpPr/>
            <p:nvPr/>
          </p:nvGrpSpPr>
          <p:grpSpPr>
            <a:xfrm>
              <a:off x="571500" y="4838700"/>
              <a:ext cx="5429400" cy="1333500"/>
              <a:chOff x="0" y="0"/>
              <a:chExt cx="5429400" cy="1333500"/>
            </a:xfrm>
          </p:grpSpPr>
          <p:sp>
            <p:nvSpPr>
              <p:cNvPr id="474" name="Google Shape;474;p25"/>
              <p:cNvSpPr/>
              <p:nvPr/>
            </p:nvSpPr>
            <p:spPr>
              <a:xfrm>
                <a:off x="0" y="0"/>
                <a:ext cx="5429400" cy="1333500"/>
              </a:xfrm>
              <a:prstGeom prst="roundRect">
                <a:avLst>
                  <a:gd name="adj" fmla="val 7142"/>
                </a:avLst>
              </a:prstGeom>
              <a:solidFill>
                <a:srgbClr val="1E293B"/>
              </a:solidFill>
              <a:ln w="9525" cap="flat" cmpd="sng">
                <a:solidFill>
                  <a:srgbClr val="334155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5" name="Google Shape;475;p25"/>
              <p:cNvSpPr/>
              <p:nvPr/>
            </p:nvSpPr>
            <p:spPr>
              <a:xfrm>
                <a:off x="0" y="0"/>
                <a:ext cx="38100" cy="1333500"/>
              </a:xfrm>
              <a:prstGeom prst="roundRect">
                <a:avLst>
                  <a:gd name="adj" fmla="val 50000"/>
                </a:avLst>
              </a:prstGeom>
              <a:solidFill>
                <a:srgbClr val="38BDF8"/>
              </a:solidFill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76" name="Google Shape;476;p25"/>
              <p:cNvSpPr txBox="1"/>
              <p:nvPr/>
            </p:nvSpPr>
            <p:spPr>
              <a:xfrm>
                <a:off x="228600" y="152400"/>
                <a:ext cx="5010300" cy="102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0" tIns="0" rIns="0" bIns="0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1350" b="1">
                    <a:solidFill>
                      <a:srgbClr val="F8FAFC"/>
                    </a:solidFill>
                    <a:latin typeface="Inter"/>
                    <a:ea typeface="Inter"/>
                    <a:cs typeface="Inter"/>
                    <a:sym typeface="Inter"/>
                  </a:rPr>
                  <a:t>Resuming the Graph </a:t>
                </a:r>
                <a:endParaRPr sz="135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endParaRPr>
              </a:p>
              <a:p>
                <a:pPr marL="0" lvl="0" indent="0" algn="l" rtl="0">
                  <a:spcBef>
                    <a:spcPts val="450"/>
                  </a:spcBef>
                  <a:spcAft>
                    <a:spcPts val="0"/>
                  </a:spcAft>
                  <a:buNone/>
                </a:pPr>
                <a:r>
                  <a:rPr lang="en-US" sz="1425">
                    <a:solidFill>
                      <a:srgbClr val="CBD5E1"/>
                    </a:solidFill>
                    <a:latin typeface="Inter"/>
                    <a:ea typeface="Inter"/>
                    <a:cs typeface="Inter"/>
                    <a:sym typeface="Inter"/>
                  </a:rPr>
                  <a:t>Once approved, we call update_state() to inject the human's feedback and resume graph execution from that exact checkpoint.</a:t>
                </a:r>
                <a:r>
                  <a:rPr lang="en-US" sz="1100">
                    <a:solidFill>
                      <a:schemeClr val="dk1"/>
                    </a:solidFill>
                  </a:rPr>
                  <a:t> </a:t>
                </a:r>
                <a:endParaRPr sz="1100">
                  <a:solidFill>
                    <a:srgbClr val="CBD5E1"/>
                  </a:solidFill>
                  <a:latin typeface="Inter"/>
                  <a:ea typeface="Inter"/>
                  <a:cs typeface="Inter"/>
                  <a:sym typeface="Inter"/>
                </a:endParaRPr>
              </a:p>
            </p:txBody>
          </p:sp>
        </p:grpSp>
      </p:grpSp>
      <p:pic>
        <p:nvPicPr>
          <p:cNvPr id="477" name="Google Shape;477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00" y="2873950"/>
            <a:ext cx="5334000" cy="2495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82" name="Google Shape;482;p2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83" name="Google Shape;483;p26"/>
          <p:cNvSpPr txBox="1"/>
          <p:nvPr/>
        </p:nvSpPr>
        <p:spPr>
          <a:xfrm>
            <a:off x="571500" y="571500"/>
            <a:ext cx="11601600" cy="38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The </a:t>
            </a:r>
            <a:r>
              <a:rPr lang="en-US" sz="2500" b="1">
                <a:solidFill>
                  <a:schemeClr val="lt1"/>
                </a:solidFill>
              </a:rPr>
              <a:t>Human-in-the-Loop</a:t>
            </a:r>
            <a:r>
              <a:rPr lang="en-US" sz="2500">
                <a:solidFill>
                  <a:schemeClr val="lt1"/>
                </a:solidFill>
              </a:rPr>
              <a:t> </a:t>
            </a:r>
            <a:r>
              <a:rPr lang="en-US" sz="2500">
                <a:solidFill>
                  <a:schemeClr val="lt1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Lifecycle </a:t>
            </a:r>
            <a:endParaRPr sz="2500">
              <a:solidFill>
                <a:schemeClr val="lt1"/>
              </a:solidFill>
            </a:endParaRPr>
          </a:p>
        </p:txBody>
      </p:sp>
      <p:sp>
        <p:nvSpPr>
          <p:cNvPr id="484" name="Google Shape;484;p26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85" name="Google Shape;485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200" y="1840625"/>
            <a:ext cx="11601601" cy="4134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90" name="Google Shape;490;p2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183700" y="2964116"/>
            <a:ext cx="2516325" cy="91665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p2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346922" y="2190600"/>
            <a:ext cx="2663239" cy="730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2" name="Google Shape;492;p2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9391659" y="3976699"/>
            <a:ext cx="2516325" cy="689950"/>
          </a:xfrm>
          <a:prstGeom prst="rect">
            <a:avLst/>
          </a:prstGeom>
          <a:noFill/>
          <a:ln>
            <a:noFill/>
          </a:ln>
        </p:spPr>
      </p:pic>
      <p:sp>
        <p:nvSpPr>
          <p:cNvPr id="493" name="Google Shape;493;p27"/>
          <p:cNvSpPr txBox="1"/>
          <p:nvPr/>
        </p:nvSpPr>
        <p:spPr>
          <a:xfrm>
            <a:off x="571500" y="5271400"/>
            <a:ext cx="8571600" cy="26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25" b="0" i="0" u="none" strike="noStrike" cap="none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rPr>
              <a:t>A router is just a function of state returning a node name — wires the map.</a:t>
            </a:r>
            <a:endParaRPr sz="1700"/>
          </a:p>
        </p:txBody>
      </p:sp>
      <p:pic>
        <p:nvPicPr>
          <p:cNvPr id="494" name="Google Shape;494;p2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450255" y="5223650"/>
            <a:ext cx="2968225" cy="361000"/>
          </a:xfrm>
          <a:prstGeom prst="rect">
            <a:avLst/>
          </a:prstGeom>
          <a:noFill/>
          <a:ln>
            <a:noFill/>
          </a:ln>
        </p:spPr>
      </p:pic>
      <p:sp>
        <p:nvSpPr>
          <p:cNvPr id="495" name="Google Shape;495;p27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Conditional Routing</a:t>
            </a:r>
            <a:endParaRPr/>
          </a:p>
        </p:txBody>
      </p:sp>
      <p:sp>
        <p:nvSpPr>
          <p:cNvPr id="496" name="Google Shape;496;p27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7" name="Google Shape;497;p2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03766" y="3241687"/>
            <a:ext cx="728639" cy="448111"/>
          </a:xfrm>
          <a:prstGeom prst="rect">
            <a:avLst/>
          </a:prstGeom>
          <a:noFill/>
          <a:ln>
            <a:noFill/>
          </a:ln>
        </p:spPr>
      </p:pic>
      <p:pic>
        <p:nvPicPr>
          <p:cNvPr id="498" name="Google Shape;498;p27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388775" y="1903138"/>
            <a:ext cx="5591175" cy="21145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5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3" name="Google Shape;503;p28"/>
          <p:cNvGrpSpPr/>
          <p:nvPr/>
        </p:nvGrpSpPr>
        <p:grpSpPr>
          <a:xfrm>
            <a:off x="571500" y="1381125"/>
            <a:ext cx="11049000" cy="523800"/>
            <a:chOff x="0" y="0"/>
            <a:chExt cx="11049000" cy="523800"/>
          </a:xfrm>
        </p:grpSpPr>
        <p:sp>
          <p:nvSpPr>
            <p:cNvPr id="504" name="Google Shape;504;p28"/>
            <p:cNvSpPr/>
            <p:nvPr/>
          </p:nvSpPr>
          <p:spPr>
            <a:xfrm>
              <a:off x="0" y="0"/>
              <a:ext cx="11049000" cy="400200"/>
            </a:xfrm>
            <a:prstGeom prst="roundRect">
              <a:avLst>
                <a:gd name="adj" fmla="val 19047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pic>
          <p:nvPicPr>
            <p:cNvPr id="505" name="Google Shape;505;p28"/>
            <p:cNvPicPr preferRelativeResize="0"/>
            <p:nvPr/>
          </p:nvPicPr>
          <p:blipFill rotWithShape="1">
            <a:blip r:embed="rId3">
              <a:alphaModFix/>
            </a:blip>
            <a:srcRect t="1784" b="1784"/>
            <a:stretch/>
          </p:blipFill>
          <p:spPr>
            <a:xfrm>
              <a:off x="152400" y="49804"/>
              <a:ext cx="2338500" cy="328800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506" name="Google Shape;506;p28"/>
            <p:cNvSpPr txBox="1"/>
            <p:nvPr/>
          </p:nvSpPr>
          <p:spPr>
            <a:xfrm>
              <a:off x="1981200" y="123600"/>
              <a:ext cx="87630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60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has to assume it might run twice in a checkpointed execution graph.</a:t>
              </a:r>
              <a:endParaRPr sz="160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07" name="Google Shape;507;p28"/>
          <p:cNvGrpSpPr/>
          <p:nvPr/>
        </p:nvGrpSpPr>
        <p:grpSpPr>
          <a:xfrm>
            <a:off x="571500" y="2047875"/>
            <a:ext cx="5238900" cy="1285800"/>
            <a:chOff x="0" y="0"/>
            <a:chExt cx="5238900" cy="1285800"/>
          </a:xfrm>
        </p:grpSpPr>
        <p:sp>
          <p:nvSpPr>
            <p:cNvPr id="508" name="Google Shape;508;p28"/>
            <p:cNvSpPr/>
            <p:nvPr/>
          </p:nvSpPr>
          <p:spPr>
            <a:xfrm>
              <a:off x="0" y="0"/>
              <a:ext cx="5238900" cy="1285800"/>
            </a:xfrm>
            <a:prstGeom prst="roundRect">
              <a:avLst>
                <a:gd name="adj" fmla="val 8888"/>
              </a:avLst>
            </a:prstGeom>
            <a:solidFill>
              <a:srgbClr val="1E293B">
                <a:alpha val="60000"/>
              </a:srgbClr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9" name="Google Shape;509;p28"/>
            <p:cNvSpPr/>
            <p:nvPr/>
          </p:nvSpPr>
          <p:spPr>
            <a:xfrm>
              <a:off x="0" y="0"/>
              <a:ext cx="57300" cy="1285800"/>
            </a:xfrm>
            <a:prstGeom prst="roundRect">
              <a:avLst>
                <a:gd name="adj" fmla="val 5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0" name="Google Shape;510;p28"/>
            <p:cNvSpPr txBox="1"/>
            <p:nvPr/>
          </p:nvSpPr>
          <p:spPr>
            <a:xfrm>
              <a:off x="228600" y="152400"/>
              <a:ext cx="4819800" cy="9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38BDF8"/>
                  </a:solidFill>
                  <a:latin typeface="Inter"/>
                  <a:ea typeface="Inter"/>
                  <a:cs typeface="Inter"/>
                  <a:sym typeface="Inter"/>
                </a:rPr>
                <a:t>Idempotency Guarantee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rPr>
                <a:t>Checkpointed graphs can be re-invoked via retries, replays, or resumed threads.</a:t>
              </a:r>
              <a:endParaRPr sz="1200" b="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11" name="Google Shape;511;p28"/>
          <p:cNvGrpSpPr/>
          <p:nvPr/>
        </p:nvGrpSpPr>
        <p:grpSpPr>
          <a:xfrm>
            <a:off x="571500" y="3476625"/>
            <a:ext cx="5238900" cy="1285800"/>
            <a:chOff x="0" y="0"/>
            <a:chExt cx="5238900" cy="1285800"/>
          </a:xfrm>
        </p:grpSpPr>
        <p:sp>
          <p:nvSpPr>
            <p:cNvPr id="512" name="Google Shape;512;p28"/>
            <p:cNvSpPr/>
            <p:nvPr/>
          </p:nvSpPr>
          <p:spPr>
            <a:xfrm>
              <a:off x="0" y="0"/>
              <a:ext cx="5238900" cy="1285800"/>
            </a:xfrm>
            <a:prstGeom prst="roundRect">
              <a:avLst>
                <a:gd name="adj" fmla="val 8888"/>
              </a:avLst>
            </a:prstGeom>
            <a:solidFill>
              <a:srgbClr val="1E293B">
                <a:alpha val="60000"/>
              </a:srgbClr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3" name="Google Shape;513;p28"/>
            <p:cNvSpPr/>
            <p:nvPr/>
          </p:nvSpPr>
          <p:spPr>
            <a:xfrm>
              <a:off x="0" y="0"/>
              <a:ext cx="57300" cy="1285800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4" name="Google Shape;514;p28"/>
            <p:cNvSpPr txBox="1"/>
            <p:nvPr/>
          </p:nvSpPr>
          <p:spPr>
            <a:xfrm>
              <a:off x="228600" y="152400"/>
              <a:ext cx="4819800" cy="981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F59E0B"/>
                  </a:solidFill>
                  <a:latin typeface="Inter"/>
                  <a:ea typeface="Inter"/>
                  <a:cs typeface="Inter"/>
                  <a:sym typeface="Inter"/>
                </a:rPr>
                <a:t>Side-Effect Protection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200" b="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rPr>
                <a:t>Any node with an external side effect must guard against executing twice.</a:t>
              </a:r>
              <a:endParaRPr sz="1200" b="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15" name="Google Shape;515;p28"/>
          <p:cNvGrpSpPr/>
          <p:nvPr/>
        </p:nvGrpSpPr>
        <p:grpSpPr>
          <a:xfrm>
            <a:off x="571500" y="4905375"/>
            <a:ext cx="5238900" cy="1381200"/>
            <a:chOff x="0" y="0"/>
            <a:chExt cx="5238900" cy="1381200"/>
          </a:xfrm>
        </p:grpSpPr>
        <p:sp>
          <p:nvSpPr>
            <p:cNvPr id="516" name="Google Shape;516;p28"/>
            <p:cNvSpPr/>
            <p:nvPr/>
          </p:nvSpPr>
          <p:spPr>
            <a:xfrm>
              <a:off x="0" y="0"/>
              <a:ext cx="5238900" cy="1381200"/>
            </a:xfrm>
            <a:prstGeom prst="roundRect">
              <a:avLst>
                <a:gd name="adj" fmla="val 8275"/>
              </a:avLst>
            </a:prstGeom>
            <a:solidFill>
              <a:srgbClr val="1E293B">
                <a:alpha val="60000"/>
              </a:srgbClr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7" name="Google Shape;517;p28"/>
            <p:cNvSpPr/>
            <p:nvPr/>
          </p:nvSpPr>
          <p:spPr>
            <a:xfrm>
              <a:off x="0" y="0"/>
              <a:ext cx="57300" cy="13812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18" name="Google Shape;518;p28"/>
            <p:cNvSpPr txBox="1"/>
            <p:nvPr/>
          </p:nvSpPr>
          <p:spPr>
            <a:xfrm>
              <a:off x="228600" y="152400"/>
              <a:ext cx="4819800" cy="1076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 b="1">
                  <a:solidFill>
                    <a:srgbClr val="10B981"/>
                  </a:solidFill>
                  <a:latin typeface="Inter"/>
                  <a:ea typeface="Inter"/>
                  <a:cs typeface="Inter"/>
                  <a:sym typeface="Inter"/>
                </a:rPr>
                <a:t>Architecture Rule</a:t>
              </a:r>
              <a:endParaRPr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50" b="0">
                  <a:solidFill>
                    <a:srgbClr val="E2E8F0"/>
                  </a:solidFill>
                  <a:latin typeface="Inter"/>
                  <a:ea typeface="Inter"/>
                  <a:cs typeface="Inter"/>
                  <a:sym typeface="Inter"/>
                </a:rPr>
                <a:t>System design explicitly enforces that no side-effecting call may run before review status is approved—no trusted bypass path exists.</a:t>
              </a:r>
              <a:endParaRPr sz="1150" b="0">
                <a:solidFill>
                  <a:srgbClr val="E2E8F0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sp>
        <p:nvSpPr>
          <p:cNvPr id="519" name="Google Shape;519;p28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Idempotent Publish</a:t>
            </a:r>
            <a:endParaRPr/>
          </a:p>
        </p:txBody>
      </p:sp>
      <p:sp>
        <p:nvSpPr>
          <p:cNvPr id="520" name="Google Shape;520;p28"/>
          <p:cNvSpPr/>
          <p:nvPr/>
        </p:nvSpPr>
        <p:spPr>
          <a:xfrm>
            <a:off x="571500" y="1171575"/>
            <a:ext cx="11049000" cy="1920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21" name="Google Shape;521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95745" y="3186470"/>
            <a:ext cx="4972050" cy="1857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5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6" name="Google Shape;526;p2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23625"/>
            <a:ext cx="110490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27" name="Google Shape;527;p29"/>
          <p:cNvSpPr txBox="1"/>
          <p:nvPr/>
        </p:nvSpPr>
        <p:spPr>
          <a:xfrm>
            <a:off x="6619875" y="3152775"/>
            <a:ext cx="5000625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Every reviewer action returns .</a:t>
            </a:r>
            <a:endParaRPr/>
          </a:p>
        </p:txBody>
      </p:sp>
      <p:sp>
        <p:nvSpPr>
          <p:cNvPr id="528" name="Google Shape;528;p29"/>
          <p:cNvSpPr txBox="1"/>
          <p:nvPr/>
        </p:nvSpPr>
        <p:spPr>
          <a:xfrm>
            <a:off x="6619875" y="3727996"/>
            <a:ext cx="50006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With a plain field, each node's return value overwrites state — a second review decision would </a:t>
            </a: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erase the first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/>
          </a:p>
        </p:txBody>
      </p:sp>
      <p:sp>
        <p:nvSpPr>
          <p:cNvPr id="529" name="Google Shape;529;p29"/>
          <p:cNvSpPr txBox="1"/>
          <p:nvPr/>
        </p:nvSpPr>
        <p:spPr>
          <a:xfrm>
            <a:off x="6619875" y="4592687"/>
            <a:ext cx="5000700" cy="57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tells LangGraph how to merge: </a:t>
            </a:r>
            <a:r>
              <a:rPr lang="en-US" sz="1425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concatenates 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lists instead of replacing them.</a:t>
            </a:r>
            <a:endParaRPr/>
          </a:p>
        </p:txBody>
      </p:sp>
      <p:sp>
        <p:nvSpPr>
          <p:cNvPr id="530" name="Google Shape;530;p29"/>
          <p:cNvSpPr txBox="1"/>
          <p:nvPr/>
        </p:nvSpPr>
        <p:spPr>
          <a:xfrm>
            <a:off x="6619875" y="5457379"/>
            <a:ext cx="50006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Lesson: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Any state field a node can update more than once needs an explicit reducer.</a:t>
            </a:r>
            <a:endParaRPr/>
          </a:p>
        </p:txBody>
      </p:sp>
      <p:sp>
        <p:nvSpPr>
          <p:cNvPr id="531" name="Google Shape;531;p29"/>
          <p:cNvSpPr txBox="1"/>
          <p:nvPr/>
        </p:nvSpPr>
        <p:spPr>
          <a:xfrm>
            <a:off x="6334125" y="3152775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id="532" name="Google Shape;532;p2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9172575" y="3171825"/>
            <a:ext cx="240030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533" name="Google Shape;533;p29"/>
          <p:cNvSpPr txBox="1"/>
          <p:nvPr/>
        </p:nvSpPr>
        <p:spPr>
          <a:xfrm>
            <a:off x="6334125" y="3129111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34" name="Google Shape;534;p29"/>
          <p:cNvSpPr txBox="1"/>
          <p:nvPr/>
        </p:nvSpPr>
        <p:spPr>
          <a:xfrm>
            <a:off x="6334125" y="4592687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id="535" name="Google Shape;535;p2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19875" y="4611737"/>
            <a:ext cx="278130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536" name="Google Shape;536;p29"/>
          <p:cNvSpPr txBox="1"/>
          <p:nvPr/>
        </p:nvSpPr>
        <p:spPr>
          <a:xfrm>
            <a:off x="6334125" y="5457379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37" name="Google Shape;537;p29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Bug #1: audit_trail</a:t>
            </a:r>
            <a:endParaRPr/>
          </a:p>
        </p:txBody>
      </p:sp>
      <p:sp>
        <p:nvSpPr>
          <p:cNvPr id="538" name="Google Shape;538;p29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39" name="Google Shape;539;p2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931725" y="3429000"/>
            <a:ext cx="4067175" cy="2200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5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4" name="Google Shape;544;p3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230040"/>
            <a:ext cx="11049000" cy="228600"/>
          </a:xfrm>
          <a:prstGeom prst="rect">
            <a:avLst/>
          </a:prstGeom>
          <a:noFill/>
          <a:ln>
            <a:noFill/>
          </a:ln>
        </p:spPr>
      </p:pic>
      <p:sp>
        <p:nvSpPr>
          <p:cNvPr id="545" name="Google Shape;545;p30"/>
          <p:cNvSpPr txBox="1"/>
          <p:nvPr/>
        </p:nvSpPr>
        <p:spPr>
          <a:xfrm>
            <a:off x="517075" y="2660413"/>
            <a:ext cx="5890500" cy="21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CA5A5"/>
                </a:solidFill>
                <a:latin typeface="Fira Code"/>
                <a:ea typeface="Fira Code"/>
                <a:cs typeface="Fira Code"/>
                <a:sym typeface="Fira Code"/>
              </a:rPr>
              <a:t>TypeError: Type is not msgpack serializable: Mock</a:t>
            </a:r>
            <a:endParaRPr/>
          </a:p>
        </p:txBody>
      </p:sp>
      <p:sp>
        <p:nvSpPr>
          <p:cNvPr id="546" name="Google Shape;546;p30"/>
          <p:cNvSpPr txBox="1"/>
          <p:nvPr/>
        </p:nvSpPr>
        <p:spPr>
          <a:xfrm>
            <a:off x="857250" y="3081486"/>
            <a:ext cx="50006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A routing test injected objects into state fields meant to hold Domain Reports.</a:t>
            </a:r>
            <a:endParaRPr/>
          </a:p>
        </p:txBody>
      </p:sp>
      <p:sp>
        <p:nvSpPr>
          <p:cNvPr id="547" name="Google Shape;547;p30"/>
          <p:cNvSpPr txBox="1"/>
          <p:nvPr/>
        </p:nvSpPr>
        <p:spPr>
          <a:xfrm>
            <a:off x="857250" y="3946177"/>
            <a:ext cx="50006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LangGraph's checkpointer serializes state to persist it — and Mock instances aren't serializable.</a:t>
            </a:r>
            <a:endParaRPr/>
          </a:p>
        </p:txBody>
      </p:sp>
      <p:sp>
        <p:nvSpPr>
          <p:cNvPr id="548" name="Google Shape;548;p30"/>
          <p:cNvSpPr txBox="1"/>
          <p:nvPr/>
        </p:nvSpPr>
        <p:spPr>
          <a:xfrm>
            <a:off x="857250" y="4810869"/>
            <a:ext cx="5000625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F8FAFC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Lesson:</a:t>
            </a:r>
            <a:r>
              <a:rPr lang="en-US" sz="1425" b="0" i="0" u="none" strike="noStrike" cap="none">
                <a:solidFill>
                  <a:srgbClr val="CBD5E1"/>
                </a:solidFill>
                <a:latin typeface="Inter"/>
                <a:ea typeface="Inter"/>
                <a:cs typeface="Inter"/>
                <a:sym typeface="Inter"/>
              </a:rPr>
              <a:t> If it goes into checkpointed state, it has to be a real, serializable domain object — a stand-in isn't enough.</a:t>
            </a:r>
            <a:endParaRPr/>
          </a:p>
        </p:txBody>
      </p:sp>
      <p:sp>
        <p:nvSpPr>
          <p:cNvPr id="549" name="Google Shape;549;p30"/>
          <p:cNvSpPr txBox="1"/>
          <p:nvPr/>
        </p:nvSpPr>
        <p:spPr>
          <a:xfrm>
            <a:off x="571500" y="3081486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pic>
        <p:nvPicPr>
          <p:cNvPr id="550" name="Google Shape;550;p3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771775" y="3100536"/>
            <a:ext cx="685800" cy="257175"/>
          </a:xfrm>
          <a:prstGeom prst="rect">
            <a:avLst/>
          </a:prstGeom>
          <a:noFill/>
          <a:ln>
            <a:noFill/>
          </a:ln>
        </p:spPr>
      </p:pic>
      <p:sp>
        <p:nvSpPr>
          <p:cNvPr id="551" name="Google Shape;551;p30"/>
          <p:cNvSpPr txBox="1"/>
          <p:nvPr/>
        </p:nvSpPr>
        <p:spPr>
          <a:xfrm>
            <a:off x="571500" y="3946177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52" name="Google Shape;552;p30"/>
          <p:cNvSpPr txBox="1"/>
          <p:nvPr/>
        </p:nvSpPr>
        <p:spPr>
          <a:xfrm>
            <a:off x="571500" y="4810869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53" name="Google Shape;553;p30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Bug #2: TypeError</a:t>
            </a:r>
            <a:endParaRPr/>
          </a:p>
        </p:txBody>
      </p:sp>
      <p:sp>
        <p:nvSpPr>
          <p:cNvPr id="554" name="Google Shape;554;p30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555" name="Google Shape;555;p3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603275" y="2879715"/>
            <a:ext cx="5305425" cy="2971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0" name="Google Shape;560;p3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1" name="Google Shape;561;p31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92858"/>
            <a:ext cx="11049000" cy="885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2" name="Google Shape;562;p31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564433"/>
            <a:ext cx="11049000" cy="19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3" name="Google Shape;563;p31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3638550" y="2592883"/>
            <a:ext cx="1333500" cy="4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4" name="Google Shape;564;p31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429250" y="2592883"/>
            <a:ext cx="1333500" cy="4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5" name="Google Shape;565;p31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219950" y="2592883"/>
            <a:ext cx="1333500" cy="485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566" name="Google Shape;566;p31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571500" y="2021383"/>
            <a:ext cx="1104900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7" name="Google Shape;567;p3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5114925" y="2740521"/>
            <a:ext cx="171450" cy="190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68" name="Google Shape;568;p31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905625" y="2740521"/>
            <a:ext cx="171450" cy="190500"/>
          </a:xfrm>
          <a:prstGeom prst="rect">
            <a:avLst/>
          </a:prstGeom>
          <a:noFill/>
          <a:ln>
            <a:noFill/>
          </a:ln>
        </p:spPr>
      </p:pic>
      <p:sp>
        <p:nvSpPr>
          <p:cNvPr id="569" name="Google Shape;569;p31"/>
          <p:cNvSpPr txBox="1"/>
          <p:nvPr/>
        </p:nvSpPr>
        <p:spPr>
          <a:xfrm>
            <a:off x="571500" y="3678730"/>
            <a:ext cx="3600900" cy="1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EF4444"/>
                </a:solidFill>
                <a:latin typeface="Fira Code"/>
                <a:ea typeface="Fira Code"/>
                <a:cs typeface="Fira Code"/>
                <a:sym typeface="Fira Code"/>
              </a:rPr>
              <a:t>Test attempted to skip intermediate states</a:t>
            </a:r>
            <a:endParaRPr/>
          </a:p>
        </p:txBody>
      </p:sp>
      <p:sp>
        <p:nvSpPr>
          <p:cNvPr id="570" name="Google Shape;570;p31"/>
          <p:cNvSpPr txBox="1"/>
          <p:nvPr/>
        </p:nvSpPr>
        <p:spPr>
          <a:xfrm>
            <a:off x="857250" y="4479493"/>
            <a:ext cx="10763400" cy="2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</a:rPr>
              <a:t>S</a:t>
            </a:r>
            <a:r>
              <a:rPr lang="en-US" sz="1300" b="1">
                <a:solidFill>
                  <a:schemeClr val="lt1"/>
                </a:solidFill>
              </a:rPr>
              <a:t>tate Machine Invariant:</a:t>
            </a:r>
            <a:r>
              <a:rPr lang="en-US" sz="1100">
                <a:solidFill>
                  <a:schemeClr val="dk1"/>
                </a:solidFill>
              </a:rPr>
              <a:t>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ReviewTaskRepository</a:t>
            </a:r>
            <a:r>
              <a:rPr lang="en-US" sz="1100">
                <a:solidFill>
                  <a:srgbClr val="38BDF8"/>
                </a:solidFill>
              </a:rPr>
              <a:t> </a:t>
            </a:r>
            <a:r>
              <a:rPr lang="en-US" sz="1100">
                <a:solidFill>
                  <a:schemeClr val="lt1"/>
                </a:solidFill>
              </a:rPr>
              <a:t>ensures a task cannot jump straight from</a:t>
            </a:r>
            <a:r>
              <a:rPr lang="en-US" sz="1100">
                <a:solidFill>
                  <a:schemeClr val="dk1"/>
                </a:solidFill>
              </a:rPr>
              <a:t>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pending</a:t>
            </a:r>
            <a:r>
              <a:rPr lang="en-US" sz="1100">
                <a:solidFill>
                  <a:srgbClr val="38BDF8"/>
                </a:solidFill>
              </a:rPr>
              <a:t> </a:t>
            </a:r>
            <a:r>
              <a:rPr lang="en-US" sz="1100">
                <a:solidFill>
                  <a:schemeClr val="lt1"/>
                </a:solidFill>
              </a:rPr>
              <a:t>to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approved</a:t>
            </a:r>
            <a:r>
              <a:rPr lang="en-US" sz="1100">
                <a:solidFill>
                  <a:srgbClr val="38BDF8"/>
                </a:solidFill>
              </a:rPr>
              <a:t> </a:t>
            </a:r>
            <a:endParaRPr>
              <a:solidFill>
                <a:srgbClr val="38BDF8"/>
              </a:solidFill>
            </a:endParaRPr>
          </a:p>
        </p:txBody>
      </p:sp>
      <p:sp>
        <p:nvSpPr>
          <p:cNvPr id="571" name="Google Shape;571;p31"/>
          <p:cNvSpPr txBox="1"/>
          <p:nvPr/>
        </p:nvSpPr>
        <p:spPr>
          <a:xfrm>
            <a:off x="866321" y="5036571"/>
            <a:ext cx="107634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</a:rPr>
              <a:t>Test Bypass:</a:t>
            </a:r>
            <a:r>
              <a:rPr lang="en-US" sz="1100">
                <a:solidFill>
                  <a:schemeClr val="lt1"/>
                </a:solidFill>
              </a:rPr>
              <a:t> A test attempted to transition directly by hacking the property instead of using the controlled</a:t>
            </a:r>
            <a:r>
              <a:rPr lang="en-US" sz="1100">
                <a:solidFill>
                  <a:schemeClr val="dk1"/>
                </a:solidFill>
              </a:rPr>
              <a:t>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assign()</a:t>
            </a:r>
            <a:r>
              <a:rPr lang="en-US" sz="1100">
                <a:solidFill>
                  <a:schemeClr val="dk1"/>
                </a:solidFill>
              </a:rPr>
              <a:t> </a:t>
            </a:r>
            <a:r>
              <a:rPr lang="en-US" sz="1100">
                <a:solidFill>
                  <a:schemeClr val="lt1"/>
                </a:solidFill>
              </a:rPr>
              <a:t>method</a:t>
            </a:r>
            <a:r>
              <a:rPr lang="en-US" sz="1100">
                <a:solidFill>
                  <a:schemeClr val="dk1"/>
                </a:solidFill>
              </a:rPr>
              <a:t>. </a:t>
            </a:r>
            <a:endParaRPr/>
          </a:p>
        </p:txBody>
      </p:sp>
      <p:sp>
        <p:nvSpPr>
          <p:cNvPr id="572" name="Google Shape;572;p31"/>
          <p:cNvSpPr txBox="1"/>
          <p:nvPr/>
        </p:nvSpPr>
        <p:spPr>
          <a:xfrm>
            <a:off x="857250" y="5608104"/>
            <a:ext cx="10763400" cy="16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00" b="1">
                <a:solidFill>
                  <a:schemeClr val="lt1"/>
                </a:solidFill>
              </a:rPr>
              <a:t>Action Mapping:</a:t>
            </a:r>
            <a:r>
              <a:rPr lang="en-US" sz="1100">
                <a:solidFill>
                  <a:schemeClr val="lt1"/>
                </a:solidFill>
              </a:rPr>
              <a:t> Fixed the test, not the guardrail. The review action map permits only valid transitions</a:t>
            </a:r>
            <a:r>
              <a:rPr lang="en-US" sz="1100">
                <a:solidFill>
                  <a:schemeClr val="dk1"/>
                </a:solidFill>
              </a:rPr>
              <a:t>: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approve -&gt; approved</a:t>
            </a:r>
            <a:r>
              <a:rPr lang="en-US" sz="1100">
                <a:solidFill>
                  <a:srgbClr val="38BDF8"/>
                </a:solidFill>
              </a:rPr>
              <a:t> or </a:t>
            </a:r>
            <a:r>
              <a:rPr lang="en-US" sz="1100">
                <a:solidFill>
                  <a:srgbClr val="38BDF8"/>
                </a:solidFill>
                <a:latin typeface="Roboto Mono"/>
                <a:ea typeface="Roboto Mono"/>
                <a:cs typeface="Roboto Mono"/>
                <a:sym typeface="Roboto Mono"/>
              </a:rPr>
              <a:t>reject -&gt; rejected</a:t>
            </a:r>
            <a:r>
              <a:rPr lang="en-US" sz="1100">
                <a:solidFill>
                  <a:schemeClr val="dk1"/>
                </a:solidFill>
              </a:rPr>
              <a:t> </a:t>
            </a:r>
            <a:endParaRPr/>
          </a:p>
        </p:txBody>
      </p:sp>
      <p:sp>
        <p:nvSpPr>
          <p:cNvPr id="573" name="Google Shape;573;p31"/>
          <p:cNvSpPr txBox="1"/>
          <p:nvPr/>
        </p:nvSpPr>
        <p:spPr>
          <a:xfrm>
            <a:off x="571500" y="4388778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74" name="Google Shape;574;p31"/>
          <p:cNvSpPr txBox="1"/>
          <p:nvPr/>
        </p:nvSpPr>
        <p:spPr>
          <a:xfrm>
            <a:off x="571500" y="4963999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75" name="Google Shape;575;p31"/>
          <p:cNvSpPr txBox="1"/>
          <p:nvPr/>
        </p:nvSpPr>
        <p:spPr>
          <a:xfrm>
            <a:off x="571500" y="5539220"/>
            <a:ext cx="1335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576" name="Google Shape;576;p31"/>
          <p:cNvSpPr txBox="1"/>
          <p:nvPr/>
        </p:nvSpPr>
        <p:spPr>
          <a:xfrm>
            <a:off x="571500" y="571500"/>
            <a:ext cx="11601450" cy="476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 b="0" i="0" u="none" strike="noStrike" cap="none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Bug #3: State Flow</a:t>
            </a:r>
            <a:endParaRPr/>
          </a:p>
        </p:txBody>
      </p:sp>
      <p:sp>
        <p:nvSpPr>
          <p:cNvPr id="577" name="Google Shape;577;p31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32"/>
          <p:cNvSpPr txBox="1"/>
          <p:nvPr/>
        </p:nvSpPr>
        <p:spPr>
          <a:xfrm>
            <a:off x="571500" y="476250"/>
            <a:ext cx="11049000" cy="45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960" b="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Live Demo</a:t>
            </a:r>
            <a:endParaRPr sz="2960" b="0">
              <a:solidFill>
                <a:srgbClr val="F8FAFC"/>
              </a:solidFill>
              <a:latin typeface="Poppins SemiBold"/>
              <a:ea typeface="Poppins SemiBold"/>
              <a:cs typeface="Poppins SemiBold"/>
              <a:sym typeface="Poppins SemiBold"/>
            </a:endParaRPr>
          </a:p>
        </p:txBody>
      </p:sp>
      <p:sp>
        <p:nvSpPr>
          <p:cNvPr id="583" name="Google Shape;583;p32"/>
          <p:cNvSpPr/>
          <p:nvPr/>
        </p:nvSpPr>
        <p:spPr>
          <a:xfrm>
            <a:off x="571500" y="1095375"/>
            <a:ext cx="11049000" cy="19200"/>
          </a:xfrm>
          <a:prstGeom prst="rect">
            <a:avLst/>
          </a:prstGeom>
          <a:solidFill>
            <a:srgbClr val="334155"/>
          </a:solidFill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584" name="Google Shape;584;p32"/>
          <p:cNvGrpSpPr/>
          <p:nvPr/>
        </p:nvGrpSpPr>
        <p:grpSpPr>
          <a:xfrm>
            <a:off x="571500" y="1428750"/>
            <a:ext cx="6286500" cy="4762500"/>
            <a:chOff x="0" y="0"/>
            <a:chExt cx="6286500" cy="4762500"/>
          </a:xfrm>
        </p:grpSpPr>
        <p:sp>
          <p:nvSpPr>
            <p:cNvPr id="585" name="Google Shape;585;p32"/>
            <p:cNvSpPr/>
            <p:nvPr/>
          </p:nvSpPr>
          <p:spPr>
            <a:xfrm>
              <a:off x="0" y="0"/>
              <a:ext cx="6286500" cy="4762500"/>
            </a:xfrm>
            <a:prstGeom prst="roundRect">
              <a:avLst>
                <a:gd name="adj" fmla="val 2400"/>
              </a:avLst>
            </a:prstGeom>
            <a:solidFill>
              <a:srgbClr val="020617"/>
            </a:solidFill>
            <a:ln w="19050" cap="flat" cmpd="sng">
              <a:solidFill>
                <a:srgbClr val="1E293B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586;p32"/>
            <p:cNvSpPr/>
            <p:nvPr/>
          </p:nvSpPr>
          <p:spPr>
            <a:xfrm>
              <a:off x="0" y="0"/>
              <a:ext cx="6286500" cy="400200"/>
            </a:xfrm>
            <a:custGeom>
              <a:avLst/>
              <a:gdLst/>
              <a:ahLst/>
              <a:cxnLst/>
              <a:rect l="l" t="t" r="r" b="b"/>
              <a:pathLst>
                <a:path w="120000" h="120000" extrusionOk="0">
                  <a:moveTo>
                    <a:pt x="0" y="34286"/>
                  </a:moveTo>
                  <a:cubicBezTo>
                    <a:pt x="0" y="25193"/>
                    <a:pt x="230" y="16472"/>
                    <a:pt x="639" y="10042"/>
                  </a:cubicBezTo>
                  <a:cubicBezTo>
                    <a:pt x="1048" y="3612"/>
                    <a:pt x="1603" y="0"/>
                    <a:pt x="2182" y="0"/>
                  </a:cubicBezTo>
                  <a:lnTo>
                    <a:pt x="117818" y="0"/>
                  </a:lnTo>
                  <a:cubicBezTo>
                    <a:pt x="118397" y="-1"/>
                    <a:pt x="118952" y="3611"/>
                    <a:pt x="119361" y="10041"/>
                  </a:cubicBezTo>
                  <a:cubicBezTo>
                    <a:pt x="119770" y="16471"/>
                    <a:pt x="120000" y="25192"/>
                    <a:pt x="120000" y="34286"/>
                  </a:cubicBezTo>
                  <a:lnTo>
                    <a:pt x="120000" y="120000"/>
                  </a:lnTo>
                  <a:lnTo>
                    <a:pt x="0" y="120000"/>
                  </a:lnTo>
                  <a:close/>
                </a:path>
              </a:pathLst>
            </a:custGeom>
            <a:solidFill>
              <a:srgbClr val="0F172A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587;p32"/>
            <p:cNvSpPr/>
            <p:nvPr/>
          </p:nvSpPr>
          <p:spPr>
            <a:xfrm>
              <a:off x="171450" y="142875"/>
              <a:ext cx="114300" cy="114300"/>
            </a:xfrm>
            <a:prstGeom prst="ellipse">
              <a:avLst/>
            </a:prstGeom>
            <a:solidFill>
              <a:srgbClr val="EF4444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588;p32"/>
            <p:cNvSpPr/>
            <p:nvPr/>
          </p:nvSpPr>
          <p:spPr>
            <a:xfrm>
              <a:off x="342900" y="142875"/>
              <a:ext cx="114300" cy="114300"/>
            </a:xfrm>
            <a:prstGeom prst="ellipse">
              <a:avLst/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589;p32"/>
            <p:cNvSpPr/>
            <p:nvPr/>
          </p:nvSpPr>
          <p:spPr>
            <a:xfrm>
              <a:off x="514350" y="142875"/>
              <a:ext cx="114300" cy="114300"/>
            </a:xfrm>
            <a:prstGeom prst="ellipse">
              <a:avLst/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590;p32"/>
            <p:cNvSpPr txBox="1"/>
            <p:nvPr/>
          </p:nvSpPr>
          <p:spPr>
            <a:xfrm>
              <a:off x="762000" y="95250"/>
              <a:ext cx="1905000" cy="22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bash - demo.sh</a:t>
              </a:r>
              <a:endParaRPr sz="105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sp>
          <p:nvSpPr>
            <p:cNvPr id="591" name="Google Shape;591;p32"/>
            <p:cNvSpPr txBox="1"/>
            <p:nvPr/>
          </p:nvSpPr>
          <p:spPr>
            <a:xfrm>
              <a:off x="228600" y="552450"/>
              <a:ext cx="5829300" cy="40386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BAE6FD"/>
                  </a:solidFill>
                  <a:latin typeface="Fira Code"/>
                  <a:ea typeface="Fira Code"/>
                  <a:cs typeface="Fira Code"/>
                  <a:sym typeface="Fira Code"/>
                </a:rPr>
                <a:t>$ python -m backend.scripts.run_hitl_demo</a:t>
              </a:r>
              <a:endParaRPr sz="1100">
                <a:solidFill>
                  <a:srgbClr val="BAE6FD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10B981"/>
                  </a:solidFill>
                  <a:latin typeface="Fira Code"/>
                  <a:ea typeface="Fira Code"/>
                  <a:cs typeface="Fira Code"/>
                  <a:sym typeface="Fira Code"/>
                </a:rPr>
                <a:t>🚀 Initializing Domain Copilot HITL Workflow Demo...</a:t>
              </a:r>
              <a:endParaRPr sz="1100">
                <a:solidFill>
                  <a:srgbClr val="10B981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Fira Code"/>
                  <a:ea typeface="Fira Code"/>
                  <a:cs typeface="Fira Code"/>
                  <a:sym typeface="Fira Code"/>
                </a:rPr>
                <a:t>... standards_mapper -&gt; module_outline_generator -&gt; assessment_generator ...</a:t>
              </a:r>
              <a:endParaRPr sz="110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10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F59E0B"/>
                  </a:solidFill>
                  <a:latin typeface="Fira Code"/>
                  <a:ea typeface="Fira Code"/>
                  <a:cs typeface="Fira Code"/>
                  <a:sym typeface="Fira Code"/>
                </a:rPr>
                <a:t>⏸ Paused before human_review. thread_id = demo-thread-001</a:t>
              </a:r>
              <a:endParaRPr sz="1100">
                <a:solidFill>
                  <a:srgbClr val="F59E0B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64748B"/>
                  </a:solidFill>
                  <a:latin typeface="Fira Code"/>
                  <a:ea typeface="Fira Code"/>
                  <a:cs typeface="Fira Code"/>
                  <a:sym typeface="Fira Code"/>
                </a:rPr>
                <a:t># in a second terminal / psql, or via get_state():</a:t>
              </a:r>
              <a:endParaRPr sz="1100">
                <a:solidFill>
                  <a:srgbClr val="64748B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2E8F0"/>
                  </a:solidFill>
                  <a:latin typeface="Fira Code"/>
                  <a:ea typeface="Fira Code"/>
                  <a:cs typeface="Fira Code"/>
                  <a:sym typeface="Fira Code"/>
                </a:rPr>
                <a:t>&gt;&gt;&gt; review_service.get_pending_review("demo-thread-001")</a:t>
              </a:r>
              <a:endParaRPr sz="1100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94A3B8"/>
                  </a:solidFill>
                  <a:latin typeface="Fira Code"/>
                  <a:ea typeface="Fira Code"/>
                  <a:cs typeface="Fira Code"/>
                  <a:sym typeface="Fira Code"/>
                </a:rPr>
                <a:t>{'status': 'pending_review', 'competency_gap_report': {...}, ...}</a:t>
              </a:r>
              <a:endParaRPr sz="1100">
                <a:solidFill>
                  <a:srgbClr val="94A3B8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13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E2E8F0"/>
                  </a:solidFill>
                  <a:latin typeface="Fira Code"/>
                  <a:ea typeface="Fira Code"/>
                  <a:cs typeface="Fira Code"/>
                  <a:sym typeface="Fira Code"/>
                </a:rPr>
                <a:t>&gt;&gt;&gt; review_service.process_review_decision("demo-thread-001", action="approve")</a:t>
              </a:r>
              <a:endParaRPr sz="1100">
                <a:solidFill>
                  <a:srgbClr val="E2E8F0"/>
                </a:solidFill>
                <a:latin typeface="Fira Code"/>
                <a:ea typeface="Fira Code"/>
                <a:cs typeface="Fira Code"/>
                <a:sym typeface="Fira Code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100">
                  <a:solidFill>
                    <a:srgbClr val="10B981"/>
                  </a:solidFill>
                  <a:latin typeface="Fira Code"/>
                  <a:ea typeface="Fira Code"/>
                  <a:cs typeface="Fira Code"/>
                  <a:sym typeface="Fira Code"/>
                </a:rPr>
                <a:t>▶ Resuming thread demo-thread-001 from human_review...</a:t>
              </a:r>
              <a:endParaRPr sz="1100">
                <a:solidFill>
                  <a:srgbClr val="10B981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</p:grpSp>
      <p:grpSp>
        <p:nvGrpSpPr>
          <p:cNvPr id="592" name="Google Shape;592;p32"/>
          <p:cNvGrpSpPr/>
          <p:nvPr/>
        </p:nvGrpSpPr>
        <p:grpSpPr>
          <a:xfrm>
            <a:off x="7143750" y="1428750"/>
            <a:ext cx="4476900" cy="1428900"/>
            <a:chOff x="0" y="0"/>
            <a:chExt cx="4476900" cy="1428900"/>
          </a:xfrm>
        </p:grpSpPr>
        <p:sp>
          <p:nvSpPr>
            <p:cNvPr id="593" name="Google Shape;593;p32"/>
            <p:cNvSpPr/>
            <p:nvPr/>
          </p:nvSpPr>
          <p:spPr>
            <a:xfrm>
              <a:off x="0" y="0"/>
              <a:ext cx="4476900" cy="14289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594;p32"/>
            <p:cNvSpPr/>
            <p:nvPr/>
          </p:nvSpPr>
          <p:spPr>
            <a:xfrm>
              <a:off x="0" y="0"/>
              <a:ext cx="57300" cy="1428900"/>
            </a:xfrm>
            <a:prstGeom prst="roundRect">
              <a:avLst>
                <a:gd name="adj" fmla="val 50000"/>
              </a:avLst>
            </a:prstGeom>
            <a:solidFill>
              <a:srgbClr val="10B981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595;p32"/>
            <p:cNvSpPr/>
            <p:nvPr/>
          </p:nvSpPr>
          <p:spPr>
            <a:xfrm>
              <a:off x="228600" y="190500"/>
              <a:ext cx="342900" cy="342900"/>
            </a:xfrm>
            <a:prstGeom prst="roundRect">
              <a:avLst>
                <a:gd name="adj" fmla="val 22222"/>
              </a:avLst>
            </a:prstGeom>
            <a:solidFill>
              <a:srgbClr val="064E3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596;p32"/>
            <p:cNvSpPr txBox="1"/>
            <p:nvPr/>
          </p:nvSpPr>
          <p:spPr>
            <a:xfrm>
              <a:off x="228600" y="190500"/>
              <a:ext cx="34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10B981"/>
                  </a:solidFill>
                  <a:latin typeface="Fira Code"/>
                  <a:ea typeface="Fira Code"/>
                  <a:cs typeface="Fira Code"/>
                  <a:sym typeface="Fira Code"/>
                </a:rPr>
                <a:t>01</a:t>
              </a:r>
              <a:endParaRPr sz="1300" b="1">
                <a:solidFill>
                  <a:srgbClr val="10B981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sp>
          <p:nvSpPr>
            <p:cNvPr id="597" name="Google Shape;597;p32"/>
            <p:cNvSpPr txBox="1"/>
            <p:nvPr/>
          </p:nvSpPr>
          <p:spPr>
            <a:xfrm>
              <a:off x="704850" y="152400"/>
              <a:ext cx="35814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Step 1 (The Trigger)</a:t>
              </a:r>
              <a:endParaRPr sz="1300" b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Initialize the script to spin up the agents (</a:t>
              </a:r>
              <a:r>
                <a:rPr lang="en-US" sz="1050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standards_mapper</a:t>
              </a: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-&gt; </a:t>
              </a:r>
              <a:r>
                <a:rPr lang="en-US" sz="1050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module_outline_generator</a:t>
              </a: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-&gt; </a:t>
              </a:r>
              <a:r>
                <a:rPr lang="en-US" sz="1050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assessment_generator</a:t>
              </a: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).</a:t>
              </a:r>
              <a:endParaRPr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598" name="Google Shape;598;p32"/>
          <p:cNvGrpSpPr/>
          <p:nvPr/>
        </p:nvGrpSpPr>
        <p:grpSpPr>
          <a:xfrm>
            <a:off x="7143750" y="3095625"/>
            <a:ext cx="4476900" cy="1428900"/>
            <a:chOff x="0" y="0"/>
            <a:chExt cx="4476900" cy="1428900"/>
          </a:xfrm>
        </p:grpSpPr>
        <p:sp>
          <p:nvSpPr>
            <p:cNvPr id="599" name="Google Shape;599;p32"/>
            <p:cNvSpPr/>
            <p:nvPr/>
          </p:nvSpPr>
          <p:spPr>
            <a:xfrm>
              <a:off x="0" y="0"/>
              <a:ext cx="4476900" cy="14289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600;p32"/>
            <p:cNvSpPr/>
            <p:nvPr/>
          </p:nvSpPr>
          <p:spPr>
            <a:xfrm>
              <a:off x="0" y="0"/>
              <a:ext cx="57300" cy="1428900"/>
            </a:xfrm>
            <a:prstGeom prst="roundRect">
              <a:avLst>
                <a:gd name="adj" fmla="val 50000"/>
              </a:avLst>
            </a:prstGeom>
            <a:solidFill>
              <a:srgbClr val="F59E0B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601;p32"/>
            <p:cNvSpPr/>
            <p:nvPr/>
          </p:nvSpPr>
          <p:spPr>
            <a:xfrm>
              <a:off x="228600" y="190500"/>
              <a:ext cx="342900" cy="342900"/>
            </a:xfrm>
            <a:prstGeom prst="roundRect">
              <a:avLst>
                <a:gd name="adj" fmla="val 22222"/>
              </a:avLst>
            </a:prstGeom>
            <a:solidFill>
              <a:srgbClr val="78350F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602;p32"/>
            <p:cNvSpPr txBox="1"/>
            <p:nvPr/>
          </p:nvSpPr>
          <p:spPr>
            <a:xfrm>
              <a:off x="228600" y="190500"/>
              <a:ext cx="34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F59E0B"/>
                  </a:solidFill>
                  <a:latin typeface="Fira Code"/>
                  <a:ea typeface="Fira Code"/>
                  <a:cs typeface="Fira Code"/>
                  <a:sym typeface="Fira Code"/>
                </a:rPr>
                <a:t>02</a:t>
              </a:r>
              <a:endParaRPr sz="1300" b="1">
                <a:solidFill>
                  <a:srgbClr val="F59E0B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sp>
          <p:nvSpPr>
            <p:cNvPr id="603" name="Google Shape;603;p32"/>
            <p:cNvSpPr txBox="1"/>
            <p:nvPr/>
          </p:nvSpPr>
          <p:spPr>
            <a:xfrm>
              <a:off x="704850" y="152400"/>
              <a:ext cx="35814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Step 2 (The Pause)</a:t>
              </a:r>
              <a:endParaRPr sz="1300" b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Watch the graph automatically halt at </a:t>
              </a:r>
              <a:r>
                <a:rPr lang="en-US" sz="1050">
                  <a:solidFill>
                    <a:srgbClr val="F59E0B"/>
                  </a:solidFill>
                  <a:latin typeface="Fira Code"/>
                  <a:ea typeface="Fira Code"/>
                  <a:cs typeface="Fira Code"/>
                  <a:sym typeface="Fira Code"/>
                </a:rPr>
                <a:t>interrupt_before</a:t>
              </a: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 human review, persisting state safely to PostgreSQL.</a:t>
              </a:r>
              <a:endParaRPr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  <p:grpSp>
        <p:nvGrpSpPr>
          <p:cNvPr id="604" name="Google Shape;604;p32"/>
          <p:cNvGrpSpPr/>
          <p:nvPr/>
        </p:nvGrpSpPr>
        <p:grpSpPr>
          <a:xfrm>
            <a:off x="7143750" y="4762500"/>
            <a:ext cx="4476900" cy="1428900"/>
            <a:chOff x="0" y="0"/>
            <a:chExt cx="4476900" cy="1428900"/>
          </a:xfrm>
        </p:grpSpPr>
        <p:sp>
          <p:nvSpPr>
            <p:cNvPr id="605" name="Google Shape;605;p32"/>
            <p:cNvSpPr/>
            <p:nvPr/>
          </p:nvSpPr>
          <p:spPr>
            <a:xfrm>
              <a:off x="0" y="0"/>
              <a:ext cx="4476900" cy="1428900"/>
            </a:xfrm>
            <a:prstGeom prst="roundRect">
              <a:avLst>
                <a:gd name="adj" fmla="val 8000"/>
              </a:avLst>
            </a:prstGeom>
            <a:solidFill>
              <a:srgbClr val="1E293B"/>
            </a:solidFill>
            <a:ln w="9525" cap="flat" cmpd="sng">
              <a:solidFill>
                <a:srgbClr val="33415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2"/>
            <p:cNvSpPr/>
            <p:nvPr/>
          </p:nvSpPr>
          <p:spPr>
            <a:xfrm>
              <a:off x="0" y="0"/>
              <a:ext cx="57300" cy="1428900"/>
            </a:xfrm>
            <a:prstGeom prst="roundRect">
              <a:avLst>
                <a:gd name="adj" fmla="val 50000"/>
              </a:avLst>
            </a:prstGeom>
            <a:solidFill>
              <a:srgbClr val="38BDF8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2"/>
            <p:cNvSpPr/>
            <p:nvPr/>
          </p:nvSpPr>
          <p:spPr>
            <a:xfrm>
              <a:off x="228600" y="190500"/>
              <a:ext cx="342900" cy="342900"/>
            </a:xfrm>
            <a:prstGeom prst="roundRect">
              <a:avLst>
                <a:gd name="adj" fmla="val 22222"/>
              </a:avLst>
            </a:prstGeom>
            <a:solidFill>
              <a:srgbClr val="0C4A6E"/>
            </a:solidFill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608;p32"/>
            <p:cNvSpPr txBox="1"/>
            <p:nvPr/>
          </p:nvSpPr>
          <p:spPr>
            <a:xfrm>
              <a:off x="228600" y="190500"/>
              <a:ext cx="342900" cy="342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38BDF8"/>
                  </a:solidFill>
                  <a:latin typeface="Fira Code"/>
                  <a:ea typeface="Fira Code"/>
                  <a:cs typeface="Fira Code"/>
                  <a:sym typeface="Fira Code"/>
                </a:rPr>
                <a:t>03</a:t>
              </a:r>
              <a:endParaRPr sz="1300" b="1">
                <a:solidFill>
                  <a:srgbClr val="38BDF8"/>
                </a:solidFill>
                <a:latin typeface="Fira Code"/>
                <a:ea typeface="Fira Code"/>
                <a:cs typeface="Fira Code"/>
                <a:sym typeface="Fira Code"/>
              </a:endParaRPr>
            </a:p>
          </p:txBody>
        </p:sp>
        <p:sp>
          <p:nvSpPr>
            <p:cNvPr id="609" name="Google Shape;609;p32"/>
            <p:cNvSpPr txBox="1"/>
            <p:nvPr/>
          </p:nvSpPr>
          <p:spPr>
            <a:xfrm>
              <a:off x="704850" y="152400"/>
              <a:ext cx="3581400" cy="11241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300" b="1">
                  <a:solidFill>
                    <a:srgbClr val="F8FAFC"/>
                  </a:solidFill>
                  <a:latin typeface="Inter"/>
                  <a:ea typeface="Inter"/>
                  <a:cs typeface="Inter"/>
                  <a:sym typeface="Inter"/>
                </a:rPr>
                <a:t>Step 3 (The Resume)</a:t>
              </a:r>
              <a:endParaRPr sz="1300" b="1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endParaRPr>
            </a:p>
            <a:p>
              <a:pPr marL="0" lvl="0" indent="0" algn="l" rtl="0">
                <a:spcBef>
                  <a:spcPts val="450"/>
                </a:spcBef>
                <a:spcAft>
                  <a:spcPts val="0"/>
                </a:spcAft>
                <a:buNone/>
              </a:pPr>
              <a:r>
                <a:rPr lang="en-US" sz="1050">
                  <a:solidFill>
                    <a:srgbClr val="94A3B8"/>
                  </a:solidFill>
                  <a:latin typeface="Inter"/>
                  <a:ea typeface="Inter"/>
                  <a:cs typeface="Inter"/>
                  <a:sym typeface="Inter"/>
                </a:rPr>
                <a:t>Fetch the pending review via the service, approve the decision, and watch the graph resume execution seamlessly.</a:t>
              </a:r>
              <a:endParaRPr sz="1050">
                <a:solidFill>
                  <a:srgbClr val="94A3B8"/>
                </a:solidFill>
                <a:latin typeface="Inter"/>
                <a:ea typeface="Inter"/>
                <a:cs typeface="Inter"/>
                <a:sym typeface="Inter"/>
              </a:endParaRP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3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33"/>
          <p:cNvSpPr txBox="1"/>
          <p:nvPr/>
        </p:nvSpPr>
        <p:spPr>
          <a:xfrm>
            <a:off x="571500" y="2013793"/>
            <a:ext cx="11049000" cy="335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F8FAFC"/>
                </a:solidFill>
                <a:latin typeface="Inter"/>
                <a:ea typeface="Inter"/>
                <a:cs typeface="Inter"/>
                <a:sym typeface="Inter"/>
              </a:rPr>
              <a:t>Coming Up: What you'll do in the lab</a:t>
            </a:r>
            <a:endParaRPr/>
          </a:p>
        </p:txBody>
      </p:sp>
      <p:sp>
        <p:nvSpPr>
          <p:cNvPr id="616" name="Google Shape;616;p33"/>
          <p:cNvSpPr txBox="1"/>
          <p:nvPr/>
        </p:nvSpPr>
        <p:spPr>
          <a:xfrm>
            <a:off x="1684725" y="2763023"/>
            <a:ext cx="10763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>
                <a:solidFill>
                  <a:schemeClr val="lt1"/>
                </a:solidFill>
              </a:rPr>
              <a:t>Spin up &amp; Verify:</a:t>
            </a:r>
            <a:r>
              <a:rPr lang="en-US" sz="1500">
                <a:solidFill>
                  <a:schemeClr val="lt1"/>
                </a:solidFill>
              </a:rPr>
              <a:t> Run the local environment, Postgres, and architecture tests. </a:t>
            </a:r>
            <a:endParaRPr sz="1800">
              <a:solidFill>
                <a:schemeClr val="lt1"/>
              </a:solidFill>
            </a:endParaRPr>
          </a:p>
        </p:txBody>
      </p:sp>
      <p:sp>
        <p:nvSpPr>
          <p:cNvPr id="617" name="Google Shape;617;p33"/>
          <p:cNvSpPr txBox="1"/>
          <p:nvPr/>
        </p:nvSpPr>
        <p:spPr>
          <a:xfrm>
            <a:off x="1681261" y="3390675"/>
            <a:ext cx="10763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</a:rPr>
              <a:t>Execute &amp; Inspect: Run the HITL workflow, pause at the review gate, and approve via the AP</a:t>
            </a:r>
            <a:r>
              <a:rPr lang="en-US" sz="1300">
                <a:solidFill>
                  <a:schemeClr val="lt1"/>
                </a:solidFill>
              </a:rPr>
              <a:t>I. </a:t>
            </a:r>
            <a:endParaRPr sz="1600">
              <a:solidFill>
                <a:schemeClr val="lt1"/>
              </a:solidFill>
            </a:endParaRPr>
          </a:p>
        </p:txBody>
      </p:sp>
      <p:sp>
        <p:nvSpPr>
          <p:cNvPr id="618" name="Google Shape;618;p33"/>
          <p:cNvSpPr txBox="1"/>
          <p:nvPr/>
        </p:nvSpPr>
        <p:spPr>
          <a:xfrm>
            <a:off x="1681261" y="4061145"/>
            <a:ext cx="10763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</a:rPr>
              <a:t>Break &amp; Fix: Reproduce the state bugs (reducers and serialization) and implement the fixe</a:t>
            </a:r>
            <a:r>
              <a:rPr lang="en-US" sz="1300">
                <a:solidFill>
                  <a:schemeClr val="lt1"/>
                </a:solidFill>
              </a:rPr>
              <a:t>s.</a:t>
            </a:r>
            <a:r>
              <a:rPr lang="en-US" sz="1300">
                <a:solidFill>
                  <a:schemeClr val="dk1"/>
                </a:solidFill>
              </a:rPr>
              <a:t> </a:t>
            </a:r>
            <a:endParaRPr sz="1600"/>
          </a:p>
        </p:txBody>
      </p:sp>
      <p:sp>
        <p:nvSpPr>
          <p:cNvPr id="619" name="Google Shape;619;p33"/>
          <p:cNvSpPr txBox="1"/>
          <p:nvPr/>
        </p:nvSpPr>
        <p:spPr>
          <a:xfrm>
            <a:off x="1712793" y="4731604"/>
            <a:ext cx="10763400" cy="23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chemeClr val="lt1"/>
                </a:solidFill>
              </a:rPr>
              <a:t>Stretch Challenges: Tackle advanced tasks including writing the ADR documentation</a:t>
            </a:r>
            <a:r>
              <a:rPr lang="en-US" sz="1300">
                <a:solidFill>
                  <a:schemeClr val="dk1"/>
                </a:solidFill>
              </a:rPr>
              <a:t>. </a:t>
            </a:r>
            <a:endParaRPr sz="1600"/>
          </a:p>
        </p:txBody>
      </p:sp>
      <p:sp>
        <p:nvSpPr>
          <p:cNvPr id="620" name="Google Shape;620;p33"/>
          <p:cNvSpPr txBox="1"/>
          <p:nvPr/>
        </p:nvSpPr>
        <p:spPr>
          <a:xfrm>
            <a:off x="1265625" y="2720204"/>
            <a:ext cx="133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sz="1600"/>
          </a:p>
        </p:txBody>
      </p:sp>
      <p:sp>
        <p:nvSpPr>
          <p:cNvPr id="621" name="Google Shape;621;p33"/>
          <p:cNvSpPr txBox="1"/>
          <p:nvPr/>
        </p:nvSpPr>
        <p:spPr>
          <a:xfrm>
            <a:off x="1265625" y="3390675"/>
            <a:ext cx="133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sz="1600"/>
          </a:p>
        </p:txBody>
      </p:sp>
      <p:sp>
        <p:nvSpPr>
          <p:cNvPr id="622" name="Google Shape;622;p33"/>
          <p:cNvSpPr txBox="1"/>
          <p:nvPr/>
        </p:nvSpPr>
        <p:spPr>
          <a:xfrm>
            <a:off x="1265625" y="4061145"/>
            <a:ext cx="133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sz="1600"/>
          </a:p>
        </p:txBody>
      </p:sp>
      <p:sp>
        <p:nvSpPr>
          <p:cNvPr id="623" name="Google Shape;623;p33"/>
          <p:cNvSpPr txBox="1"/>
          <p:nvPr/>
        </p:nvSpPr>
        <p:spPr>
          <a:xfrm>
            <a:off x="1265625" y="4731616"/>
            <a:ext cx="1335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 sz="1600"/>
          </a:p>
        </p:txBody>
      </p:sp>
      <p:sp>
        <p:nvSpPr>
          <p:cNvPr id="624" name="Google Shape;624;p33"/>
          <p:cNvSpPr txBox="1"/>
          <p:nvPr/>
        </p:nvSpPr>
        <p:spPr>
          <a:xfrm>
            <a:off x="571500" y="5316587"/>
            <a:ext cx="133500" cy="21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25" name="Google Shape;625;p33"/>
          <p:cNvSpPr txBox="1"/>
          <p:nvPr/>
        </p:nvSpPr>
        <p:spPr>
          <a:xfrm>
            <a:off x="571500" y="571500"/>
            <a:ext cx="116016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000">
                <a:solidFill>
                  <a:srgbClr val="F8FAFC"/>
                </a:solidFill>
                <a:latin typeface="Poppins SemiBold"/>
                <a:ea typeface="Poppins SemiBold"/>
                <a:cs typeface="Poppins SemiBold"/>
                <a:sym typeface="Poppins SemiBold"/>
              </a:rPr>
              <a:t>Next Up: The Hands-On Lab</a:t>
            </a:r>
            <a:endParaRPr/>
          </a:p>
        </p:txBody>
      </p:sp>
      <p:sp>
        <p:nvSpPr>
          <p:cNvPr id="626" name="Google Shape;626;p33"/>
          <p:cNvSpPr/>
          <p:nvPr/>
        </p:nvSpPr>
        <p:spPr>
          <a:xfrm>
            <a:off x="571500" y="1171575"/>
            <a:ext cx="11049000" cy="1905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1" name="Google Shape;631;p3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32" name="Google Shape;632;p3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809750" y="1714797"/>
            <a:ext cx="8572500" cy="3613249"/>
          </a:xfrm>
          <a:prstGeom prst="rect">
            <a:avLst/>
          </a:prstGeom>
          <a:noFill/>
          <a:ln>
            <a:noFill/>
          </a:ln>
        </p:spPr>
      </p:pic>
      <p:sp>
        <p:nvSpPr>
          <p:cNvPr id="633" name="Google Shape;633;p34"/>
          <p:cNvSpPr txBox="1"/>
          <p:nvPr/>
        </p:nvSpPr>
        <p:spPr>
          <a:xfrm>
            <a:off x="1365408" y="762297"/>
            <a:ext cx="9461182" cy="57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750" b="1" i="0" u="none" strike="noStrike" cap="none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Recap &amp; Q&amp;A</a:t>
            </a:r>
            <a:endParaRPr/>
          </a:p>
        </p:txBody>
      </p:sp>
      <p:sp>
        <p:nvSpPr>
          <p:cNvPr id="634" name="Google Shape;634;p34"/>
          <p:cNvSpPr txBox="1"/>
          <p:nvPr/>
        </p:nvSpPr>
        <p:spPr>
          <a:xfrm>
            <a:off x="1590675" y="5709046"/>
            <a:ext cx="9010650" cy="243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59E0B"/>
                </a:solidFill>
                <a:latin typeface="Fira Code"/>
                <a:ea typeface="Fira Code"/>
                <a:cs typeface="Fira Code"/>
                <a:sym typeface="Fira Code"/>
              </a:rPr>
              <a:t>Questions? → docs/adr/, docs/AI-USAGE-LOG.md, and backend/tests/ are the real source of truth.</a:t>
            </a:r>
            <a:endParaRPr/>
          </a:p>
        </p:txBody>
      </p:sp>
      <p:sp>
        <p:nvSpPr>
          <p:cNvPr id="635" name="Google Shape;635;p34"/>
          <p:cNvSpPr txBox="1"/>
          <p:nvPr/>
        </p:nvSpPr>
        <p:spPr>
          <a:xfrm>
            <a:off x="2390775" y="2010072"/>
            <a:ext cx="7696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BAE6FD"/>
                </a:solidFill>
                <a:latin typeface="Inter"/>
                <a:ea typeface="Inter"/>
                <a:cs typeface="Inter"/>
                <a:sym typeface="Inter"/>
              </a:rPr>
              <a:t>A graph buys you pause/resume, retry, and conditional routing for free — but only if state is designed carefully.</a:t>
            </a:r>
            <a:endParaRPr/>
          </a:p>
        </p:txBody>
      </p:sp>
      <p:sp>
        <p:nvSpPr>
          <p:cNvPr id="636" name="Google Shape;636;p34"/>
          <p:cNvSpPr txBox="1"/>
          <p:nvPr/>
        </p:nvSpPr>
        <p:spPr>
          <a:xfrm>
            <a:off x="2390775" y="2874764"/>
            <a:ext cx="76962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BAE6FD"/>
                </a:solidFill>
                <a:latin typeface="Inter"/>
                <a:ea typeface="Inter"/>
                <a:cs typeface="Inter"/>
                <a:sym typeface="Inter"/>
              </a:rPr>
              <a:t>Every field a node can update more than once needs an explicit reducer.</a:t>
            </a:r>
            <a:endParaRPr/>
          </a:p>
        </p:txBody>
      </p:sp>
      <p:sp>
        <p:nvSpPr>
          <p:cNvPr id="637" name="Google Shape;637;p34"/>
          <p:cNvSpPr txBox="1"/>
          <p:nvPr/>
        </p:nvSpPr>
        <p:spPr>
          <a:xfrm>
            <a:off x="2390775" y="3449984"/>
            <a:ext cx="76962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BAE6FD"/>
                </a:solidFill>
                <a:latin typeface="Inter"/>
                <a:ea typeface="Inter"/>
                <a:cs typeface="Inter"/>
                <a:sym typeface="Inter"/>
              </a:rPr>
              <a:t>Anything that reaches checkpointed state must be a real, serializable domain object.</a:t>
            </a:r>
            <a:endParaRPr/>
          </a:p>
        </p:txBody>
      </p:sp>
      <p:sp>
        <p:nvSpPr>
          <p:cNvPr id="638" name="Google Shape;638;p34"/>
          <p:cNvSpPr txBox="1"/>
          <p:nvPr/>
        </p:nvSpPr>
        <p:spPr>
          <a:xfrm>
            <a:off x="2390775" y="4025205"/>
            <a:ext cx="76962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BAE6FD"/>
                </a:solidFill>
                <a:latin typeface="Inter"/>
                <a:ea typeface="Inter"/>
                <a:cs typeface="Inter"/>
                <a:sym typeface="Inter"/>
              </a:rPr>
              <a:t>Side-effecting nodes must assume they can be re-invoked.</a:t>
            </a:r>
            <a:endParaRPr/>
          </a:p>
        </p:txBody>
      </p:sp>
      <p:sp>
        <p:nvSpPr>
          <p:cNvPr id="639" name="Google Shape;639;p34"/>
          <p:cNvSpPr txBox="1"/>
          <p:nvPr/>
        </p:nvSpPr>
        <p:spPr>
          <a:xfrm>
            <a:off x="2390775" y="4600426"/>
            <a:ext cx="7696200" cy="28947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BAE6FD"/>
                </a:solidFill>
                <a:latin typeface="Inter"/>
                <a:ea typeface="Inter"/>
                <a:cs typeface="Inter"/>
                <a:sym typeface="Inter"/>
              </a:rPr>
              <a:t>"Stopped streaming" and "stopped computing" are two different things.</a:t>
            </a:r>
            <a:endParaRPr/>
          </a:p>
        </p:txBody>
      </p:sp>
      <p:sp>
        <p:nvSpPr>
          <p:cNvPr id="640" name="Google Shape;640;p34"/>
          <p:cNvSpPr txBox="1"/>
          <p:nvPr/>
        </p:nvSpPr>
        <p:spPr>
          <a:xfrm>
            <a:off x="2105025" y="2010072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641" name="Google Shape;641;p34"/>
          <p:cNvSpPr txBox="1"/>
          <p:nvPr/>
        </p:nvSpPr>
        <p:spPr>
          <a:xfrm>
            <a:off x="2105025" y="2874764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642" name="Google Shape;642;p34"/>
          <p:cNvSpPr txBox="1"/>
          <p:nvPr/>
        </p:nvSpPr>
        <p:spPr>
          <a:xfrm>
            <a:off x="2105025" y="3449984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643" name="Google Shape;643;p34"/>
          <p:cNvSpPr txBox="1"/>
          <p:nvPr/>
        </p:nvSpPr>
        <p:spPr>
          <a:xfrm>
            <a:off x="2105025" y="4025205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  <p:sp>
        <p:nvSpPr>
          <p:cNvPr id="644" name="Google Shape;644;p34"/>
          <p:cNvSpPr txBox="1"/>
          <p:nvPr/>
        </p:nvSpPr>
        <p:spPr>
          <a:xfrm>
            <a:off x="2105025" y="4600426"/>
            <a:ext cx="133350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>
                <a:solidFill>
                  <a:srgbClr val="38BDF8"/>
                </a:solidFill>
                <a:latin typeface="Inter"/>
                <a:ea typeface="Inter"/>
                <a:cs typeface="Inter"/>
                <a:sym typeface="Inter"/>
              </a:rPr>
              <a:t>•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Shape 6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49" name="Google Shape;649;p3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650" name="Google Shape;650;p35"/>
          <p:cNvSpPr txBox="1"/>
          <p:nvPr/>
        </p:nvSpPr>
        <p:spPr>
          <a:xfrm>
            <a:off x="1333500" y="2979475"/>
            <a:ext cx="9525000" cy="620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spcFirstLastPara="1" wrap="square" lIns="0" tIns="0" rIns="0" bIns="0" anchor="ctr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30" b="1">
                <a:solidFill>
                  <a:srgbClr val="F8FAFC"/>
                </a:solidFill>
                <a:latin typeface="Poppins"/>
                <a:ea typeface="Poppins"/>
                <a:cs typeface="Poppins"/>
                <a:sym typeface="Poppins"/>
              </a:rPr>
              <a:t>Thank You!</a:t>
            </a:r>
            <a:endParaRPr sz="4030" b="1">
              <a:solidFill>
                <a:srgbClr val="38BDF8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651" name="Google Shape;651;p35"/>
          <p:cNvSpPr txBox="1"/>
          <p:nvPr/>
        </p:nvSpPr>
        <p:spPr>
          <a:xfrm>
            <a:off x="5739300" y="4739275"/>
            <a:ext cx="5119200" cy="49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chemeClr val="lt1"/>
                </a:solidFill>
              </a:rPr>
              <a:t>Rana Alaa Abdelaziz | Software Developer </a:t>
            </a:r>
            <a:endParaRPr sz="20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1858</Words>
  <Application>Microsoft Office PowerPoint</Application>
  <PresentationFormat>Widescreen</PresentationFormat>
  <Paragraphs>204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5" baseType="lpstr">
      <vt:lpstr>Material Icons</vt:lpstr>
      <vt:lpstr>Poppins</vt:lpstr>
      <vt:lpstr>Courier New</vt:lpstr>
      <vt:lpstr>Fira Code</vt:lpstr>
      <vt:lpstr>Poppins SemiBold</vt:lpstr>
      <vt:lpstr>Inter SemiBold</vt:lpstr>
      <vt:lpstr>Inter</vt:lpstr>
      <vt:lpstr>Fira Code SemiBold</vt:lpstr>
      <vt:lpstr>Arial</vt:lpstr>
      <vt:lpstr>Roboto Mono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Rana Alaa</cp:lastModifiedBy>
  <cp:revision>1</cp:revision>
  <dcterms:modified xsi:type="dcterms:W3CDTF">2026-09-18T17:09:20Z</dcterms:modified>
</cp:coreProperties>
</file>