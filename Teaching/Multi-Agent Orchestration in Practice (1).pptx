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Inter SemiBold"/>
      <p:regular r:id="rId29"/>
      <p:bold r:id="rId30"/>
      <p:italic r:id="rId31"/>
      <p:boldItalic r:id="rId32"/>
    </p:embeddedFont>
    <p:embeddedFont>
      <p:font typeface="Poppins"/>
      <p:bold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Fira Code SemiBold"/>
      <p:regular r:id="rId39"/>
      <p:bold r:id="rId40"/>
    </p:embeddedFont>
    <p:embeddedFont>
      <p:font typeface="Fira Code"/>
      <p:bold r:id="rId41"/>
    </p:embeddedFont>
    <p:embeddedFont>
      <p:font typeface="Poppins SemiBold"/>
      <p:regular r:id="rId42"/>
      <p:bold r:id="rId43"/>
      <p:italic r:id="rId44"/>
      <p:boldItalic r:id="rId45"/>
    </p:embeddedFont>
    <p:embeddedFont>
      <p:font typeface="Roboto Mon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CodeSemiBold-bold.fntdata"/><Relationship Id="rId42" Type="http://schemas.openxmlformats.org/officeDocument/2006/relationships/font" Target="fonts/PoppinsSemiBold-regular.fntdata"/><Relationship Id="rId41" Type="http://schemas.openxmlformats.org/officeDocument/2006/relationships/font" Target="fonts/FiraCode-bold.fntdata"/><Relationship Id="rId44" Type="http://schemas.openxmlformats.org/officeDocument/2006/relationships/font" Target="fonts/PoppinsSemiBold-italic.fntdata"/><Relationship Id="rId43" Type="http://schemas.openxmlformats.org/officeDocument/2006/relationships/font" Target="fonts/PoppinsSemiBold-bold.fntdata"/><Relationship Id="rId46" Type="http://schemas.openxmlformats.org/officeDocument/2006/relationships/font" Target="fonts/RobotoMono-regular.fntdata"/><Relationship Id="rId45" Type="http://schemas.openxmlformats.org/officeDocument/2006/relationships/font" Target="fonts/Poppi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SemiBold-italic.fntdata"/><Relationship Id="rId30" Type="http://schemas.openxmlformats.org/officeDocument/2006/relationships/font" Target="fonts/InterSemiBold-bold.fntdata"/><Relationship Id="rId33" Type="http://schemas.openxmlformats.org/officeDocument/2006/relationships/font" Target="fonts/Poppins-bold.fntdata"/><Relationship Id="rId32" Type="http://schemas.openxmlformats.org/officeDocument/2006/relationships/font" Target="fonts/InterSemiBold-boldItalic.fntdata"/><Relationship Id="rId35" Type="http://schemas.openxmlformats.org/officeDocument/2006/relationships/font" Target="fonts/Inter-regular.fntdata"/><Relationship Id="rId34" Type="http://schemas.openxmlformats.org/officeDocument/2006/relationships/font" Target="fonts/Poppins-boldItalic.fntdata"/><Relationship Id="rId37" Type="http://schemas.openxmlformats.org/officeDocument/2006/relationships/font" Target="fonts/Inter-italic.fntdata"/><Relationship Id="rId36" Type="http://schemas.openxmlformats.org/officeDocument/2006/relationships/font" Target="fonts/Inter-bold.fntdata"/><Relationship Id="rId39" Type="http://schemas.openxmlformats.org/officeDocument/2006/relationships/font" Target="fonts/FiraCodeSemiBold-regular.fntdata"/><Relationship Id="rId38" Type="http://schemas.openxmlformats.org/officeDocument/2006/relationships/font" Target="fonts/Inter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font" Target="fonts/Inter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8cf72dab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fb8cf72dab_1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8cf72dab_1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b8cf72dab_1_5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1d241ae6d83a1144_35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h1d241ae6d83a1144_35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b8cf72dab_1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b8cf72dab_1_1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b8cf72dab_1_1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b8cf72dab_1_16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1d241ae6d83a1144_3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h1d241ae6d83a1144_35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1d241ae6d83a1144_35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h1d241ae6d83a1144_35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1d241ae6d83a1144_35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h1d241ae6d83a1144_35_4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1d241ae6d83a1144_35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h1d241ae6d83a1144_35_1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1d241ae6d83a1144_35_1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h1d241ae6d83a1144_35_13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h1d241ae6d83a1144_35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h1d241ae6d83a1144_35_13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h1d241ae6d83a1144_35_1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h1d241ae6d83a1144_35_18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10" Type="http://schemas.openxmlformats.org/officeDocument/2006/relationships/image" Target="../media/image7.png"/><Relationship Id="rId9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37.png"/><Relationship Id="rId7" Type="http://schemas.openxmlformats.org/officeDocument/2006/relationships/image" Target="../media/image7.png"/><Relationship Id="rId8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Relationship Id="rId4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36.png"/><Relationship Id="rId5" Type="http://schemas.openxmlformats.org/officeDocument/2006/relationships/image" Target="../media/image4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0.png"/><Relationship Id="rId10" Type="http://schemas.openxmlformats.org/officeDocument/2006/relationships/image" Target="../media/image49.png"/><Relationship Id="rId9" Type="http://schemas.openxmlformats.org/officeDocument/2006/relationships/image" Target="../media/image46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Relationship Id="rId7" Type="http://schemas.openxmlformats.org/officeDocument/2006/relationships/image" Target="../media/image43.png"/><Relationship Id="rId8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33500" y="2979475"/>
            <a:ext cx="9525000" cy="124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3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Multi-Agent Orchestration</a:t>
            </a:r>
            <a:endParaRPr b="1" sz="403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3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in Practice</a:t>
            </a:r>
            <a:endParaRPr b="1" sz="403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6" name="Google Shape;86;p13"/>
          <p:cNvGrpSpPr/>
          <p:nvPr/>
        </p:nvGrpSpPr>
        <p:grpSpPr>
          <a:xfrm>
            <a:off x="3279675" y="1943325"/>
            <a:ext cx="5632657" cy="690706"/>
            <a:chOff x="0" y="0"/>
            <a:chExt cx="2952900" cy="362100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2952900" cy="3621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2727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0" y="0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98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DOMAIN-COPILOT (D3T5) CASE STUDY</a:t>
              </a:r>
              <a:endParaRPr b="0" sz="2098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5739300" y="4739275"/>
            <a:ext cx="51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Rana Alaa Abdelaziz | Software Developer 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4"/>
          <p:cNvGrpSpPr/>
          <p:nvPr/>
        </p:nvGrpSpPr>
        <p:grpSpPr>
          <a:xfrm>
            <a:off x="346226" y="3122306"/>
            <a:ext cx="11499546" cy="2531974"/>
            <a:chOff x="904875" y="3619500"/>
            <a:chExt cx="10382400" cy="2286000"/>
          </a:xfrm>
        </p:grpSpPr>
        <p:grpSp>
          <p:nvGrpSpPr>
            <p:cNvPr id="96" name="Google Shape;96;p14"/>
            <p:cNvGrpSpPr/>
            <p:nvPr/>
          </p:nvGrpSpPr>
          <p:grpSpPr>
            <a:xfrm>
              <a:off x="904875" y="3619500"/>
              <a:ext cx="3333900" cy="2286000"/>
              <a:chOff x="0" y="0"/>
              <a:chExt cx="3333900" cy="2286000"/>
            </a:xfrm>
          </p:grpSpPr>
          <p:sp>
            <p:nvSpPr>
              <p:cNvPr id="97" name="Google Shape;97;p14"/>
              <p:cNvSpPr/>
              <p:nvPr/>
            </p:nvSpPr>
            <p:spPr>
              <a:xfrm>
                <a:off x="0" y="0"/>
                <a:ext cx="3333900" cy="2286000"/>
              </a:xfrm>
              <a:prstGeom prst="roundRect">
                <a:avLst>
                  <a:gd fmla="val 6666" name="adj"/>
                </a:avLst>
              </a:prstGeom>
              <a:solidFill>
                <a:srgbClr val="1E293B">
                  <a:alpha val="70000"/>
                </a:srgbClr>
              </a:solidFill>
              <a:ln cap="flat" cmpd="sng" w="158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0" y="0"/>
                <a:ext cx="3333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4"/>
              <p:cNvSpPr/>
              <p:nvPr/>
            </p:nvSpPr>
            <p:spPr>
              <a:xfrm>
                <a:off x="190500" y="247650"/>
                <a:ext cx="419100" cy="419100"/>
              </a:xfrm>
              <a:prstGeom prst="ellipse">
                <a:avLst/>
              </a:prstGeom>
              <a:solidFill>
                <a:srgbClr val="0284C7">
                  <a:alpha val="2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4"/>
              <p:cNvSpPr txBox="1"/>
              <p:nvPr/>
            </p:nvSpPr>
            <p:spPr>
              <a:xfrm>
                <a:off x="209550" y="2959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15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hub</a:t>
                </a:r>
                <a:endParaRPr sz="2215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1" name="Google Shape;101;p14"/>
              <p:cNvSpPr txBox="1"/>
              <p:nvPr/>
            </p:nvSpPr>
            <p:spPr>
              <a:xfrm>
                <a:off x="762000" y="304800"/>
                <a:ext cx="23337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61">
                    <a:solidFill>
                      <a:srgbClr val="0EA5E9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01 / GENERATION</a:t>
                </a:r>
                <a:endParaRPr b="1" sz="1661">
                  <a:solidFill>
                    <a:srgbClr val="0EA5E9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  <p:sp>
            <p:nvSpPr>
              <p:cNvPr id="102" name="Google Shape;102;p14"/>
              <p:cNvSpPr txBox="1"/>
              <p:nvPr/>
            </p:nvSpPr>
            <p:spPr>
              <a:xfrm>
                <a:off x="266700" y="781050"/>
                <a:ext cx="28005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772">
                    <a:solidFill>
                      <a:srgbClr val="F8FAFC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Three Generation Agents</a:t>
                </a:r>
                <a:endParaRPr b="0" sz="1772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665"/>
                  </a:spcBef>
                  <a:spcAft>
                    <a:spcPts val="0"/>
                  </a:spcAft>
                  <a:buNone/>
                </a:pPr>
                <a:r>
                  <a:rPr b="0" lang="en-US" sz="1329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Producing competency reports, module outlines, and assessment items grounded in corpus evidence.</a:t>
                </a:r>
                <a:endParaRPr b="0" sz="1329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3" name="Google Shape;103;p14"/>
            <p:cNvGrpSpPr/>
            <p:nvPr/>
          </p:nvGrpSpPr>
          <p:grpSpPr>
            <a:xfrm>
              <a:off x="4429125" y="3619500"/>
              <a:ext cx="3333900" cy="2286000"/>
              <a:chOff x="0" y="0"/>
              <a:chExt cx="3333900" cy="2286000"/>
            </a:xfrm>
          </p:grpSpPr>
          <p:sp>
            <p:nvSpPr>
              <p:cNvPr id="104" name="Google Shape;104;p14"/>
              <p:cNvSpPr/>
              <p:nvPr/>
            </p:nvSpPr>
            <p:spPr>
              <a:xfrm>
                <a:off x="0" y="0"/>
                <a:ext cx="3333900" cy="2286000"/>
              </a:xfrm>
              <a:prstGeom prst="roundRect">
                <a:avLst>
                  <a:gd fmla="val 6666" name="adj"/>
                </a:avLst>
              </a:prstGeom>
              <a:solidFill>
                <a:srgbClr val="1E293B">
                  <a:alpha val="70000"/>
                </a:srgbClr>
              </a:solidFill>
              <a:ln cap="flat" cmpd="sng" w="158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0" y="0"/>
                <a:ext cx="3333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34D3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190500" y="247650"/>
                <a:ext cx="419100" cy="419100"/>
              </a:xfrm>
              <a:prstGeom prst="ellipse">
                <a:avLst/>
              </a:prstGeom>
              <a:solidFill>
                <a:srgbClr val="059669">
                  <a:alpha val="2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4"/>
              <p:cNvSpPr txBox="1"/>
              <p:nvPr/>
            </p:nvSpPr>
            <p:spPr>
              <a:xfrm>
                <a:off x="209550" y="2959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15">
                    <a:solidFill>
                      <a:srgbClr val="34D3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verified_user</a:t>
                </a:r>
                <a:endParaRPr sz="2215">
                  <a:solidFill>
                    <a:srgbClr val="34D3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8" name="Google Shape;108;p14"/>
              <p:cNvSpPr txBox="1"/>
              <p:nvPr/>
            </p:nvSpPr>
            <p:spPr>
              <a:xfrm>
                <a:off x="762000" y="304800"/>
                <a:ext cx="23337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61">
                    <a:solidFill>
                      <a:srgbClr val="10B981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02 / HUMAN-IN-THE-LOOP</a:t>
                </a:r>
                <a:endParaRPr b="1" sz="1661">
                  <a:solidFill>
                    <a:srgbClr val="10B981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  <p:sp>
            <p:nvSpPr>
              <p:cNvPr id="109" name="Google Shape;109;p14"/>
              <p:cNvSpPr txBox="1"/>
              <p:nvPr/>
            </p:nvSpPr>
            <p:spPr>
              <a:xfrm>
                <a:off x="266700" y="781050"/>
                <a:ext cx="28005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772">
                    <a:solidFill>
                      <a:srgbClr val="F8FAFC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Durable Review Gate</a:t>
                </a:r>
                <a:endParaRPr b="0" sz="1772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665"/>
                  </a:spcBef>
                  <a:spcAft>
                    <a:spcPts val="0"/>
                  </a:spcAft>
                  <a:buNone/>
                </a:pPr>
                <a:r>
                  <a:rPr b="0" lang="en-US" sz="1329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State persistence using Postgres checkpointers with explicit approval &amp; conditional routing.</a:t>
                </a:r>
                <a:endParaRPr b="0" sz="1329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0" name="Google Shape;110;p14"/>
            <p:cNvGrpSpPr/>
            <p:nvPr/>
          </p:nvGrpSpPr>
          <p:grpSpPr>
            <a:xfrm>
              <a:off x="7953375" y="3619500"/>
              <a:ext cx="3333900" cy="2286000"/>
              <a:chOff x="0" y="0"/>
              <a:chExt cx="3333900" cy="2286000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0" y="0"/>
                <a:ext cx="3333900" cy="2286000"/>
              </a:xfrm>
              <a:prstGeom prst="roundRect">
                <a:avLst>
                  <a:gd fmla="val 6666" name="adj"/>
                </a:avLst>
              </a:prstGeom>
              <a:solidFill>
                <a:srgbClr val="1E293B">
                  <a:alpha val="70000"/>
                </a:srgbClr>
              </a:solidFill>
              <a:ln cap="flat" cmpd="sng" w="158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0" y="0"/>
                <a:ext cx="3333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FBBF2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>
                <a:off x="190500" y="247650"/>
                <a:ext cx="419100" cy="419100"/>
              </a:xfrm>
              <a:prstGeom prst="ellipse">
                <a:avLst/>
              </a:prstGeom>
              <a:solidFill>
                <a:srgbClr val="D97706">
                  <a:alpha val="2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 txBox="1"/>
              <p:nvPr/>
            </p:nvSpPr>
            <p:spPr>
              <a:xfrm>
                <a:off x="209550" y="2959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15">
                    <a:solidFill>
                      <a:srgbClr val="FBBF2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bug_report</a:t>
                </a:r>
                <a:endParaRPr sz="2215">
                  <a:solidFill>
                    <a:srgbClr val="FBBF2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5" name="Google Shape;115;p14"/>
              <p:cNvSpPr txBox="1"/>
              <p:nvPr/>
            </p:nvSpPr>
            <p:spPr>
              <a:xfrm>
                <a:off x="762000" y="304800"/>
                <a:ext cx="23337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61">
                    <a:solidFill>
                      <a:srgbClr val="F59E0B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03 / LESSONS LEARNED</a:t>
                </a:r>
                <a:endParaRPr b="1" sz="1661">
                  <a:solidFill>
                    <a:srgbClr val="F59E0B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  <p:sp>
            <p:nvSpPr>
              <p:cNvPr id="116" name="Google Shape;116;p14"/>
              <p:cNvSpPr txBox="1"/>
              <p:nvPr/>
            </p:nvSpPr>
            <p:spPr>
              <a:xfrm>
                <a:off x="266700" y="781050"/>
                <a:ext cx="28005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772">
                    <a:solidFill>
                      <a:srgbClr val="F8FAFC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Three Real Bugs</a:t>
                </a:r>
                <a:endParaRPr b="0" sz="1772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665"/>
                  </a:spcBef>
                  <a:spcAft>
                    <a:spcPts val="0"/>
                  </a:spcAft>
                  <a:buNone/>
                </a:pPr>
                <a:r>
                  <a:rPr b="0" lang="en-US" sz="1329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Hard-earned lessons on serialization, state transitions, and architectural boundaries in production.</a:t>
                </a:r>
                <a:endParaRPr b="0" sz="1329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7" name="Google Shape;117;p14"/>
          <p:cNvGrpSpPr/>
          <p:nvPr/>
        </p:nvGrpSpPr>
        <p:grpSpPr>
          <a:xfrm>
            <a:off x="3279675" y="595900"/>
            <a:ext cx="5632657" cy="690706"/>
            <a:chOff x="0" y="0"/>
            <a:chExt cx="2952900" cy="362100"/>
          </a:xfrm>
        </p:grpSpPr>
        <p:sp>
          <p:nvSpPr>
            <p:cNvPr id="118" name="Google Shape;118;p14"/>
            <p:cNvSpPr/>
            <p:nvPr/>
          </p:nvSpPr>
          <p:spPr>
            <a:xfrm>
              <a:off x="0" y="0"/>
              <a:ext cx="2952900" cy="3621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2727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0" y="0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98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DOMAIN-COPILOT (D3T5) CASE STUDY</a:t>
              </a:r>
              <a:endParaRPr b="0" sz="2098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20" name="Google Shape;120;p14"/>
          <p:cNvSpPr txBox="1"/>
          <p:nvPr/>
        </p:nvSpPr>
        <p:spPr>
          <a:xfrm>
            <a:off x="1072650" y="1804250"/>
            <a:ext cx="671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How Our System is Built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5"/>
          <p:cNvGrpSpPr/>
          <p:nvPr/>
        </p:nvGrpSpPr>
        <p:grpSpPr>
          <a:xfrm>
            <a:off x="571500" y="428625"/>
            <a:ext cx="11049000" cy="609750"/>
            <a:chOff x="0" y="0"/>
            <a:chExt cx="11049000" cy="609750"/>
          </a:xfrm>
        </p:grpSpPr>
        <p:sp>
          <p:nvSpPr>
            <p:cNvPr id="126" name="Google Shape;126;p15"/>
            <p:cNvSpPr txBox="1"/>
            <p:nvPr/>
          </p:nvSpPr>
          <p:spPr>
            <a:xfrm>
              <a:off x="0" y="0"/>
              <a:ext cx="11049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Session Roadmap</a:t>
              </a:r>
              <a:endParaRPr b="1" sz="30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0" y="590550"/>
              <a:ext cx="11049000" cy="192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571500" y="1285875"/>
            <a:ext cx="5334000" cy="1095300"/>
            <a:chOff x="0" y="0"/>
            <a:chExt cx="5334000" cy="1095300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5334000" cy="1095300"/>
            </a:xfrm>
            <a:prstGeom prst="roundRect">
              <a:avLst>
                <a:gd fmla="val 10434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0" y="0"/>
              <a:ext cx="47700" cy="1095300"/>
            </a:xfrm>
            <a:prstGeom prst="roundRect">
              <a:avLst>
                <a:gd fmla="val 4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209550" y="133350"/>
              <a:ext cx="49341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01 / ORCHESTRATION ARCHITECTURE</a:t>
              </a:r>
              <a:endParaRPr b="1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</a:t>
              </a:r>
              <a:r>
                <a:rPr b="0"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ipeline vs. agent framework, and what a graph buys you</a:t>
              </a:r>
              <a:endParaRPr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2" name="Google Shape;132;p15"/>
          <p:cNvGrpSpPr/>
          <p:nvPr/>
        </p:nvGrpSpPr>
        <p:grpSpPr>
          <a:xfrm>
            <a:off x="571500" y="2552700"/>
            <a:ext cx="5334000" cy="1095300"/>
            <a:chOff x="0" y="0"/>
            <a:chExt cx="5334000" cy="1095300"/>
          </a:xfrm>
        </p:grpSpPr>
        <p:sp>
          <p:nvSpPr>
            <p:cNvPr id="133" name="Google Shape;133;p15"/>
            <p:cNvSpPr/>
            <p:nvPr/>
          </p:nvSpPr>
          <p:spPr>
            <a:xfrm>
              <a:off x="0" y="0"/>
              <a:ext cx="5334000" cy="1095300"/>
            </a:xfrm>
            <a:prstGeom prst="roundRect">
              <a:avLst>
                <a:gd fmla="val 10434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0" y="0"/>
              <a:ext cx="47700" cy="1095300"/>
            </a:xfrm>
            <a:prstGeom prst="roundRect">
              <a:avLst>
                <a:gd fmla="val 4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209550" y="133350"/>
              <a:ext cx="49341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02 / GRAPH STRUCTURE</a:t>
              </a:r>
              <a:endParaRPr b="1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</a:t>
              </a:r>
              <a:r>
                <a:rPr b="0"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odes, edges, and the Clean Architecture boundary it has to respect</a:t>
              </a:r>
              <a:endParaRPr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15"/>
          <p:cNvGrpSpPr/>
          <p:nvPr/>
        </p:nvGrpSpPr>
        <p:grpSpPr>
          <a:xfrm>
            <a:off x="571500" y="3819525"/>
            <a:ext cx="5334000" cy="1095300"/>
            <a:chOff x="0" y="0"/>
            <a:chExt cx="5334000" cy="1095300"/>
          </a:xfrm>
        </p:grpSpPr>
        <p:sp>
          <p:nvSpPr>
            <p:cNvPr id="137" name="Google Shape;137;p15"/>
            <p:cNvSpPr/>
            <p:nvPr/>
          </p:nvSpPr>
          <p:spPr>
            <a:xfrm>
              <a:off x="0" y="0"/>
              <a:ext cx="5334000" cy="1095300"/>
            </a:xfrm>
            <a:prstGeom prst="roundRect">
              <a:avLst>
                <a:gd fmla="val 10434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0" y="0"/>
              <a:ext cx="47700" cy="1095300"/>
            </a:xfrm>
            <a:prstGeom prst="roundRect">
              <a:avLst>
                <a:gd fmla="val 4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 txBox="1"/>
            <p:nvPr/>
          </p:nvSpPr>
          <p:spPr>
            <a:xfrm>
              <a:off x="209550" y="133350"/>
              <a:ext cx="49341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03 / STATE &amp; REDUCERS</a:t>
              </a:r>
              <a:endParaRPr b="1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r>
                <a:rPr b="0"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he audit_trail bug that taught us why TypedDict fields need Annotated reducers</a:t>
              </a:r>
              <a:endParaRPr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571500" y="5086350"/>
            <a:ext cx="5334000" cy="1095300"/>
            <a:chOff x="0" y="0"/>
            <a:chExt cx="5334000" cy="1095300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5334000" cy="1095300"/>
            </a:xfrm>
            <a:prstGeom prst="roundRect">
              <a:avLst>
                <a:gd fmla="val 10434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0" y="0"/>
              <a:ext cx="47700" cy="1095300"/>
            </a:xfrm>
            <a:prstGeom prst="roundRect">
              <a:avLst>
                <a:gd fmla="val 4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 txBox="1"/>
            <p:nvPr/>
          </p:nvSpPr>
          <p:spPr>
            <a:xfrm>
              <a:off x="209550" y="133350"/>
              <a:ext cx="49341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04 / RESILIENCE PATTERNS</a:t>
              </a:r>
              <a:endParaRPr b="1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r>
                <a:rPr b="0"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imeout, retry-with-backoff, graceful degradation</a:t>
              </a:r>
              <a:endParaRPr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" name="Google Shape;144;p15"/>
          <p:cNvGrpSpPr/>
          <p:nvPr/>
        </p:nvGrpSpPr>
        <p:grpSpPr>
          <a:xfrm>
            <a:off x="6286500" y="1285875"/>
            <a:ext cx="5334000" cy="1095300"/>
            <a:chOff x="0" y="0"/>
            <a:chExt cx="5334000" cy="1095300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5334000" cy="1095300"/>
            </a:xfrm>
            <a:prstGeom prst="roundRect">
              <a:avLst>
                <a:gd fmla="val 10434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0" y="0"/>
              <a:ext cx="47700" cy="1095300"/>
            </a:xfrm>
            <a:prstGeom prst="roundRect">
              <a:avLst>
                <a:gd fmla="val 40000" name="adj"/>
              </a:avLst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5"/>
            <p:cNvSpPr txBox="1"/>
            <p:nvPr/>
          </p:nvSpPr>
          <p:spPr>
            <a:xfrm>
              <a:off x="209550" y="133350"/>
              <a:ext cx="49341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4D399"/>
                  </a:solidFill>
                  <a:latin typeface="Fira Code"/>
                  <a:ea typeface="Fira Code"/>
                  <a:cs typeface="Fira Code"/>
                  <a:sym typeface="Fira Code"/>
                </a:rPr>
                <a:t>05 / APPROVAL GATE</a:t>
              </a:r>
              <a:endParaRPr b="1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Pausing the graph with interrupt_before and persisting state via Postgres. </a:t>
              </a:r>
              <a:endParaRPr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8" name="Google Shape;148;p15"/>
          <p:cNvGrpSpPr/>
          <p:nvPr/>
        </p:nvGrpSpPr>
        <p:grpSpPr>
          <a:xfrm>
            <a:off x="6286500" y="2552700"/>
            <a:ext cx="5334000" cy="1095300"/>
            <a:chOff x="0" y="0"/>
            <a:chExt cx="5334000" cy="109530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5334000" cy="1095300"/>
            </a:xfrm>
            <a:prstGeom prst="roundRect">
              <a:avLst>
                <a:gd fmla="val 10434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0" y="0"/>
              <a:ext cx="47700" cy="1095300"/>
            </a:xfrm>
            <a:prstGeom prst="roundRect">
              <a:avLst>
                <a:gd fmla="val 40000" name="adj"/>
              </a:avLst>
            </a:prstGeom>
            <a:solidFill>
              <a:srgbClr val="FBBF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 txBox="1"/>
            <p:nvPr/>
          </p:nvSpPr>
          <p:spPr>
            <a:xfrm>
              <a:off x="209550" y="133350"/>
              <a:ext cx="49341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BBF24"/>
                  </a:solidFill>
                  <a:latin typeface="Fira Code"/>
                  <a:ea typeface="Fira Code"/>
                  <a:cs typeface="Fira Code"/>
                  <a:sym typeface="Fira Code"/>
                </a:rPr>
                <a:t>06 / LESSONS &amp; BUGS</a:t>
              </a:r>
              <a:endParaRPr b="1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Three real bugs — serialization, illegal state transitions, and a stale ADR</a:t>
              </a:r>
              <a:endParaRPr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6286500" y="3819525"/>
            <a:ext cx="5334000" cy="1095300"/>
            <a:chOff x="0" y="0"/>
            <a:chExt cx="5334000" cy="1095300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5334000" cy="1095300"/>
            </a:xfrm>
            <a:prstGeom prst="roundRect">
              <a:avLst>
                <a:gd fmla="val 10434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0" y="0"/>
              <a:ext cx="47700" cy="1095300"/>
            </a:xfrm>
            <a:prstGeom prst="roundRect">
              <a:avLst>
                <a:gd fmla="val 40000" name="adj"/>
              </a:avLst>
            </a:prstGeom>
            <a:solidFill>
              <a:srgbClr val="F472B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209550" y="133350"/>
              <a:ext cx="49341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472B6"/>
                  </a:solidFill>
                  <a:latin typeface="Fira Code"/>
                  <a:ea typeface="Fira Code"/>
                  <a:cs typeface="Fira Code"/>
                  <a:sym typeface="Fira Code"/>
                </a:rPr>
                <a:t>07 / REAL-TIME UX</a:t>
              </a:r>
              <a:endParaRPr b="1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</a:t>
              </a:r>
              <a:r>
                <a:rPr b="0"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treaming progress and why cancellation is hard</a:t>
              </a:r>
              <a:endParaRPr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6" name="Google Shape;156;p15"/>
          <p:cNvGrpSpPr/>
          <p:nvPr/>
        </p:nvGrpSpPr>
        <p:grpSpPr>
          <a:xfrm>
            <a:off x="6286500" y="5086350"/>
            <a:ext cx="5334000" cy="1095300"/>
            <a:chOff x="0" y="0"/>
            <a:chExt cx="5334000" cy="1095300"/>
          </a:xfrm>
        </p:grpSpPr>
        <p:sp>
          <p:nvSpPr>
            <p:cNvPr id="157" name="Google Shape;157;p15"/>
            <p:cNvSpPr/>
            <p:nvPr/>
          </p:nvSpPr>
          <p:spPr>
            <a:xfrm>
              <a:off x="0" y="0"/>
              <a:ext cx="5334000" cy="1095300"/>
            </a:xfrm>
            <a:prstGeom prst="roundRect">
              <a:avLst>
                <a:gd fmla="val 10434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0" y="0"/>
              <a:ext cx="47700" cy="1095300"/>
            </a:xfrm>
            <a:prstGeom prst="roundRect">
              <a:avLst>
                <a:gd fmla="val 40000" name="adj"/>
              </a:avLst>
            </a:prstGeom>
            <a:solidFill>
              <a:srgbClr val="F472B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 txBox="1"/>
            <p:nvPr/>
          </p:nvSpPr>
          <p:spPr>
            <a:xfrm>
              <a:off x="209550" y="133350"/>
              <a:ext cx="49341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472B6"/>
                  </a:solidFill>
                  <a:latin typeface="Fira Code"/>
                  <a:ea typeface="Fira Code"/>
                  <a:cs typeface="Fira Code"/>
                  <a:sym typeface="Fira Code"/>
                </a:rPr>
                <a:t>08 / HANDS-ON LAB </a:t>
              </a:r>
              <a:endParaRPr b="1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You'll run this graph, break it, and fix it yourself </a:t>
              </a:r>
              <a:endParaRPr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6"/>
          <p:cNvGrpSpPr/>
          <p:nvPr/>
        </p:nvGrpSpPr>
        <p:grpSpPr>
          <a:xfrm>
            <a:off x="571500" y="1428750"/>
            <a:ext cx="5334000" cy="4857900"/>
            <a:chOff x="0" y="0"/>
            <a:chExt cx="5334000" cy="4857900"/>
          </a:xfrm>
        </p:grpSpPr>
        <p:sp>
          <p:nvSpPr>
            <p:cNvPr id="165" name="Google Shape;165;p16"/>
            <p:cNvSpPr/>
            <p:nvPr/>
          </p:nvSpPr>
          <p:spPr>
            <a:xfrm>
              <a:off x="0" y="0"/>
              <a:ext cx="5334000" cy="4857900"/>
            </a:xfrm>
            <a:prstGeom prst="roundRect">
              <a:avLst>
                <a:gd fmla="val 3137" name="adj"/>
              </a:avLst>
            </a:prstGeom>
            <a:solidFill>
              <a:srgbClr val="1E293B">
                <a:alpha val="7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0" y="0"/>
              <a:ext cx="5334000" cy="381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171450" y="190500"/>
              <a:ext cx="419100" cy="419100"/>
            </a:xfrm>
            <a:prstGeom prst="ellipse">
              <a:avLst/>
            </a:prstGeom>
            <a:solidFill>
              <a:srgbClr val="64748B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171450" y="21971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format_list_numbered</a:t>
              </a:r>
              <a:endParaRPr sz="20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704850" y="228600"/>
              <a:ext cx="438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90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Hand-Rolled Pipeline</a:t>
              </a:r>
              <a:endParaRPr b="0" sz="19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grpSp>
          <p:nvGrpSpPr>
            <p:cNvPr id="170" name="Google Shape;170;p16"/>
            <p:cNvGrpSpPr/>
            <p:nvPr/>
          </p:nvGrpSpPr>
          <p:grpSpPr>
            <a:xfrm>
              <a:off x="228600" y="809625"/>
              <a:ext cx="4876800" cy="607338"/>
              <a:chOff x="0" y="0"/>
              <a:chExt cx="4876800" cy="607338"/>
            </a:xfrm>
          </p:grpSpPr>
          <p:sp>
            <p:nvSpPr>
              <p:cNvPr id="171" name="Google Shape;171;p16"/>
              <p:cNvSpPr/>
              <p:nvPr/>
            </p:nvSpPr>
            <p:spPr>
              <a:xfrm>
                <a:off x="0" y="0"/>
                <a:ext cx="4876800" cy="533400"/>
              </a:xfrm>
              <a:prstGeom prst="roundRect">
                <a:avLst>
                  <a:gd fmla="val 16666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6"/>
              <p:cNvSpPr txBox="1"/>
              <p:nvPr/>
            </p:nvSpPr>
            <p:spPr>
              <a:xfrm>
                <a:off x="152400" y="150138"/>
                <a:ext cx="4572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50">
                    <a:solidFill>
                      <a:srgbClr val="38BDF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for step in [a, b, c]: step.run(state)</a:t>
                </a:r>
                <a:endParaRPr sz="125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grpSp>
          <p:nvGrpSpPr>
            <p:cNvPr id="173" name="Google Shape;173;p16"/>
            <p:cNvGrpSpPr/>
            <p:nvPr/>
          </p:nvGrpSpPr>
          <p:grpSpPr>
            <a:xfrm>
              <a:off x="228600" y="1476375"/>
              <a:ext cx="4838700" cy="533400"/>
              <a:chOff x="0" y="0"/>
              <a:chExt cx="4838700" cy="533400"/>
            </a:xfrm>
          </p:grpSpPr>
          <p:sp>
            <p:nvSpPr>
              <p:cNvPr id="174" name="Google Shape;174;p16"/>
              <p:cNvSpPr/>
              <p:nvPr/>
            </p:nvSpPr>
            <p:spPr>
              <a:xfrm>
                <a:off x="0" y="0"/>
                <a:ext cx="38100" cy="533400"/>
              </a:xfrm>
              <a:prstGeom prst="roundRect">
                <a:avLst>
                  <a:gd fmla="val 5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6"/>
              <p:cNvSpPr txBox="1"/>
              <p:nvPr/>
            </p:nvSpPr>
            <p:spPr>
              <a:xfrm>
                <a:off x="190500" y="0"/>
                <a:ext cx="4648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Retry, timeout, and pause/resume are each hand-built, per pipeline</a:t>
                </a:r>
                <a:endParaRPr b="0" sz="13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6" name="Google Shape;176;p16"/>
            <p:cNvGrpSpPr/>
            <p:nvPr/>
          </p:nvGrpSpPr>
          <p:grpSpPr>
            <a:xfrm>
              <a:off x="228600" y="2238375"/>
              <a:ext cx="4838700" cy="609600"/>
              <a:chOff x="0" y="0"/>
              <a:chExt cx="4838700" cy="609600"/>
            </a:xfrm>
          </p:grpSpPr>
          <p:sp>
            <p:nvSpPr>
              <p:cNvPr id="177" name="Google Shape;177;p16"/>
              <p:cNvSpPr/>
              <p:nvPr/>
            </p:nvSpPr>
            <p:spPr>
              <a:xfrm>
                <a:off x="0" y="0"/>
                <a:ext cx="38100" cy="609600"/>
              </a:xfrm>
              <a:prstGeom prst="roundRect">
                <a:avLst>
                  <a:gd fmla="val 5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6"/>
              <p:cNvSpPr txBox="1"/>
              <p:nvPr/>
            </p:nvSpPr>
            <p:spPr>
              <a:xfrm>
                <a:off x="190500" y="0"/>
                <a:ext cx="4648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Adding a human-approval pause means threading state through your own DB tables</a:t>
                </a:r>
                <a:endParaRPr b="0" sz="13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9" name="Google Shape;179;p16"/>
            <p:cNvGrpSpPr/>
            <p:nvPr/>
          </p:nvGrpSpPr>
          <p:grpSpPr>
            <a:xfrm>
              <a:off x="228600" y="3076575"/>
              <a:ext cx="4838700" cy="609600"/>
              <a:chOff x="0" y="0"/>
              <a:chExt cx="4838700" cy="609600"/>
            </a:xfrm>
          </p:grpSpPr>
          <p:sp>
            <p:nvSpPr>
              <p:cNvPr id="180" name="Google Shape;180;p16"/>
              <p:cNvSpPr/>
              <p:nvPr/>
            </p:nvSpPr>
            <p:spPr>
              <a:xfrm>
                <a:off x="0" y="0"/>
                <a:ext cx="38100" cy="609600"/>
              </a:xfrm>
              <a:prstGeom prst="roundRect">
                <a:avLst>
                  <a:gd fmla="val 5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6"/>
              <p:cNvSpPr txBox="1"/>
              <p:nvPr/>
            </p:nvSpPr>
            <p:spPr>
              <a:xfrm>
                <a:off x="190500" y="0"/>
                <a:ext cx="4648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Works fine — until step 4 needs to fail gracefully or pause for a day</a:t>
                </a:r>
                <a:endParaRPr b="0" sz="13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82" name="Google Shape;182;p16"/>
          <p:cNvGrpSpPr/>
          <p:nvPr/>
        </p:nvGrpSpPr>
        <p:grpSpPr>
          <a:xfrm>
            <a:off x="6286500" y="1428750"/>
            <a:ext cx="6013750" cy="4857900"/>
            <a:chOff x="0" y="0"/>
            <a:chExt cx="6013750" cy="4857900"/>
          </a:xfrm>
        </p:grpSpPr>
        <p:sp>
          <p:nvSpPr>
            <p:cNvPr id="183" name="Google Shape;183;p16"/>
            <p:cNvSpPr/>
            <p:nvPr/>
          </p:nvSpPr>
          <p:spPr>
            <a:xfrm>
              <a:off x="0" y="0"/>
              <a:ext cx="5334000" cy="4857900"/>
            </a:xfrm>
            <a:prstGeom prst="roundRect">
              <a:avLst>
                <a:gd fmla="val 3137" name="adj"/>
              </a:avLst>
            </a:prstGeom>
            <a:solidFill>
              <a:srgbClr val="1E293B">
                <a:alpha val="7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0" y="0"/>
              <a:ext cx="5334000" cy="38100"/>
            </a:xfrm>
            <a:prstGeom prst="roundRect">
              <a:avLst>
                <a:gd fmla="val 50000" name="adj"/>
              </a:avLst>
            </a:prstGeom>
            <a:solidFill>
              <a:srgbClr val="FCD3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71450" y="190500"/>
              <a:ext cx="419100" cy="419100"/>
            </a:xfrm>
            <a:prstGeom prst="ellipse">
              <a:avLst/>
            </a:prstGeom>
            <a:solidFill>
              <a:srgbClr val="D97706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 txBox="1"/>
            <p:nvPr/>
          </p:nvSpPr>
          <p:spPr>
            <a:xfrm>
              <a:off x="171450" y="21971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CD34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000">
                <a:solidFill>
                  <a:srgbClr val="FCD34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7" name="Google Shape;187;p16"/>
            <p:cNvSpPr txBox="1"/>
            <p:nvPr/>
          </p:nvSpPr>
          <p:spPr>
            <a:xfrm>
              <a:off x="704850" y="228600"/>
              <a:ext cx="438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900">
                  <a:solidFill>
                    <a:srgbClr val="FCD34D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 Graph (LangGraph)</a:t>
              </a:r>
              <a:endParaRPr b="0" sz="1900">
                <a:solidFill>
                  <a:srgbClr val="FCD34D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grpSp>
          <p:nvGrpSpPr>
            <p:cNvPr id="188" name="Google Shape;188;p16"/>
            <p:cNvGrpSpPr/>
            <p:nvPr/>
          </p:nvGrpSpPr>
          <p:grpSpPr>
            <a:xfrm>
              <a:off x="228600" y="809625"/>
              <a:ext cx="5785150" cy="457200"/>
              <a:chOff x="0" y="0"/>
              <a:chExt cx="5785150" cy="457200"/>
            </a:xfrm>
          </p:grpSpPr>
          <p:sp>
            <p:nvSpPr>
              <p:cNvPr id="189" name="Google Shape;189;p16"/>
              <p:cNvSpPr/>
              <p:nvPr/>
            </p:nvSpPr>
            <p:spPr>
              <a:xfrm>
                <a:off x="0" y="0"/>
                <a:ext cx="48768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6"/>
              <p:cNvSpPr txBox="1"/>
              <p:nvPr/>
            </p:nvSpPr>
            <p:spPr>
              <a:xfrm>
                <a:off x="832150" y="56025"/>
                <a:ext cx="4953000" cy="3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50">
                    <a:solidFill>
                      <a:srgbClr val="38BDF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(state, config) → partial state</a:t>
                </a:r>
                <a:endParaRPr sz="10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1" name="Google Shape;191;p16"/>
            <p:cNvGrpSpPr/>
            <p:nvPr/>
          </p:nvGrpSpPr>
          <p:grpSpPr>
            <a:xfrm>
              <a:off x="228600" y="1476375"/>
              <a:ext cx="4838700" cy="542925"/>
              <a:chOff x="0" y="0"/>
              <a:chExt cx="4838700" cy="542925"/>
            </a:xfrm>
          </p:grpSpPr>
          <p:sp>
            <p:nvSpPr>
              <p:cNvPr id="192" name="Google Shape;192;p16"/>
              <p:cNvSpPr/>
              <p:nvPr/>
            </p:nvSpPr>
            <p:spPr>
              <a:xfrm>
                <a:off x="0" y="0"/>
                <a:ext cx="38100" cy="533400"/>
              </a:xfrm>
              <a:prstGeom prst="roundRect">
                <a:avLst>
                  <a:gd fmla="val 50000" name="adj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6"/>
              <p:cNvSpPr txBox="1"/>
              <p:nvPr/>
            </p:nvSpPr>
            <p:spPr>
              <a:xfrm>
                <a:off x="190500" y="9525"/>
                <a:ext cx="4648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Edges — including conditional edges — decide what runs next</a:t>
                </a:r>
                <a:endParaRPr b="0" sz="13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4" name="Google Shape;194;p16"/>
            <p:cNvGrpSpPr/>
            <p:nvPr/>
          </p:nvGrpSpPr>
          <p:grpSpPr>
            <a:xfrm>
              <a:off x="228600" y="2238375"/>
              <a:ext cx="4838700" cy="609600"/>
              <a:chOff x="0" y="0"/>
              <a:chExt cx="4838700" cy="609600"/>
            </a:xfrm>
          </p:grpSpPr>
          <p:sp>
            <p:nvSpPr>
              <p:cNvPr id="195" name="Google Shape;195;p16"/>
              <p:cNvSpPr/>
              <p:nvPr/>
            </p:nvSpPr>
            <p:spPr>
              <a:xfrm>
                <a:off x="0" y="0"/>
                <a:ext cx="38100" cy="609600"/>
              </a:xfrm>
              <a:prstGeom prst="roundRect">
                <a:avLst>
                  <a:gd fmla="val 50000" name="adj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6"/>
              <p:cNvSpPr txBox="1"/>
              <p:nvPr/>
            </p:nvSpPr>
            <p:spPr>
              <a:xfrm>
                <a:off x="190500" y="0"/>
                <a:ext cx="4648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A checkpointer persists state between nodes for free</a:t>
                </a:r>
                <a:endParaRPr b="0" sz="13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7" name="Google Shape;197;p16"/>
            <p:cNvGrpSpPr/>
            <p:nvPr/>
          </p:nvGrpSpPr>
          <p:grpSpPr>
            <a:xfrm>
              <a:off x="228600" y="3076575"/>
              <a:ext cx="4838700" cy="609600"/>
              <a:chOff x="0" y="0"/>
              <a:chExt cx="4838700" cy="609600"/>
            </a:xfrm>
          </p:grpSpPr>
          <p:sp>
            <p:nvSpPr>
              <p:cNvPr id="198" name="Google Shape;198;p16"/>
              <p:cNvSpPr/>
              <p:nvPr/>
            </p:nvSpPr>
            <p:spPr>
              <a:xfrm>
                <a:off x="0" y="0"/>
                <a:ext cx="38100" cy="609600"/>
              </a:xfrm>
              <a:prstGeom prst="roundRect">
                <a:avLst>
                  <a:gd fmla="val 50000" name="adj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6"/>
              <p:cNvSpPr txBox="1"/>
              <p:nvPr/>
            </p:nvSpPr>
            <p:spPr>
              <a:xfrm>
                <a:off x="190500" y="0"/>
                <a:ext cx="4648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highlight>
                      <a:srgbClr val="0F172A"/>
                    </a:highlight>
                    <a:latin typeface="Fira Code"/>
                    <a:ea typeface="Fira Code"/>
                    <a:cs typeface="Fira Code"/>
                    <a:sym typeface="Fira Code"/>
                  </a:rPr>
                  <a:t>interrupt_before</a:t>
                </a:r>
                <a:r>
                  <a:rPr b="0" lang="en-US" sz="135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 turns "pause for human review" into one keyword arg</a:t>
                </a:r>
                <a:endParaRPr b="0" sz="13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00" name="Google Shape;200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Pipeline vs Graph</a:t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571500" y="117157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/>
        </p:nvSpPr>
        <p:spPr>
          <a:xfrm>
            <a:off x="571500" y="571500"/>
            <a:ext cx="1160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LangGraph Basics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571500" y="117157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" name="Google Shape;209;p17"/>
          <p:cNvGrpSpPr/>
          <p:nvPr/>
        </p:nvGrpSpPr>
        <p:grpSpPr>
          <a:xfrm>
            <a:off x="571500" y="1428750"/>
            <a:ext cx="5334000" cy="1409700"/>
            <a:chOff x="0" y="0"/>
            <a:chExt cx="5334000" cy="1409700"/>
          </a:xfrm>
        </p:grpSpPr>
        <p:sp>
          <p:nvSpPr>
            <p:cNvPr id="210" name="Google Shape;210;p17"/>
            <p:cNvSpPr/>
            <p:nvPr/>
          </p:nvSpPr>
          <p:spPr>
            <a:xfrm>
              <a:off x="0" y="0"/>
              <a:ext cx="5334000" cy="1409700"/>
            </a:xfrm>
            <a:prstGeom prst="roundRect">
              <a:avLst>
                <a:gd fmla="val 8108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0" y="0"/>
              <a:ext cx="47700" cy="1409700"/>
            </a:xfrm>
            <a:prstGeom prst="roundRect">
              <a:avLst>
                <a:gd fmla="val 4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 txBox="1"/>
            <p:nvPr/>
          </p:nvSpPr>
          <p:spPr>
            <a:xfrm>
              <a:off x="238125" y="152400"/>
              <a:ext cx="48579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01 / NODES &amp; FUNCTIONS</a:t>
              </a:r>
              <a:endParaRPr b="1" sz="12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node is a plain function. It receives the full state, and a config carrying per-run values (thread_id, cancel_event) — it returns </a:t>
              </a:r>
              <a:r>
                <a:rPr b="0" lang="en-US" sz="135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only the keys it's updating</a:t>
              </a:r>
              <a:r>
                <a:rPr b="0" lang="en-US" sz="13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3" name="Google Shape;213;p17"/>
          <p:cNvGrpSpPr/>
          <p:nvPr/>
        </p:nvGrpSpPr>
        <p:grpSpPr>
          <a:xfrm>
            <a:off x="571500" y="3028950"/>
            <a:ext cx="5334000" cy="1409700"/>
            <a:chOff x="0" y="0"/>
            <a:chExt cx="5334000" cy="1409700"/>
          </a:xfrm>
        </p:grpSpPr>
        <p:sp>
          <p:nvSpPr>
            <p:cNvPr id="214" name="Google Shape;214;p17"/>
            <p:cNvSpPr/>
            <p:nvPr/>
          </p:nvSpPr>
          <p:spPr>
            <a:xfrm>
              <a:off x="0" y="0"/>
              <a:ext cx="5334000" cy="1409700"/>
            </a:xfrm>
            <a:prstGeom prst="roundRect">
              <a:avLst>
                <a:gd fmla="val 8108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0" y="0"/>
              <a:ext cx="47700" cy="1409700"/>
            </a:xfrm>
            <a:prstGeom prst="roundRect">
              <a:avLst>
                <a:gd fmla="val 4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238125" y="152400"/>
              <a:ext cx="48579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02 / STATE REDUCTION</a:t>
              </a:r>
              <a:endParaRPr b="1" sz="12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LangGraph merges that partial dict into state and hands the result to whatever node the edges point to next.</a:t>
              </a:r>
              <a:endParaRPr b="0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7" name="Google Shape;217;p17"/>
          <p:cNvGrpSpPr/>
          <p:nvPr/>
        </p:nvGrpSpPr>
        <p:grpSpPr>
          <a:xfrm>
            <a:off x="571500" y="4629150"/>
            <a:ext cx="5334000" cy="1562100"/>
            <a:chOff x="0" y="0"/>
            <a:chExt cx="5334000" cy="1562100"/>
          </a:xfrm>
        </p:grpSpPr>
        <p:sp>
          <p:nvSpPr>
            <p:cNvPr id="218" name="Google Shape;218;p17"/>
            <p:cNvSpPr/>
            <p:nvPr/>
          </p:nvSpPr>
          <p:spPr>
            <a:xfrm>
              <a:off x="0" y="0"/>
              <a:ext cx="5334000" cy="1562100"/>
            </a:xfrm>
            <a:prstGeom prst="roundRect">
              <a:avLst>
                <a:gd fmla="val 7317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0" y="0"/>
              <a:ext cx="47700" cy="1562100"/>
            </a:xfrm>
            <a:prstGeom prst="roundRect">
              <a:avLst>
                <a:gd fmla="val 4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7"/>
            <p:cNvSpPr txBox="1"/>
            <p:nvPr/>
          </p:nvSpPr>
          <p:spPr>
            <a:xfrm>
              <a:off x="238125" y="152400"/>
              <a:ext cx="4857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03 / GRAPH EDGES</a:t>
              </a:r>
              <a:endParaRPr b="1" sz="12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221" name="Google Shape;221;p17"/>
          <p:cNvGrpSpPr/>
          <p:nvPr/>
        </p:nvGrpSpPr>
        <p:grpSpPr>
          <a:xfrm>
            <a:off x="6286500" y="1428750"/>
            <a:ext cx="5334000" cy="4762500"/>
            <a:chOff x="0" y="0"/>
            <a:chExt cx="5334000" cy="4762500"/>
          </a:xfrm>
        </p:grpSpPr>
        <p:sp>
          <p:nvSpPr>
            <p:cNvPr id="222" name="Google Shape;222;p17"/>
            <p:cNvSpPr/>
            <p:nvPr/>
          </p:nvSpPr>
          <p:spPr>
            <a:xfrm>
              <a:off x="0" y="0"/>
              <a:ext cx="5334000" cy="4762500"/>
            </a:xfrm>
            <a:prstGeom prst="roundRect">
              <a:avLst>
                <a:gd fmla="val 2400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0" y="0"/>
              <a:ext cx="5334000" cy="400200"/>
            </a:xfrm>
            <a:custGeom>
              <a:rect b="b" l="l" r="r" t="t"/>
              <a:pathLst>
                <a:path extrusionOk="0" h="120000" w="120000">
                  <a:moveTo>
                    <a:pt x="0" y="34286"/>
                  </a:moveTo>
                  <a:cubicBezTo>
                    <a:pt x="0" y="15343"/>
                    <a:pt x="1151" y="0"/>
                    <a:pt x="2571" y="0"/>
                  </a:cubicBezTo>
                  <a:lnTo>
                    <a:pt x="117429" y="0"/>
                  </a:lnTo>
                  <a:cubicBezTo>
                    <a:pt x="118849" y="0"/>
                    <a:pt x="120000" y="15343"/>
                    <a:pt x="120000" y="34286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142875" y="1524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295275" y="1524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447675" y="1524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7"/>
            <p:cNvSpPr txBox="1"/>
            <p:nvPr/>
          </p:nvSpPr>
          <p:spPr>
            <a:xfrm>
              <a:off x="698850" y="165650"/>
              <a:ext cx="2857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50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copilot_graph</a:t>
              </a:r>
              <a:endParaRPr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descr="image.png" id="228" name="Google Shape;228;p17"/>
          <p:cNvPicPr preferRelativeResize="0"/>
          <p:nvPr/>
        </p:nvPicPr>
        <p:blipFill rotWithShape="1">
          <a:blip r:embed="rId4">
            <a:alphaModFix/>
          </a:blip>
          <a:srcRect b="1784" l="0" r="0" t="1784"/>
          <a:stretch/>
        </p:blipFill>
        <p:spPr>
          <a:xfrm>
            <a:off x="809625" y="5143500"/>
            <a:ext cx="23052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7"/>
          <p:cNvPicPr preferRelativeResize="0"/>
          <p:nvPr/>
        </p:nvPicPr>
        <p:blipFill rotWithShape="1">
          <a:blip r:embed="rId5">
            <a:alphaModFix/>
          </a:blip>
          <a:srcRect b="1784" l="0" r="0" t="1784"/>
          <a:stretch/>
        </p:blipFill>
        <p:spPr>
          <a:xfrm>
            <a:off x="809625" y="5619750"/>
            <a:ext cx="36387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6500" y="2409825"/>
            <a:ext cx="533400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Workflow</a:t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571500" y="117157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" name="Google Shape;237;p18"/>
          <p:cNvGrpSpPr/>
          <p:nvPr/>
        </p:nvGrpSpPr>
        <p:grpSpPr>
          <a:xfrm>
            <a:off x="1910388" y="1597700"/>
            <a:ext cx="8371218" cy="4415073"/>
            <a:chOff x="0" y="0"/>
            <a:chExt cx="3429000" cy="4076706"/>
          </a:xfrm>
        </p:grpSpPr>
        <p:sp>
          <p:nvSpPr>
            <p:cNvPr id="238" name="Google Shape;238;p18"/>
            <p:cNvSpPr/>
            <p:nvPr/>
          </p:nvSpPr>
          <p:spPr>
            <a:xfrm>
              <a:off x="0" y="6"/>
              <a:ext cx="3429000" cy="4076700"/>
            </a:xfrm>
            <a:prstGeom prst="roundRect">
              <a:avLst>
                <a:gd fmla="val 3333" name="adj"/>
              </a:avLst>
            </a:prstGeom>
            <a:solidFill>
              <a:srgbClr val="1E293B">
                <a:alpha val="80000"/>
              </a:srgbClr>
            </a:solidFill>
            <a:ln cap="flat" cmpd="sng" w="114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0" y="0"/>
              <a:ext cx="34290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240" name="Google Shape;2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643" y="1861193"/>
            <a:ext cx="1699305" cy="849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5297" y="2026158"/>
            <a:ext cx="728639" cy="448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8"/>
          <p:cNvPicPr preferRelativeResize="0"/>
          <p:nvPr/>
        </p:nvPicPr>
        <p:blipFill rotWithShape="1">
          <a:blip r:embed="rId5">
            <a:alphaModFix/>
          </a:blip>
          <a:srcRect b="0" l="-160165" r="168590" t="0"/>
          <a:stretch/>
        </p:blipFill>
        <p:spPr>
          <a:xfrm>
            <a:off x="1338600" y="2017534"/>
            <a:ext cx="1960600" cy="107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7690" y="1844287"/>
            <a:ext cx="1699310" cy="849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585" y="2045048"/>
            <a:ext cx="728639" cy="448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51697" y="1825377"/>
            <a:ext cx="1804731" cy="849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5104" y="3429858"/>
            <a:ext cx="1804725" cy="832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8543119" y="2831731"/>
            <a:ext cx="584127" cy="448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7090757" y="3584030"/>
            <a:ext cx="728639" cy="448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45749" y="3421047"/>
            <a:ext cx="1699305" cy="8496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250" name="Google Shape;2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171401" y="3584030"/>
            <a:ext cx="728639" cy="448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24933" y="3397584"/>
            <a:ext cx="1804726" cy="90236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253" name="Google Shape;2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653127" y="4429674"/>
            <a:ext cx="607050" cy="4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 txBox="1"/>
          <p:nvPr/>
        </p:nvSpPr>
        <p:spPr>
          <a:xfrm>
            <a:off x="5288475" y="5335663"/>
            <a:ext cx="123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5188841" y="5065221"/>
            <a:ext cx="1699200" cy="832200"/>
          </a:xfrm>
          <a:prstGeom prst="roundRect">
            <a:avLst>
              <a:gd fmla="val 16667" name="adj"/>
            </a:avLst>
          </a:prstGeom>
          <a:solidFill>
            <a:srgbClr val="FBBF24">
              <a:alpha val="15000"/>
            </a:srgbClr>
          </a:solidFill>
          <a:ln cap="flat" cmpd="sng" w="1145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50" lIns="72550" spcFirstLastPara="1" rIns="72550" wrap="square" tIns="7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5701108" y="5250600"/>
            <a:ext cx="8586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2550" lIns="72550" spcFirstLastPara="1" rIns="72550" wrap="square" tIns="72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204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 txBox="1"/>
          <p:nvPr/>
        </p:nvSpPr>
        <p:spPr>
          <a:xfrm>
            <a:off x="857175" y="3954958"/>
            <a:ext cx="107634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Infrastructure Isolation: </a:t>
            </a:r>
            <a:r>
              <a:rPr lang="en-US">
                <a:solidFill>
                  <a:srgbClr val="38BDF8"/>
                </a:solidFill>
              </a:rPr>
              <a:t>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copilot_graph.py</a:t>
            </a:r>
            <a:r>
              <a:rPr lang="en-US" sz="1100">
                <a:solidFill>
                  <a:schemeClr val="lt1"/>
                </a:solidFill>
              </a:rPr>
              <a:t> file — containing all nodes, edges, and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interrupt_before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chemeClr val="lt1"/>
                </a:solidFill>
              </a:rPr>
              <a:t>logic — is strictly confined to the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infrastructure/orchestration/</a:t>
            </a:r>
            <a:r>
              <a:rPr lang="en-US" sz="1100">
                <a:solidFill>
                  <a:schemeClr val="lt1"/>
                </a:solidFill>
              </a:rPr>
              <a:t> folder.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857175" y="4828054"/>
            <a:ext cx="107634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Enforced Automatically: </a:t>
            </a:r>
            <a:r>
              <a:rPr lang="en-US" sz="1100">
                <a:solidFill>
                  <a:schemeClr val="lt1"/>
                </a:solidFill>
              </a:rPr>
              <a:t>A custom CI test walks the AST of every file under</a:t>
            </a:r>
            <a:r>
              <a:rPr lang="en-US" sz="1100">
                <a:solidFill>
                  <a:srgbClr val="38BDF8"/>
                </a:solidFill>
              </a:rPr>
              <a:t>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domain/</a:t>
            </a:r>
            <a:r>
              <a:rPr lang="en-US" sz="1100">
                <a:solidFill>
                  <a:srgbClr val="38BDF8"/>
                </a:solidFill>
              </a:rPr>
              <a:t> </a:t>
            </a:r>
            <a:r>
              <a:rPr lang="en-US" sz="1100">
                <a:solidFill>
                  <a:schemeClr val="lt1"/>
                </a:solidFill>
              </a:rPr>
              <a:t>and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application/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chemeClr val="lt1"/>
                </a:solidFill>
              </a:rPr>
              <a:t>instantly failing the build if it detects a restricted framework import </a:t>
            </a:r>
            <a:r>
              <a:rPr lang="en-US" sz="1425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857175" y="5684341"/>
            <a:ext cx="10763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Zero Framework Leakage:</a:t>
            </a:r>
            <a:r>
              <a:rPr lang="en-US" sz="14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>
                <a:solidFill>
                  <a:schemeClr val="lt1"/>
                </a:solidFill>
              </a:rPr>
              <a:t>The three agents depend entirely on injected domain ports (like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LlmProvider</a:t>
            </a:r>
            <a:r>
              <a:rPr lang="en-US" sz="1100">
                <a:solidFill>
                  <a:schemeClr val="dk1"/>
                </a:solidFill>
              </a:rPr>
              <a:t>).</a:t>
            </a:r>
            <a:r>
              <a:rPr lang="en-US" sz="1100">
                <a:solidFill>
                  <a:schemeClr val="lt1"/>
                </a:solidFill>
              </a:rPr>
              <a:t> They are completely decoupled and have no idea LangGraph exists.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571425" y="3954958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571425" y="4828054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571425" y="5684341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Clean Architecture</a:t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" name="Google Shape;270;p19"/>
          <p:cNvGrpSpPr/>
          <p:nvPr/>
        </p:nvGrpSpPr>
        <p:grpSpPr>
          <a:xfrm>
            <a:off x="571500" y="1418575"/>
            <a:ext cx="11049000" cy="1970938"/>
            <a:chOff x="0" y="-494637"/>
            <a:chExt cx="11049000" cy="1970938"/>
          </a:xfrm>
        </p:grpSpPr>
        <p:sp>
          <p:nvSpPr>
            <p:cNvPr id="271" name="Google Shape;271;p19"/>
            <p:cNvSpPr/>
            <p:nvPr/>
          </p:nvSpPr>
          <p:spPr>
            <a:xfrm>
              <a:off x="0" y="0"/>
              <a:ext cx="11049000" cy="1476300"/>
            </a:xfrm>
            <a:prstGeom prst="roundRect">
              <a:avLst>
                <a:gd fmla="val 7741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 txBox="1"/>
            <p:nvPr/>
          </p:nvSpPr>
          <p:spPr>
            <a:xfrm>
              <a:off x="190500" y="-494637"/>
              <a:ext cx="10668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9E0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← NEVER IMPORT: langgraph, fastapi, openai, sqlalchemy, psycopg2 →</a:t>
              </a:r>
              <a:endParaRPr b="0" sz="1300">
                <a:solidFill>
                  <a:srgbClr val="F59E0B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</p:txBody>
        </p:sp>
        <p:grpSp>
          <p:nvGrpSpPr>
            <p:cNvPr id="273" name="Google Shape;273;p19"/>
            <p:cNvGrpSpPr/>
            <p:nvPr/>
          </p:nvGrpSpPr>
          <p:grpSpPr>
            <a:xfrm>
              <a:off x="285750" y="476250"/>
              <a:ext cx="3143400" cy="762000"/>
              <a:chOff x="0" y="0"/>
              <a:chExt cx="3143400" cy="762000"/>
            </a:xfrm>
          </p:grpSpPr>
          <p:sp>
            <p:nvSpPr>
              <p:cNvPr id="274" name="Google Shape;274;p19"/>
              <p:cNvSpPr/>
              <p:nvPr/>
            </p:nvSpPr>
            <p:spPr>
              <a:xfrm>
                <a:off x="0" y="0"/>
                <a:ext cx="31434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0F172A"/>
              </a:solidFill>
              <a:ln cap="flat" cmpd="sng" w="14300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9"/>
              <p:cNvSpPr txBox="1"/>
              <p:nvPr/>
            </p:nvSpPr>
            <p:spPr>
              <a:xfrm>
                <a:off x="0" y="0"/>
                <a:ext cx="3143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38BDF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domain/</a:t>
                </a:r>
                <a:endParaRPr b="1" sz="15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Core Business Entities &amp; Logic</a:t>
                </a:r>
                <a:endParaRPr b="0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276" name="Google Shape;276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43300" y="847725"/>
              <a:ext cx="266700" cy="1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7" name="Google Shape;277;p19"/>
            <p:cNvGrpSpPr/>
            <p:nvPr/>
          </p:nvGrpSpPr>
          <p:grpSpPr>
            <a:xfrm>
              <a:off x="3952875" y="476250"/>
              <a:ext cx="3143400" cy="762000"/>
              <a:chOff x="0" y="0"/>
              <a:chExt cx="3143400" cy="762000"/>
            </a:xfrm>
          </p:grpSpPr>
          <p:sp>
            <p:nvSpPr>
              <p:cNvPr id="278" name="Google Shape;278;p19"/>
              <p:cNvSpPr/>
              <p:nvPr/>
            </p:nvSpPr>
            <p:spPr>
              <a:xfrm>
                <a:off x="0" y="0"/>
                <a:ext cx="31434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0F172A"/>
              </a:solidFill>
              <a:ln cap="flat" cmpd="sng" w="14300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9"/>
              <p:cNvSpPr txBox="1"/>
              <p:nvPr/>
            </p:nvSpPr>
            <p:spPr>
              <a:xfrm>
                <a:off x="0" y="0"/>
                <a:ext cx="3143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38BDF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application/</a:t>
                </a:r>
                <a:endParaRPr b="1" sz="15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Use Cases &amp; Port Interfaces</a:t>
                </a:r>
                <a:endParaRPr b="0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280" name="Google Shape;28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10425" y="847725"/>
              <a:ext cx="266700" cy="1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1" name="Google Shape;281;p19"/>
            <p:cNvGrpSpPr/>
            <p:nvPr/>
          </p:nvGrpSpPr>
          <p:grpSpPr>
            <a:xfrm>
              <a:off x="7620000" y="400050"/>
              <a:ext cx="3143400" cy="914400"/>
              <a:chOff x="0" y="0"/>
              <a:chExt cx="3143400" cy="914400"/>
            </a:xfrm>
          </p:grpSpPr>
          <p:sp>
            <p:nvSpPr>
              <p:cNvPr id="282" name="Google Shape;282;p19"/>
              <p:cNvSpPr/>
              <p:nvPr/>
            </p:nvSpPr>
            <p:spPr>
              <a:xfrm>
                <a:off x="0" y="0"/>
                <a:ext cx="3143400" cy="914400"/>
              </a:xfrm>
              <a:prstGeom prst="roundRect">
                <a:avLst>
                  <a:gd fmla="val 8333" name="adj"/>
                </a:avLst>
              </a:prstGeom>
              <a:solidFill>
                <a:srgbClr val="0F172A"/>
              </a:solidFill>
              <a:ln cap="flat" cmpd="sng" w="19050">
                <a:solidFill>
                  <a:srgbClr val="F59E0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9"/>
              <p:cNvSpPr txBox="1"/>
              <p:nvPr/>
            </p:nvSpPr>
            <p:spPr>
              <a:xfrm>
                <a:off x="0" y="0"/>
                <a:ext cx="31434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CD34D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infrastructure/</a:t>
                </a:r>
                <a:endParaRPr b="1" sz="1400">
                  <a:solidFill>
                    <a:srgbClr val="FCD34D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F59E0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LangGraph Lives Here</a:t>
                </a:r>
                <a:endParaRPr b="1" sz="1400">
                  <a:solidFill>
                    <a:srgbClr val="FCD34D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Agent 1: The Standards Mapper </a:t>
            </a: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571500" y="117157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0" name="Google Shape;290;p20"/>
          <p:cNvGrpSpPr/>
          <p:nvPr/>
        </p:nvGrpSpPr>
        <p:grpSpPr>
          <a:xfrm>
            <a:off x="6286500" y="1452906"/>
            <a:ext cx="5334000" cy="3214325"/>
            <a:chOff x="6286500" y="1352550"/>
            <a:chExt cx="5334000" cy="4819800"/>
          </a:xfrm>
        </p:grpSpPr>
        <p:sp>
          <p:nvSpPr>
            <p:cNvPr id="291" name="Google Shape;291;p20"/>
            <p:cNvSpPr/>
            <p:nvPr/>
          </p:nvSpPr>
          <p:spPr>
            <a:xfrm>
              <a:off x="6286500" y="1352550"/>
              <a:ext cx="5334000" cy="4819800"/>
            </a:xfrm>
            <a:prstGeom prst="roundRect">
              <a:avLst>
                <a:gd fmla="val 2371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6286500" y="1352550"/>
              <a:ext cx="5334000" cy="3621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271" y="18206"/>
                    <a:pt x="753" y="11099"/>
                  </a:cubicBezTo>
                  <a:cubicBezTo>
                    <a:pt x="1235" y="3993"/>
                    <a:pt x="1889" y="0"/>
                    <a:pt x="2571" y="0"/>
                  </a:cubicBezTo>
                  <a:lnTo>
                    <a:pt x="117429" y="0"/>
                  </a:lnTo>
                  <a:cubicBezTo>
                    <a:pt x="118849" y="3"/>
                    <a:pt x="120000" y="16969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6467475" y="14859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6619875" y="14859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6772275" y="14859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 txBox="1"/>
            <p:nvPr/>
          </p:nvSpPr>
          <p:spPr>
            <a:xfrm>
              <a:off x="7000875" y="1428750"/>
              <a:ext cx="190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ModuleOutlineGenerator </a:t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7" name="Google Shape;297;p20"/>
          <p:cNvGrpSpPr/>
          <p:nvPr/>
        </p:nvGrpSpPr>
        <p:grpSpPr>
          <a:xfrm>
            <a:off x="571500" y="1352550"/>
            <a:ext cx="5567172" cy="4821175"/>
            <a:chOff x="571500" y="1352550"/>
            <a:chExt cx="5567172" cy="4821175"/>
          </a:xfrm>
        </p:grpSpPr>
        <p:grpSp>
          <p:nvGrpSpPr>
            <p:cNvPr id="298" name="Google Shape;298;p20"/>
            <p:cNvGrpSpPr/>
            <p:nvPr/>
          </p:nvGrpSpPr>
          <p:grpSpPr>
            <a:xfrm>
              <a:off x="571500" y="1352550"/>
              <a:ext cx="2381400" cy="304800"/>
              <a:chOff x="0" y="0"/>
              <a:chExt cx="2381400" cy="304800"/>
            </a:xfrm>
          </p:grpSpPr>
          <p:sp>
            <p:nvSpPr>
              <p:cNvPr id="299" name="Google Shape;299;p20"/>
              <p:cNvSpPr/>
              <p:nvPr/>
            </p:nvSpPr>
            <p:spPr>
              <a:xfrm>
                <a:off x="0" y="0"/>
                <a:ext cx="23814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F59E0B">
                  <a:alpha val="12000"/>
                </a:srgbClr>
              </a:solidFill>
              <a:ln cap="flat" cmpd="sng" w="9525">
                <a:solidFill>
                  <a:srgbClr val="F59E0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0"/>
              <p:cNvSpPr txBox="1"/>
              <p:nvPr/>
            </p:nvSpPr>
            <p:spPr>
              <a:xfrm>
                <a:off x="0" y="0"/>
                <a:ext cx="2381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59E0B"/>
                    </a:solidFill>
                    <a:latin typeface="Inter"/>
                    <a:ea typeface="Inter"/>
                    <a:cs typeface="Inter"/>
                    <a:sym typeface="Inter"/>
                  </a:rPr>
                  <a:t>DETERMINISTIC GUARDRAILS</a:t>
                </a:r>
                <a:endParaRPr b="1" sz="1000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1" name="Google Shape;301;p20"/>
            <p:cNvGrpSpPr/>
            <p:nvPr/>
          </p:nvGrpSpPr>
          <p:grpSpPr>
            <a:xfrm>
              <a:off x="571500" y="1828800"/>
              <a:ext cx="5429400" cy="1285800"/>
              <a:chOff x="0" y="0"/>
              <a:chExt cx="5429400" cy="1285800"/>
            </a:xfrm>
          </p:grpSpPr>
          <p:sp>
            <p:nvSpPr>
              <p:cNvPr id="302" name="Google Shape;302;p20"/>
              <p:cNvSpPr/>
              <p:nvPr/>
            </p:nvSpPr>
            <p:spPr>
              <a:xfrm>
                <a:off x="0" y="0"/>
                <a:ext cx="5429400" cy="1285800"/>
              </a:xfrm>
              <a:prstGeom prst="roundRect">
                <a:avLst>
                  <a:gd fmla="val 7407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0"/>
              <p:cNvSpPr/>
              <p:nvPr/>
            </p:nvSpPr>
            <p:spPr>
              <a:xfrm>
                <a:off x="0" y="0"/>
                <a:ext cx="38100" cy="12858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0"/>
              <p:cNvSpPr txBox="1"/>
              <p:nvPr/>
            </p:nvSpPr>
            <p:spPr>
              <a:xfrm>
                <a:off x="228600" y="152400"/>
                <a:ext cx="50103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1. The LLM is just a parser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We only use the LLM to extract lists of required skills from the corpus. It does not make the final mapping decisions.</a:t>
                </a:r>
                <a:endParaRPr sz="14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5" name="Google Shape;305;p20"/>
            <p:cNvGrpSpPr/>
            <p:nvPr/>
          </p:nvGrpSpPr>
          <p:grpSpPr>
            <a:xfrm>
              <a:off x="571500" y="3286125"/>
              <a:ext cx="5567172" cy="1381200"/>
              <a:chOff x="0" y="0"/>
              <a:chExt cx="5567172" cy="1381200"/>
            </a:xfrm>
          </p:grpSpPr>
          <p:sp>
            <p:nvSpPr>
              <p:cNvPr id="306" name="Google Shape;306;p20"/>
              <p:cNvSpPr/>
              <p:nvPr/>
            </p:nvSpPr>
            <p:spPr>
              <a:xfrm>
                <a:off x="0" y="0"/>
                <a:ext cx="5429400" cy="1381200"/>
              </a:xfrm>
              <a:prstGeom prst="roundRect">
                <a:avLst>
                  <a:gd fmla="val 6896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0"/>
              <p:cNvSpPr/>
              <p:nvPr/>
            </p:nvSpPr>
            <p:spPr>
              <a:xfrm>
                <a:off x="0" y="0"/>
                <a:ext cx="38100" cy="13812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0"/>
              <p:cNvSpPr txBox="1"/>
              <p:nvPr/>
            </p:nvSpPr>
            <p:spPr>
              <a:xfrm>
                <a:off x="233172" y="152325"/>
                <a:ext cx="5334000" cy="10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2.Absolute Domain Partitioning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strict Python token matching to guarantee zero cross-domain contamination</a:t>
                </a:r>
                <a:endParaRPr sz="14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 (e.g., an SQL skill can never match an API module)</a:t>
                </a:r>
                <a:endParaRPr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9" name="Google Shape;309;p20"/>
            <p:cNvGrpSpPr/>
            <p:nvPr/>
          </p:nvGrpSpPr>
          <p:grpSpPr>
            <a:xfrm>
              <a:off x="571500" y="4838700"/>
              <a:ext cx="5429400" cy="1335025"/>
              <a:chOff x="0" y="0"/>
              <a:chExt cx="5429400" cy="1335025"/>
            </a:xfrm>
          </p:grpSpPr>
          <p:sp>
            <p:nvSpPr>
              <p:cNvPr id="310" name="Google Shape;310;p20"/>
              <p:cNvSpPr/>
              <p:nvPr/>
            </p:nvSpPr>
            <p:spPr>
              <a:xfrm>
                <a:off x="0" y="0"/>
                <a:ext cx="5429400" cy="1333500"/>
              </a:xfrm>
              <a:prstGeom prst="roundRect">
                <a:avLst>
                  <a:gd fmla="val 7142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0"/>
              <p:cNvSpPr/>
              <p:nvPr/>
            </p:nvSpPr>
            <p:spPr>
              <a:xfrm>
                <a:off x="0" y="0"/>
                <a:ext cx="381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20"/>
              <p:cNvSpPr txBox="1"/>
              <p:nvPr/>
            </p:nvSpPr>
            <p:spPr>
              <a:xfrm>
                <a:off x="209547" y="306325"/>
                <a:ext cx="5010300" cy="10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3.Zero </a:t>
                </a: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FrameWork</a:t>
                </a: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 leakage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The agent operates purely on Domain Ports (LlmProvider, HybridRetrieveUseCase). It has no idea it is inside a LangGraph node </a:t>
                </a:r>
                <a:endParaRPr sz="14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13" name="Google Shape;313;p20"/>
          <p:cNvGrpSpPr/>
          <p:nvPr/>
        </p:nvGrpSpPr>
        <p:grpSpPr>
          <a:xfrm>
            <a:off x="6286500" y="4787474"/>
            <a:ext cx="5334000" cy="1743804"/>
            <a:chOff x="6286500" y="1352550"/>
            <a:chExt cx="5334000" cy="4819800"/>
          </a:xfrm>
        </p:grpSpPr>
        <p:sp>
          <p:nvSpPr>
            <p:cNvPr id="314" name="Google Shape;314;p20"/>
            <p:cNvSpPr/>
            <p:nvPr/>
          </p:nvSpPr>
          <p:spPr>
            <a:xfrm>
              <a:off x="6286500" y="1352550"/>
              <a:ext cx="5334000" cy="4819800"/>
            </a:xfrm>
            <a:prstGeom prst="roundRect">
              <a:avLst>
                <a:gd fmla="val 2371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6286500" y="1352550"/>
              <a:ext cx="5334000" cy="3621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271" y="18206"/>
                    <a:pt x="753" y="11099"/>
                  </a:cubicBezTo>
                  <a:cubicBezTo>
                    <a:pt x="1235" y="3993"/>
                    <a:pt x="1889" y="0"/>
                    <a:pt x="2571" y="0"/>
                  </a:cubicBezTo>
                  <a:lnTo>
                    <a:pt x="117429" y="0"/>
                  </a:lnTo>
                  <a:cubicBezTo>
                    <a:pt x="118849" y="3"/>
                    <a:pt x="120000" y="16969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6467475" y="14859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6619875" y="14859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6772275" y="14859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 txBox="1"/>
            <p:nvPr/>
          </p:nvSpPr>
          <p:spPr>
            <a:xfrm>
              <a:off x="7000875" y="1428750"/>
              <a:ext cx="190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ModuleOutlineGenerator </a:t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20" name="Google Shape;3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0" y="1896284"/>
            <a:ext cx="5334001" cy="24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0"/>
          <p:cNvPicPr preferRelativeResize="0"/>
          <p:nvPr/>
        </p:nvPicPr>
        <p:blipFill rotWithShape="1">
          <a:blip r:embed="rId4">
            <a:alphaModFix/>
          </a:blip>
          <a:srcRect b="0" l="0" r="0" t="21979"/>
          <a:stretch/>
        </p:blipFill>
        <p:spPr>
          <a:xfrm>
            <a:off x="6286500" y="5350700"/>
            <a:ext cx="5334001" cy="9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Agent 2: The Module Outline </a:t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571500" y="117157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" name="Google Shape;328;p21"/>
          <p:cNvGrpSpPr/>
          <p:nvPr/>
        </p:nvGrpSpPr>
        <p:grpSpPr>
          <a:xfrm>
            <a:off x="6379550" y="3246472"/>
            <a:ext cx="5334000" cy="3214325"/>
            <a:chOff x="6286500" y="1352550"/>
            <a:chExt cx="5334000" cy="4819800"/>
          </a:xfrm>
        </p:grpSpPr>
        <p:sp>
          <p:nvSpPr>
            <p:cNvPr id="329" name="Google Shape;329;p21"/>
            <p:cNvSpPr/>
            <p:nvPr/>
          </p:nvSpPr>
          <p:spPr>
            <a:xfrm>
              <a:off x="6286500" y="1352550"/>
              <a:ext cx="5334000" cy="4819800"/>
            </a:xfrm>
            <a:prstGeom prst="roundRect">
              <a:avLst>
                <a:gd fmla="val 2371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6286500" y="1352550"/>
              <a:ext cx="5334000" cy="3621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271" y="18206"/>
                    <a:pt x="753" y="11099"/>
                  </a:cubicBezTo>
                  <a:cubicBezTo>
                    <a:pt x="1235" y="3993"/>
                    <a:pt x="1889" y="0"/>
                    <a:pt x="2571" y="0"/>
                  </a:cubicBezTo>
                  <a:lnTo>
                    <a:pt x="117429" y="0"/>
                  </a:lnTo>
                  <a:cubicBezTo>
                    <a:pt x="118849" y="3"/>
                    <a:pt x="120000" y="16969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6467475" y="14859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6619875" y="14859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6772275" y="14859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1"/>
            <p:cNvSpPr txBox="1"/>
            <p:nvPr/>
          </p:nvSpPr>
          <p:spPr>
            <a:xfrm>
              <a:off x="7000875" y="1428750"/>
              <a:ext cx="190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ModuleOutlineGenerator </a:t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5" name="Google Shape;335;p21"/>
          <p:cNvGrpSpPr/>
          <p:nvPr/>
        </p:nvGrpSpPr>
        <p:grpSpPr>
          <a:xfrm>
            <a:off x="571500" y="1352550"/>
            <a:ext cx="5429400" cy="4819650"/>
            <a:chOff x="571500" y="1352550"/>
            <a:chExt cx="5429400" cy="4819650"/>
          </a:xfrm>
        </p:grpSpPr>
        <p:grpSp>
          <p:nvGrpSpPr>
            <p:cNvPr id="336" name="Google Shape;336;p21"/>
            <p:cNvGrpSpPr/>
            <p:nvPr/>
          </p:nvGrpSpPr>
          <p:grpSpPr>
            <a:xfrm>
              <a:off x="571500" y="1352550"/>
              <a:ext cx="2381400" cy="304800"/>
              <a:chOff x="0" y="0"/>
              <a:chExt cx="2381400" cy="304800"/>
            </a:xfrm>
          </p:grpSpPr>
          <p:sp>
            <p:nvSpPr>
              <p:cNvPr id="337" name="Google Shape;337;p21"/>
              <p:cNvSpPr/>
              <p:nvPr/>
            </p:nvSpPr>
            <p:spPr>
              <a:xfrm>
                <a:off x="0" y="0"/>
                <a:ext cx="23814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F59E0B">
                  <a:alpha val="12000"/>
                </a:srgbClr>
              </a:solidFill>
              <a:ln cap="flat" cmpd="sng" w="9525">
                <a:solidFill>
                  <a:srgbClr val="F59E0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1"/>
              <p:cNvSpPr txBox="1"/>
              <p:nvPr/>
            </p:nvSpPr>
            <p:spPr>
              <a:xfrm>
                <a:off x="0" y="0"/>
                <a:ext cx="2381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59E0B"/>
                    </a:solidFill>
                    <a:latin typeface="Inter"/>
                    <a:ea typeface="Inter"/>
                    <a:cs typeface="Inter"/>
                    <a:sym typeface="Inter"/>
                  </a:rPr>
                  <a:t>DETERMINISTIC GUARDRAILS</a:t>
                </a:r>
                <a:endParaRPr b="1" sz="1000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9" name="Google Shape;339;p21"/>
            <p:cNvGrpSpPr/>
            <p:nvPr/>
          </p:nvGrpSpPr>
          <p:grpSpPr>
            <a:xfrm>
              <a:off x="571500" y="1828800"/>
              <a:ext cx="5429400" cy="1285800"/>
              <a:chOff x="0" y="0"/>
              <a:chExt cx="5429400" cy="1285800"/>
            </a:xfrm>
          </p:grpSpPr>
          <p:sp>
            <p:nvSpPr>
              <p:cNvPr id="340" name="Google Shape;340;p21"/>
              <p:cNvSpPr/>
              <p:nvPr/>
            </p:nvSpPr>
            <p:spPr>
              <a:xfrm>
                <a:off x="0" y="0"/>
                <a:ext cx="5429400" cy="1285800"/>
              </a:xfrm>
              <a:prstGeom prst="roundRect">
                <a:avLst>
                  <a:gd fmla="val 7407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1"/>
              <p:cNvSpPr/>
              <p:nvPr/>
            </p:nvSpPr>
            <p:spPr>
              <a:xfrm>
                <a:off x="0" y="0"/>
                <a:ext cx="38100" cy="12858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1"/>
              <p:cNvSpPr txBox="1"/>
              <p:nvPr/>
            </p:nvSpPr>
            <p:spPr>
              <a:xfrm>
                <a:off x="228600" y="152400"/>
                <a:ext cx="50103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1. State Consumption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The agent knows nothing about the graph. It simply takes the CompetencyGapReport generated by Agent 1 and transforms it. </a:t>
                </a:r>
                <a:endParaRPr sz="14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3" name="Google Shape;343;p21"/>
            <p:cNvGrpSpPr/>
            <p:nvPr/>
          </p:nvGrpSpPr>
          <p:grpSpPr>
            <a:xfrm>
              <a:off x="571500" y="3286125"/>
              <a:ext cx="5429400" cy="1381200"/>
              <a:chOff x="0" y="0"/>
              <a:chExt cx="5429400" cy="1381200"/>
            </a:xfrm>
          </p:grpSpPr>
          <p:sp>
            <p:nvSpPr>
              <p:cNvPr id="344" name="Google Shape;344;p21"/>
              <p:cNvSpPr/>
              <p:nvPr/>
            </p:nvSpPr>
            <p:spPr>
              <a:xfrm>
                <a:off x="0" y="0"/>
                <a:ext cx="5429400" cy="1381200"/>
              </a:xfrm>
              <a:prstGeom prst="roundRect">
                <a:avLst>
                  <a:gd fmla="val 6896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>
                <a:off x="0" y="0"/>
                <a:ext cx="38100" cy="13812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1"/>
              <p:cNvSpPr txBox="1"/>
              <p:nvPr/>
            </p:nvSpPr>
            <p:spPr>
              <a:xfrm>
                <a:off x="228600" y="152400"/>
                <a:ext cx="5010300" cy="10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2.Safe String Replacement 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We use .replace() instead of .format() to prevent Python from crashing when injecting raw JSON arrays into the prompt template. </a:t>
                </a:r>
                <a:endParaRPr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7" name="Google Shape;347;p21"/>
            <p:cNvGrpSpPr/>
            <p:nvPr/>
          </p:nvGrpSpPr>
          <p:grpSpPr>
            <a:xfrm>
              <a:off x="571500" y="4838700"/>
              <a:ext cx="5429400" cy="1333500"/>
              <a:chOff x="0" y="0"/>
              <a:chExt cx="5429400" cy="1333500"/>
            </a:xfrm>
          </p:grpSpPr>
          <p:sp>
            <p:nvSpPr>
              <p:cNvPr id="348" name="Google Shape;348;p21"/>
              <p:cNvSpPr/>
              <p:nvPr/>
            </p:nvSpPr>
            <p:spPr>
              <a:xfrm>
                <a:off x="0" y="0"/>
                <a:ext cx="5429400" cy="1333500"/>
              </a:xfrm>
              <a:prstGeom prst="roundRect">
                <a:avLst>
                  <a:gd fmla="val 7142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1"/>
              <p:cNvSpPr/>
              <p:nvPr/>
            </p:nvSpPr>
            <p:spPr>
              <a:xfrm>
                <a:off x="0" y="0"/>
                <a:ext cx="381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1"/>
              <p:cNvSpPr txBox="1"/>
              <p:nvPr/>
            </p:nvSpPr>
            <p:spPr>
              <a:xfrm>
                <a:off x="228600" y="152400"/>
                <a:ext cx="5010300" cy="10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3. Graceful Degradation 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If the LLM hallucinates markdown blocks or malformed JSON, we strip the syntax. If parsing still fails, we catch the JSONDecodeError and use a deterministic fallback mapping instead of crashing the workflow </a:t>
                </a:r>
                <a:endParaRPr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51" name="Google Shape;351;p21"/>
          <p:cNvGrpSpPr/>
          <p:nvPr/>
        </p:nvGrpSpPr>
        <p:grpSpPr>
          <a:xfrm>
            <a:off x="6278550" y="1392499"/>
            <a:ext cx="5334000" cy="1743804"/>
            <a:chOff x="6286500" y="1352550"/>
            <a:chExt cx="5334000" cy="4819800"/>
          </a:xfrm>
        </p:grpSpPr>
        <p:sp>
          <p:nvSpPr>
            <p:cNvPr id="352" name="Google Shape;352;p21"/>
            <p:cNvSpPr/>
            <p:nvPr/>
          </p:nvSpPr>
          <p:spPr>
            <a:xfrm>
              <a:off x="6286500" y="1352550"/>
              <a:ext cx="5334000" cy="4819800"/>
            </a:xfrm>
            <a:prstGeom prst="roundRect">
              <a:avLst>
                <a:gd fmla="val 2371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6286500" y="1352550"/>
              <a:ext cx="5334000" cy="3621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271" y="18206"/>
                    <a:pt x="753" y="11099"/>
                  </a:cubicBezTo>
                  <a:cubicBezTo>
                    <a:pt x="1235" y="3993"/>
                    <a:pt x="1889" y="0"/>
                    <a:pt x="2571" y="0"/>
                  </a:cubicBezTo>
                  <a:lnTo>
                    <a:pt x="117429" y="0"/>
                  </a:lnTo>
                  <a:cubicBezTo>
                    <a:pt x="118849" y="3"/>
                    <a:pt x="120000" y="16969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6467475" y="14859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6619875" y="14859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6772275" y="14859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1"/>
            <p:cNvSpPr txBox="1"/>
            <p:nvPr/>
          </p:nvSpPr>
          <p:spPr>
            <a:xfrm>
              <a:off x="7000875" y="1428750"/>
              <a:ext cx="190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ModuleOutlineGenerator </a:t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58" name="Google Shape;35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550" y="1656900"/>
            <a:ext cx="5333999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1623" y="3589014"/>
            <a:ext cx="5334000" cy="151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1600" y="5106276"/>
            <a:ext cx="5334000" cy="12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Agent 3: The Assessment Generator </a:t>
            </a:r>
            <a:endParaRPr/>
          </a:p>
        </p:txBody>
      </p:sp>
      <p:sp>
        <p:nvSpPr>
          <p:cNvPr id="366" name="Google Shape;366;p22"/>
          <p:cNvSpPr/>
          <p:nvPr/>
        </p:nvSpPr>
        <p:spPr>
          <a:xfrm>
            <a:off x="571500" y="117157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22"/>
          <p:cNvGrpSpPr/>
          <p:nvPr/>
        </p:nvGrpSpPr>
        <p:grpSpPr>
          <a:xfrm>
            <a:off x="6379550" y="3246472"/>
            <a:ext cx="5334000" cy="3214325"/>
            <a:chOff x="6286500" y="1352550"/>
            <a:chExt cx="5334000" cy="4819800"/>
          </a:xfrm>
        </p:grpSpPr>
        <p:sp>
          <p:nvSpPr>
            <p:cNvPr id="368" name="Google Shape;368;p22"/>
            <p:cNvSpPr/>
            <p:nvPr/>
          </p:nvSpPr>
          <p:spPr>
            <a:xfrm>
              <a:off x="6286500" y="1352550"/>
              <a:ext cx="5334000" cy="4819800"/>
            </a:xfrm>
            <a:prstGeom prst="roundRect">
              <a:avLst>
                <a:gd fmla="val 2371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6286500" y="1352550"/>
              <a:ext cx="5334000" cy="3621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271" y="18206"/>
                    <a:pt x="753" y="11099"/>
                  </a:cubicBezTo>
                  <a:cubicBezTo>
                    <a:pt x="1235" y="3993"/>
                    <a:pt x="1889" y="0"/>
                    <a:pt x="2571" y="0"/>
                  </a:cubicBezTo>
                  <a:lnTo>
                    <a:pt x="117429" y="0"/>
                  </a:lnTo>
                  <a:cubicBezTo>
                    <a:pt x="118849" y="3"/>
                    <a:pt x="120000" y="16969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6467475" y="14859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6619875" y="14859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6772275" y="14859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2"/>
            <p:cNvSpPr txBox="1"/>
            <p:nvPr/>
          </p:nvSpPr>
          <p:spPr>
            <a:xfrm>
              <a:off x="7000875" y="1428750"/>
              <a:ext cx="190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AssessmentGenerator</a:t>
              </a:r>
              <a:endParaRPr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4" name="Google Shape;374;p22"/>
          <p:cNvGrpSpPr/>
          <p:nvPr/>
        </p:nvGrpSpPr>
        <p:grpSpPr>
          <a:xfrm>
            <a:off x="6278550" y="1392499"/>
            <a:ext cx="5334000" cy="1743804"/>
            <a:chOff x="6286500" y="1352550"/>
            <a:chExt cx="5334000" cy="4819800"/>
          </a:xfrm>
        </p:grpSpPr>
        <p:sp>
          <p:nvSpPr>
            <p:cNvPr id="375" name="Google Shape;375;p22"/>
            <p:cNvSpPr/>
            <p:nvPr/>
          </p:nvSpPr>
          <p:spPr>
            <a:xfrm>
              <a:off x="6286500" y="1352550"/>
              <a:ext cx="5334000" cy="4819800"/>
            </a:xfrm>
            <a:prstGeom prst="roundRect">
              <a:avLst>
                <a:gd fmla="val 2371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6286500" y="1352550"/>
              <a:ext cx="5334000" cy="3621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271" y="18206"/>
                    <a:pt x="753" y="11099"/>
                  </a:cubicBezTo>
                  <a:cubicBezTo>
                    <a:pt x="1235" y="3993"/>
                    <a:pt x="1889" y="0"/>
                    <a:pt x="2571" y="0"/>
                  </a:cubicBezTo>
                  <a:lnTo>
                    <a:pt x="117429" y="0"/>
                  </a:lnTo>
                  <a:cubicBezTo>
                    <a:pt x="118849" y="3"/>
                    <a:pt x="120000" y="16969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6467475" y="14859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6619875" y="14859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6772275" y="14859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2"/>
            <p:cNvSpPr txBox="1"/>
            <p:nvPr/>
          </p:nvSpPr>
          <p:spPr>
            <a:xfrm>
              <a:off x="7000875" y="1428750"/>
              <a:ext cx="190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AssessmentGenerator</a:t>
              </a:r>
              <a:endParaRPr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81" name="Google Shape;38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722" y="1703075"/>
            <a:ext cx="5334000" cy="12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2"/>
          <p:cNvPicPr preferRelativeResize="0"/>
          <p:nvPr/>
        </p:nvPicPr>
        <p:blipFill rotWithShape="1">
          <a:blip r:embed="rId4">
            <a:alphaModFix/>
          </a:blip>
          <a:srcRect b="8028" l="14926" r="4997" t="3358"/>
          <a:stretch/>
        </p:blipFill>
        <p:spPr>
          <a:xfrm>
            <a:off x="6379550" y="3668800"/>
            <a:ext cx="5333999" cy="27585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22"/>
          <p:cNvGrpSpPr/>
          <p:nvPr/>
        </p:nvGrpSpPr>
        <p:grpSpPr>
          <a:xfrm>
            <a:off x="571500" y="1352550"/>
            <a:ext cx="5429400" cy="4819650"/>
            <a:chOff x="571500" y="1352550"/>
            <a:chExt cx="5429400" cy="4819650"/>
          </a:xfrm>
        </p:grpSpPr>
        <p:grpSp>
          <p:nvGrpSpPr>
            <p:cNvPr id="384" name="Google Shape;384;p22"/>
            <p:cNvGrpSpPr/>
            <p:nvPr/>
          </p:nvGrpSpPr>
          <p:grpSpPr>
            <a:xfrm>
              <a:off x="571500" y="1828800"/>
              <a:ext cx="5429400" cy="1285800"/>
              <a:chOff x="0" y="0"/>
              <a:chExt cx="5429400" cy="1285800"/>
            </a:xfrm>
          </p:grpSpPr>
          <p:sp>
            <p:nvSpPr>
              <p:cNvPr id="385" name="Google Shape;385;p22"/>
              <p:cNvSpPr/>
              <p:nvPr/>
            </p:nvSpPr>
            <p:spPr>
              <a:xfrm>
                <a:off x="0" y="0"/>
                <a:ext cx="5429400" cy="1285800"/>
              </a:xfrm>
              <a:prstGeom prst="roundRect">
                <a:avLst>
                  <a:gd fmla="val 7407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2"/>
              <p:cNvSpPr/>
              <p:nvPr/>
            </p:nvSpPr>
            <p:spPr>
              <a:xfrm>
                <a:off x="0" y="0"/>
                <a:ext cx="38100" cy="12858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2"/>
              <p:cNvSpPr txBox="1"/>
              <p:nvPr/>
            </p:nvSpPr>
            <p:spPr>
              <a:xfrm>
                <a:off x="228600" y="152400"/>
                <a:ext cx="50103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1. Strict RAG Grounding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The agent retrieves context from the corpus first. If no source material is found for a gap, it completely skips it. It refuses to let the LLM hallucinate</a:t>
                </a:r>
                <a:r>
                  <a:rPr lang="en-US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questions</a:t>
                </a:r>
                <a:r>
                  <a:rPr lang="en-US">
                    <a:solidFill>
                      <a:schemeClr val="dk1"/>
                    </a:solidFill>
                  </a:rPr>
                  <a:t>. </a:t>
                </a:r>
                <a:endParaRPr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8" name="Google Shape;388;p22"/>
            <p:cNvGrpSpPr/>
            <p:nvPr/>
          </p:nvGrpSpPr>
          <p:grpSpPr>
            <a:xfrm>
              <a:off x="571500" y="3286125"/>
              <a:ext cx="5429400" cy="1381200"/>
              <a:chOff x="0" y="0"/>
              <a:chExt cx="5429400" cy="1381200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0" y="0"/>
                <a:ext cx="5429400" cy="1381200"/>
              </a:xfrm>
              <a:prstGeom prst="roundRect">
                <a:avLst>
                  <a:gd fmla="val 6896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0" y="0"/>
                <a:ext cx="38100" cy="13812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2"/>
              <p:cNvSpPr txBox="1"/>
              <p:nvPr/>
            </p:nvSpPr>
            <p:spPr>
              <a:xfrm>
                <a:off x="228600" y="152400"/>
                <a:ext cx="5010300" cy="10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2. Batch Isolation</a:t>
                </a:r>
                <a:r>
                  <a:rPr b="1" lang="en-US" sz="1100">
                    <a:solidFill>
                      <a:schemeClr val="dk1"/>
                    </a:solidFill>
                  </a:rPr>
                  <a:t>:</a:t>
                </a:r>
                <a:r>
                  <a:rPr lang="en-US" sz="1100">
                    <a:solidFill>
                      <a:schemeClr val="dk1"/>
                    </a:solidFill>
                  </a:rPr>
                  <a:t> 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We make one LLM call per subject and isolate them in try/except loops. A single malformed response will drop one question, rather than crashing the entire assessment array.</a:t>
                </a:r>
                <a:r>
                  <a:rPr lang="en-US" sz="1100">
                    <a:solidFill>
                      <a:schemeClr val="dk1"/>
                    </a:solidFill>
                  </a:rPr>
                  <a:t> </a:t>
                </a: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endParaRPr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2" name="Google Shape;392;p22"/>
            <p:cNvGrpSpPr/>
            <p:nvPr/>
          </p:nvGrpSpPr>
          <p:grpSpPr>
            <a:xfrm>
              <a:off x="571500" y="4838700"/>
              <a:ext cx="5429400" cy="1333500"/>
              <a:chOff x="0" y="0"/>
              <a:chExt cx="5429400" cy="1333500"/>
            </a:xfrm>
          </p:grpSpPr>
          <p:sp>
            <p:nvSpPr>
              <p:cNvPr id="393" name="Google Shape;393;p22"/>
              <p:cNvSpPr/>
              <p:nvPr/>
            </p:nvSpPr>
            <p:spPr>
              <a:xfrm>
                <a:off x="0" y="0"/>
                <a:ext cx="5429400" cy="1333500"/>
              </a:xfrm>
              <a:prstGeom prst="roundRect">
                <a:avLst>
                  <a:gd fmla="val 7142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2"/>
              <p:cNvSpPr/>
              <p:nvPr/>
            </p:nvSpPr>
            <p:spPr>
              <a:xfrm>
                <a:off x="0" y="0"/>
                <a:ext cx="381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2"/>
              <p:cNvSpPr txBox="1"/>
              <p:nvPr/>
            </p:nvSpPr>
            <p:spPr>
              <a:xfrm>
                <a:off x="228600" y="152400"/>
                <a:ext cx="5010300" cy="10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3. Semantic Validation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Every generated question passes through a deterministic validator (checking option counts, letter mappings) before being appended to the state. </a:t>
                </a:r>
                <a:endParaRPr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96" name="Google Shape;396;p22"/>
            <p:cNvSpPr/>
            <p:nvPr/>
          </p:nvSpPr>
          <p:spPr>
            <a:xfrm>
              <a:off x="571500" y="1352550"/>
              <a:ext cx="2381400" cy="304800"/>
            </a:xfrm>
            <a:prstGeom prst="roundRect">
              <a:avLst>
                <a:gd fmla="val 50000" name="adj"/>
              </a:avLst>
            </a:prstGeom>
            <a:solidFill>
              <a:srgbClr val="F59E0B">
                <a:alpha val="12000"/>
              </a:srgbClr>
            </a:solidFill>
            <a:ln cap="flat" cmpd="sng" w="9525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7" name="Google Shape;397;p22"/>
          <p:cNvSpPr txBox="1"/>
          <p:nvPr/>
        </p:nvSpPr>
        <p:spPr>
          <a:xfrm>
            <a:off x="263000" y="13291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DETERMINISTIC GUARDRAILS</a:t>
            </a:r>
            <a:endParaRPr b="1" sz="1000">
              <a:solidFill>
                <a:srgbClr val="F59E0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Orchestrator (State &amp; Reducers) </a:t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571500" y="117157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" name="Google Shape;404;p23"/>
          <p:cNvGrpSpPr/>
          <p:nvPr/>
        </p:nvGrpSpPr>
        <p:grpSpPr>
          <a:xfrm>
            <a:off x="6286500" y="2019202"/>
            <a:ext cx="5334000" cy="3659192"/>
            <a:chOff x="6286500" y="1352550"/>
            <a:chExt cx="5334000" cy="4819800"/>
          </a:xfrm>
        </p:grpSpPr>
        <p:sp>
          <p:nvSpPr>
            <p:cNvPr id="405" name="Google Shape;405;p23"/>
            <p:cNvSpPr/>
            <p:nvPr/>
          </p:nvSpPr>
          <p:spPr>
            <a:xfrm>
              <a:off x="6286500" y="1352550"/>
              <a:ext cx="5334000" cy="4819800"/>
            </a:xfrm>
            <a:prstGeom prst="roundRect">
              <a:avLst>
                <a:gd fmla="val 2371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6286500" y="1352550"/>
              <a:ext cx="5334000" cy="3621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271" y="18206"/>
                    <a:pt x="753" y="11099"/>
                  </a:cubicBezTo>
                  <a:cubicBezTo>
                    <a:pt x="1235" y="3993"/>
                    <a:pt x="1889" y="0"/>
                    <a:pt x="2571" y="0"/>
                  </a:cubicBezTo>
                  <a:lnTo>
                    <a:pt x="117429" y="0"/>
                  </a:lnTo>
                  <a:cubicBezTo>
                    <a:pt x="118849" y="3"/>
                    <a:pt x="120000" y="16969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6467475" y="14859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6619875" y="14859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6772275" y="14859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3"/>
            <p:cNvSpPr txBox="1"/>
            <p:nvPr/>
          </p:nvSpPr>
          <p:spPr>
            <a:xfrm>
              <a:off x="7000875" y="1428750"/>
              <a:ext cx="190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50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copilot_graph.py</a:t>
              </a:r>
              <a:endParaRPr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1" name="Google Shape;411;p23"/>
          <p:cNvGrpSpPr/>
          <p:nvPr/>
        </p:nvGrpSpPr>
        <p:grpSpPr>
          <a:xfrm>
            <a:off x="571500" y="1352550"/>
            <a:ext cx="5429400" cy="4819650"/>
            <a:chOff x="571500" y="1352550"/>
            <a:chExt cx="5429400" cy="4819650"/>
          </a:xfrm>
        </p:grpSpPr>
        <p:grpSp>
          <p:nvGrpSpPr>
            <p:cNvPr id="412" name="Google Shape;412;p23"/>
            <p:cNvGrpSpPr/>
            <p:nvPr/>
          </p:nvGrpSpPr>
          <p:grpSpPr>
            <a:xfrm>
              <a:off x="571500" y="1828800"/>
              <a:ext cx="5429400" cy="1285800"/>
              <a:chOff x="0" y="0"/>
              <a:chExt cx="5429400" cy="1285800"/>
            </a:xfrm>
          </p:grpSpPr>
          <p:sp>
            <p:nvSpPr>
              <p:cNvPr id="413" name="Google Shape;413;p23"/>
              <p:cNvSpPr/>
              <p:nvPr/>
            </p:nvSpPr>
            <p:spPr>
              <a:xfrm>
                <a:off x="0" y="0"/>
                <a:ext cx="5429400" cy="1285800"/>
              </a:xfrm>
              <a:prstGeom prst="roundRect">
                <a:avLst>
                  <a:gd fmla="val 7407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3"/>
              <p:cNvSpPr/>
              <p:nvPr/>
            </p:nvSpPr>
            <p:spPr>
              <a:xfrm>
                <a:off x="0" y="0"/>
                <a:ext cx="38100" cy="12858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3"/>
              <p:cNvSpPr txBox="1"/>
              <p:nvPr/>
            </p:nvSpPr>
            <p:spPr>
              <a:xfrm>
                <a:off x="228600" y="152400"/>
                <a:ext cx="50103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1. TypedDict State 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The graph passes a strongly-typed CopilotState dictionary between nodes. Each agent only reads what it needs and returns partial updates. </a:t>
                </a:r>
                <a:endParaRPr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16" name="Google Shape;416;p23"/>
            <p:cNvGrpSpPr/>
            <p:nvPr/>
          </p:nvGrpSpPr>
          <p:grpSpPr>
            <a:xfrm>
              <a:off x="571500" y="3286125"/>
              <a:ext cx="5429400" cy="1381200"/>
              <a:chOff x="0" y="0"/>
              <a:chExt cx="5429400" cy="1381200"/>
            </a:xfrm>
          </p:grpSpPr>
          <p:sp>
            <p:nvSpPr>
              <p:cNvPr id="417" name="Google Shape;417;p23"/>
              <p:cNvSpPr/>
              <p:nvPr/>
            </p:nvSpPr>
            <p:spPr>
              <a:xfrm>
                <a:off x="0" y="0"/>
                <a:ext cx="5429400" cy="1381200"/>
              </a:xfrm>
              <a:prstGeom prst="roundRect">
                <a:avLst>
                  <a:gd fmla="val 6896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3"/>
              <p:cNvSpPr/>
              <p:nvPr/>
            </p:nvSpPr>
            <p:spPr>
              <a:xfrm>
                <a:off x="0" y="0"/>
                <a:ext cx="38100" cy="13812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3"/>
              <p:cNvSpPr txBox="1"/>
              <p:nvPr/>
            </p:nvSpPr>
            <p:spPr>
              <a:xfrm>
                <a:off x="228600" y="152400"/>
                <a:ext cx="5010300" cy="10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2. The Overwrite Bug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Originally, audit_trail was a standard list. When multiple nodes returned audit logs, LangGraph silently </a:t>
                </a: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overwrite</a:t>
                </a: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 the previous node's data instead of keeping a running history. </a:t>
                </a:r>
                <a:endParaRPr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20" name="Google Shape;420;p23"/>
            <p:cNvGrpSpPr/>
            <p:nvPr/>
          </p:nvGrpSpPr>
          <p:grpSpPr>
            <a:xfrm>
              <a:off x="571500" y="4838700"/>
              <a:ext cx="5429400" cy="1333500"/>
              <a:chOff x="0" y="0"/>
              <a:chExt cx="5429400" cy="1333500"/>
            </a:xfrm>
          </p:grpSpPr>
          <p:sp>
            <p:nvSpPr>
              <p:cNvPr id="421" name="Google Shape;421;p23"/>
              <p:cNvSpPr/>
              <p:nvPr/>
            </p:nvSpPr>
            <p:spPr>
              <a:xfrm>
                <a:off x="0" y="0"/>
                <a:ext cx="5429400" cy="1333500"/>
              </a:xfrm>
              <a:prstGeom prst="roundRect">
                <a:avLst>
                  <a:gd fmla="val 7142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0" y="0"/>
                <a:ext cx="381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3"/>
              <p:cNvSpPr txBox="1"/>
              <p:nvPr/>
            </p:nvSpPr>
            <p:spPr>
              <a:xfrm>
                <a:off x="228600" y="152400"/>
                <a:ext cx="5010300" cy="10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3. Annotated Reducers 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We fixed this using Annotated[list, operator.add]. This tells LangGraph's internal state manager to reduce (merge) updates by appending them, creating a continuous historical log. </a:t>
                </a:r>
                <a:endParaRPr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424" name="Google Shape;424;p23"/>
            <p:cNvSpPr/>
            <p:nvPr/>
          </p:nvSpPr>
          <p:spPr>
            <a:xfrm>
              <a:off x="571500" y="1352550"/>
              <a:ext cx="2400300" cy="304800"/>
            </a:xfrm>
            <a:prstGeom prst="roundRect">
              <a:avLst>
                <a:gd fmla="val 50000" name="adj"/>
              </a:avLst>
            </a:prstGeom>
            <a:solidFill>
              <a:srgbClr val="F59E0B">
                <a:alpha val="12000"/>
              </a:srgbClr>
            </a:solidFill>
            <a:ln cap="flat" cmpd="sng" w="9525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5" name="Google Shape;425;p23"/>
          <p:cNvSpPr txBox="1"/>
          <p:nvPr/>
        </p:nvSpPr>
        <p:spPr>
          <a:xfrm>
            <a:off x="443452" y="1329150"/>
            <a:ext cx="267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9900"/>
                </a:solidFill>
              </a:rPr>
              <a:t>STATE ARCHITECTURE </a:t>
            </a:r>
            <a:endParaRPr b="1" sz="1000">
              <a:solidFill>
                <a:srgbClr val="FF99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6" name="Google Shape;4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0" y="2543150"/>
            <a:ext cx="5334001" cy="2897125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1" name="Google Shape;4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326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9473"/>
            <a:ext cx="11049000" cy="1530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1161" y="2354975"/>
            <a:ext cx="201331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61333" y="2239498"/>
            <a:ext cx="2767325" cy="95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52227" y="2228272"/>
            <a:ext cx="2671900" cy="9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4"/>
          <p:cNvSpPr txBox="1"/>
          <p:nvPr/>
        </p:nvSpPr>
        <p:spPr>
          <a:xfrm>
            <a:off x="571500" y="1328998"/>
            <a:ext cx="110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Every agent call is wrapped, not called directly.</a:t>
            </a:r>
            <a:endParaRPr sz="1600"/>
          </a:p>
        </p:txBody>
      </p:sp>
      <p:sp>
        <p:nvSpPr>
          <p:cNvPr id="437" name="Google Shape;437;p24"/>
          <p:cNvSpPr txBox="1"/>
          <p:nvPr/>
        </p:nvSpPr>
        <p:spPr>
          <a:xfrm>
            <a:off x="4647608" y="2757520"/>
            <a:ext cx="21948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FCD34D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ThreadPoolExecutor, 60s</a:t>
            </a:r>
            <a:endParaRPr sz="2004"/>
          </a:p>
        </p:txBody>
      </p:sp>
      <p:sp>
        <p:nvSpPr>
          <p:cNvPr id="438" name="Google Shape;438;p24"/>
          <p:cNvSpPr txBox="1"/>
          <p:nvPr/>
        </p:nvSpPr>
        <p:spPr>
          <a:xfrm>
            <a:off x="8638502" y="2746293"/>
            <a:ext cx="20997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6EE7B7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max 2 retries, backoff</a:t>
            </a:r>
            <a:endParaRPr sz="2004"/>
          </a:p>
        </p:txBody>
      </p:sp>
      <p:sp>
        <p:nvSpPr>
          <p:cNvPr id="439" name="Google Shape;439;p24"/>
          <p:cNvSpPr txBox="1"/>
          <p:nvPr/>
        </p:nvSpPr>
        <p:spPr>
          <a:xfrm>
            <a:off x="857250" y="3956744"/>
            <a:ext cx="1076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 timeout → ; on node exception → up to 2 retries with exponential backoff.</a:t>
            </a:r>
            <a:endParaRPr/>
          </a:p>
        </p:txBody>
      </p:sp>
      <p:sp>
        <p:nvSpPr>
          <p:cNvPr id="440" name="Google Shape;440;p24"/>
          <p:cNvSpPr txBox="1"/>
          <p:nvPr/>
        </p:nvSpPr>
        <p:spPr>
          <a:xfrm>
            <a:off x="857250" y="4531966"/>
            <a:ext cx="10763400" cy="4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Explicit Cancellation:</a:t>
            </a:r>
            <a:r>
              <a:rPr b="0" i="0" lang="en-US" sz="14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Unlike timeouts, if a </a:t>
            </a:r>
            <a:r>
              <a:rPr b="0" i="0" lang="en-US" sz="1425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ClientCancelledError</a:t>
            </a:r>
            <a:r>
              <a:rPr b="0" i="0" lang="en-US" sz="14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caught, the system immediately halts. It respects the user's cancellation and never retries.</a:t>
            </a:r>
            <a:endParaRPr b="0" i="0" sz="142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857250" y="5107185"/>
            <a:ext cx="107634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every retry fails, the node degrades gracefully: it falls back to plain retrieved evidence rather than crashing the whole graph, and records .</a:t>
            </a:r>
            <a:endParaRPr/>
          </a:p>
        </p:txBody>
      </p:sp>
      <p:sp>
        <p:nvSpPr>
          <p:cNvPr id="442" name="Google Shape;442;p24"/>
          <p:cNvSpPr txBox="1"/>
          <p:nvPr/>
        </p:nvSpPr>
        <p:spPr>
          <a:xfrm>
            <a:off x="571500" y="3956744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443" name="Google Shape;44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43100" y="3922632"/>
            <a:ext cx="17335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4"/>
          <p:cNvSpPr txBox="1"/>
          <p:nvPr/>
        </p:nvSpPr>
        <p:spPr>
          <a:xfrm>
            <a:off x="571500" y="453196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5" name="Google Shape;445;p24"/>
          <p:cNvSpPr txBox="1"/>
          <p:nvPr/>
        </p:nvSpPr>
        <p:spPr>
          <a:xfrm>
            <a:off x="571500" y="510718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446" name="Google Shape;44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90725" y="5453401"/>
            <a:ext cx="1638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Resilience Wrapper</a:t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571500" y="117157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9" name="Google Shape;449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61957" y="2440846"/>
            <a:ext cx="728639" cy="448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27891" y="2464296"/>
            <a:ext cx="728639" cy="448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"/>
          <p:cNvSpPr txBox="1"/>
          <p:nvPr/>
        </p:nvSpPr>
        <p:spPr>
          <a:xfrm>
            <a:off x="571500" y="571500"/>
            <a:ext cx="11601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Approval Gate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5"/>
          <p:cNvSpPr/>
          <p:nvPr/>
        </p:nvSpPr>
        <p:spPr>
          <a:xfrm>
            <a:off x="571500" y="117157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25"/>
          <p:cNvGrpSpPr/>
          <p:nvPr/>
        </p:nvGrpSpPr>
        <p:grpSpPr>
          <a:xfrm>
            <a:off x="6286500" y="2019202"/>
            <a:ext cx="5334000" cy="3659192"/>
            <a:chOff x="6286500" y="1352550"/>
            <a:chExt cx="5334000" cy="4819800"/>
          </a:xfrm>
        </p:grpSpPr>
        <p:sp>
          <p:nvSpPr>
            <p:cNvPr id="458" name="Google Shape;458;p25"/>
            <p:cNvSpPr/>
            <p:nvPr/>
          </p:nvSpPr>
          <p:spPr>
            <a:xfrm>
              <a:off x="6286500" y="1352550"/>
              <a:ext cx="5334000" cy="4819800"/>
            </a:xfrm>
            <a:prstGeom prst="roundRect">
              <a:avLst>
                <a:gd fmla="val 2371" name="adj"/>
              </a:avLst>
            </a:prstGeom>
            <a:solidFill>
              <a:srgbClr val="1E293B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5"/>
            <p:cNvSpPr/>
            <p:nvPr/>
          </p:nvSpPr>
          <p:spPr>
            <a:xfrm>
              <a:off x="6286500" y="1352550"/>
              <a:ext cx="5334000" cy="3621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271" y="18206"/>
                    <a:pt x="753" y="11099"/>
                  </a:cubicBezTo>
                  <a:cubicBezTo>
                    <a:pt x="1235" y="3993"/>
                    <a:pt x="1889" y="0"/>
                    <a:pt x="2571" y="0"/>
                  </a:cubicBezTo>
                  <a:lnTo>
                    <a:pt x="117429" y="0"/>
                  </a:lnTo>
                  <a:cubicBezTo>
                    <a:pt x="118849" y="3"/>
                    <a:pt x="120000" y="16969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5"/>
            <p:cNvSpPr/>
            <p:nvPr/>
          </p:nvSpPr>
          <p:spPr>
            <a:xfrm>
              <a:off x="6467475" y="14859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5"/>
            <p:cNvSpPr/>
            <p:nvPr/>
          </p:nvSpPr>
          <p:spPr>
            <a:xfrm>
              <a:off x="6619875" y="14859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5"/>
            <p:cNvSpPr/>
            <p:nvPr/>
          </p:nvSpPr>
          <p:spPr>
            <a:xfrm>
              <a:off x="6772275" y="14859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5"/>
            <p:cNvSpPr txBox="1"/>
            <p:nvPr/>
          </p:nvSpPr>
          <p:spPr>
            <a:xfrm>
              <a:off x="7000875" y="1428750"/>
              <a:ext cx="190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human_review </a:t>
              </a:r>
              <a:endParaRPr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4" name="Google Shape;464;p25"/>
          <p:cNvGrpSpPr/>
          <p:nvPr/>
        </p:nvGrpSpPr>
        <p:grpSpPr>
          <a:xfrm>
            <a:off x="571500" y="1828800"/>
            <a:ext cx="5429400" cy="4343400"/>
            <a:chOff x="571500" y="1828800"/>
            <a:chExt cx="5429400" cy="4343400"/>
          </a:xfrm>
        </p:grpSpPr>
        <p:grpSp>
          <p:nvGrpSpPr>
            <p:cNvPr id="465" name="Google Shape;465;p25"/>
            <p:cNvGrpSpPr/>
            <p:nvPr/>
          </p:nvGrpSpPr>
          <p:grpSpPr>
            <a:xfrm>
              <a:off x="571500" y="1828800"/>
              <a:ext cx="5429400" cy="1285800"/>
              <a:chOff x="0" y="0"/>
              <a:chExt cx="5429400" cy="1285800"/>
            </a:xfrm>
          </p:grpSpPr>
          <p:sp>
            <p:nvSpPr>
              <p:cNvPr id="466" name="Google Shape;466;p25"/>
              <p:cNvSpPr/>
              <p:nvPr/>
            </p:nvSpPr>
            <p:spPr>
              <a:xfrm>
                <a:off x="0" y="0"/>
                <a:ext cx="5429400" cy="1285800"/>
              </a:xfrm>
              <a:prstGeom prst="roundRect">
                <a:avLst>
                  <a:gd fmla="val 7407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5"/>
              <p:cNvSpPr/>
              <p:nvPr/>
            </p:nvSpPr>
            <p:spPr>
              <a:xfrm>
                <a:off x="0" y="0"/>
                <a:ext cx="38100" cy="12858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5"/>
              <p:cNvSpPr txBox="1"/>
              <p:nvPr/>
            </p:nvSpPr>
            <p:spPr>
              <a:xfrm>
                <a:off x="228600" y="152400"/>
                <a:ext cx="50103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Durable Pausing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The graph genuinely halts before the human_review node, writing a durable checkpoint row to Postgres and returning control to the application layer. </a:t>
                </a:r>
                <a:endParaRPr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9" name="Google Shape;469;p25"/>
            <p:cNvGrpSpPr/>
            <p:nvPr/>
          </p:nvGrpSpPr>
          <p:grpSpPr>
            <a:xfrm>
              <a:off x="571500" y="3286125"/>
              <a:ext cx="5429400" cy="1381200"/>
              <a:chOff x="0" y="0"/>
              <a:chExt cx="5429400" cy="1381200"/>
            </a:xfrm>
          </p:grpSpPr>
          <p:sp>
            <p:nvSpPr>
              <p:cNvPr id="470" name="Google Shape;470;p25"/>
              <p:cNvSpPr/>
              <p:nvPr/>
            </p:nvSpPr>
            <p:spPr>
              <a:xfrm>
                <a:off x="0" y="0"/>
                <a:ext cx="5429400" cy="1381200"/>
              </a:xfrm>
              <a:prstGeom prst="roundRect">
                <a:avLst>
                  <a:gd fmla="val 6896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0" y="0"/>
                <a:ext cx="38100" cy="13812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5"/>
              <p:cNvSpPr txBox="1"/>
              <p:nvPr/>
            </p:nvSpPr>
            <p:spPr>
              <a:xfrm>
                <a:off x="228600" y="152400"/>
                <a:ext cx="5010300" cy="10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State Retrieval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The frontend calls get_state(config) to fetch the paused payload, allowing the instructor to safely inspect the generated outline and assessment. </a:t>
                </a:r>
                <a:endParaRPr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73" name="Google Shape;473;p25"/>
            <p:cNvGrpSpPr/>
            <p:nvPr/>
          </p:nvGrpSpPr>
          <p:grpSpPr>
            <a:xfrm>
              <a:off x="571500" y="4838700"/>
              <a:ext cx="5429400" cy="1333500"/>
              <a:chOff x="0" y="0"/>
              <a:chExt cx="5429400" cy="1333500"/>
            </a:xfrm>
          </p:grpSpPr>
          <p:sp>
            <p:nvSpPr>
              <p:cNvPr id="474" name="Google Shape;474;p25"/>
              <p:cNvSpPr/>
              <p:nvPr/>
            </p:nvSpPr>
            <p:spPr>
              <a:xfrm>
                <a:off x="0" y="0"/>
                <a:ext cx="5429400" cy="1333500"/>
              </a:xfrm>
              <a:prstGeom prst="roundRect">
                <a:avLst>
                  <a:gd fmla="val 7142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0" y="0"/>
                <a:ext cx="381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5"/>
              <p:cNvSpPr txBox="1"/>
              <p:nvPr/>
            </p:nvSpPr>
            <p:spPr>
              <a:xfrm>
                <a:off x="228600" y="152400"/>
                <a:ext cx="5010300" cy="10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Resuming the Graph </a:t>
                </a:r>
                <a:endParaRPr b="1" sz="13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42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Once approved, we call update_state() to inject the human's feedback and resume graph execution from that exact checkpoint.</a:t>
                </a:r>
                <a:r>
                  <a:rPr lang="en-US" sz="1100">
                    <a:solidFill>
                      <a:schemeClr val="dk1"/>
                    </a:solidFill>
                  </a:rPr>
                  <a:t> </a:t>
                </a:r>
                <a:endParaRPr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477" name="Google Shape;4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0" y="2873950"/>
            <a:ext cx="533400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2" name="Google Shape;4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6"/>
          <p:cNvSpPr txBox="1"/>
          <p:nvPr/>
        </p:nvSpPr>
        <p:spPr>
          <a:xfrm>
            <a:off x="571500" y="571500"/>
            <a:ext cx="1160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</a:t>
            </a:r>
            <a:r>
              <a:rPr b="1" lang="en-US" sz="2500">
                <a:solidFill>
                  <a:schemeClr val="lt1"/>
                </a:solidFill>
              </a:rPr>
              <a:t>Human-in-the-Loop</a:t>
            </a:r>
            <a:r>
              <a:rPr lang="en-US" sz="2500">
                <a:solidFill>
                  <a:schemeClr val="lt1"/>
                </a:solidFill>
              </a:rPr>
              <a:t> </a:t>
            </a:r>
            <a:r>
              <a:rPr lang="en-US" sz="25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Lifecycle 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00" y="1840625"/>
            <a:ext cx="11601601" cy="413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0" name="Google Shape;4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3700" y="2964116"/>
            <a:ext cx="2516325" cy="916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922" y="2190600"/>
            <a:ext cx="2663239" cy="73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2" name="Google Shape;4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1659" y="3976699"/>
            <a:ext cx="2516325" cy="6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7"/>
          <p:cNvSpPr txBox="1"/>
          <p:nvPr/>
        </p:nvSpPr>
        <p:spPr>
          <a:xfrm>
            <a:off x="571500" y="5271400"/>
            <a:ext cx="8571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router is just a function of state returning a node name — wires the map.</a:t>
            </a:r>
            <a:endParaRPr sz="1700"/>
          </a:p>
        </p:txBody>
      </p:sp>
      <p:pic>
        <p:nvPicPr>
          <p:cNvPr descr="image.png" id="494" name="Google Shape;49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0255" y="5223650"/>
            <a:ext cx="2968225" cy="3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Conditional Routing</a:t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7" name="Google Shape;49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03766" y="3241687"/>
            <a:ext cx="728639" cy="448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775" y="1903138"/>
            <a:ext cx="559117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28"/>
          <p:cNvGrpSpPr/>
          <p:nvPr/>
        </p:nvGrpSpPr>
        <p:grpSpPr>
          <a:xfrm>
            <a:off x="571500" y="1381125"/>
            <a:ext cx="11049000" cy="523800"/>
            <a:chOff x="0" y="0"/>
            <a:chExt cx="11049000" cy="523800"/>
          </a:xfrm>
        </p:grpSpPr>
        <p:sp>
          <p:nvSpPr>
            <p:cNvPr id="504" name="Google Shape;504;p28"/>
            <p:cNvSpPr/>
            <p:nvPr/>
          </p:nvSpPr>
          <p:spPr>
            <a:xfrm>
              <a:off x="0" y="0"/>
              <a:ext cx="11049000" cy="400200"/>
            </a:xfrm>
            <a:prstGeom prst="roundRect">
              <a:avLst>
                <a:gd fmla="val 1904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05" name="Google Shape;505;p28"/>
            <p:cNvPicPr preferRelativeResize="0"/>
            <p:nvPr/>
          </p:nvPicPr>
          <p:blipFill rotWithShape="1">
            <a:blip r:embed="rId3">
              <a:alphaModFix/>
            </a:blip>
            <a:srcRect b="1784" l="0" r="0" t="1784"/>
            <a:stretch/>
          </p:blipFill>
          <p:spPr>
            <a:xfrm>
              <a:off x="152400" y="49804"/>
              <a:ext cx="2338500" cy="3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28"/>
            <p:cNvSpPr txBox="1"/>
            <p:nvPr/>
          </p:nvSpPr>
          <p:spPr>
            <a:xfrm>
              <a:off x="1981200" y="123600"/>
              <a:ext cx="8763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has to assume it might run twice in a checkpointed execution graph.</a:t>
              </a:r>
              <a:endParaRPr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7" name="Google Shape;507;p28"/>
          <p:cNvGrpSpPr/>
          <p:nvPr/>
        </p:nvGrpSpPr>
        <p:grpSpPr>
          <a:xfrm>
            <a:off x="571500" y="2047875"/>
            <a:ext cx="5238900" cy="1285800"/>
            <a:chOff x="0" y="0"/>
            <a:chExt cx="5238900" cy="1285800"/>
          </a:xfrm>
        </p:grpSpPr>
        <p:sp>
          <p:nvSpPr>
            <p:cNvPr id="508" name="Google Shape;508;p28"/>
            <p:cNvSpPr/>
            <p:nvPr/>
          </p:nvSpPr>
          <p:spPr>
            <a:xfrm>
              <a:off x="0" y="0"/>
              <a:ext cx="5238900" cy="1285800"/>
            </a:xfrm>
            <a:prstGeom prst="roundRect">
              <a:avLst>
                <a:gd fmla="val 8888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0" y="0"/>
              <a:ext cx="57300" cy="12858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8"/>
            <p:cNvSpPr txBox="1"/>
            <p:nvPr/>
          </p:nvSpPr>
          <p:spPr>
            <a:xfrm>
              <a:off x="228600" y="152400"/>
              <a:ext cx="48198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Idempotency Guarantee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Checkpointed graphs can be re-invoked via retries, replays, or resumed threads.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1" name="Google Shape;511;p28"/>
          <p:cNvGrpSpPr/>
          <p:nvPr/>
        </p:nvGrpSpPr>
        <p:grpSpPr>
          <a:xfrm>
            <a:off x="571500" y="3476625"/>
            <a:ext cx="5238900" cy="1285800"/>
            <a:chOff x="0" y="0"/>
            <a:chExt cx="5238900" cy="1285800"/>
          </a:xfrm>
        </p:grpSpPr>
        <p:sp>
          <p:nvSpPr>
            <p:cNvPr id="512" name="Google Shape;512;p28"/>
            <p:cNvSpPr/>
            <p:nvPr/>
          </p:nvSpPr>
          <p:spPr>
            <a:xfrm>
              <a:off x="0" y="0"/>
              <a:ext cx="5238900" cy="1285800"/>
            </a:xfrm>
            <a:prstGeom prst="roundRect">
              <a:avLst>
                <a:gd fmla="val 8888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0" y="0"/>
              <a:ext cx="57300" cy="12858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8"/>
            <p:cNvSpPr txBox="1"/>
            <p:nvPr/>
          </p:nvSpPr>
          <p:spPr>
            <a:xfrm>
              <a:off x="228600" y="152400"/>
              <a:ext cx="48198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Side-Effect Protection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Any node with an external side effect must guard against executing twice.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5" name="Google Shape;515;p28"/>
          <p:cNvGrpSpPr/>
          <p:nvPr/>
        </p:nvGrpSpPr>
        <p:grpSpPr>
          <a:xfrm>
            <a:off x="571500" y="4905375"/>
            <a:ext cx="5238900" cy="1381200"/>
            <a:chOff x="0" y="0"/>
            <a:chExt cx="5238900" cy="1381200"/>
          </a:xfrm>
        </p:grpSpPr>
        <p:sp>
          <p:nvSpPr>
            <p:cNvPr id="516" name="Google Shape;516;p28"/>
            <p:cNvSpPr/>
            <p:nvPr/>
          </p:nvSpPr>
          <p:spPr>
            <a:xfrm>
              <a:off x="0" y="0"/>
              <a:ext cx="5238900" cy="1381200"/>
            </a:xfrm>
            <a:prstGeom prst="roundRect">
              <a:avLst>
                <a:gd fmla="val 8275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0" y="0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8"/>
            <p:cNvSpPr txBox="1"/>
            <p:nvPr/>
          </p:nvSpPr>
          <p:spPr>
            <a:xfrm>
              <a:off x="228600" y="152400"/>
              <a:ext cx="4819800" cy="10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Architecture Rule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System design explicitly enforces that no side-effecting call may run before review status is approved—no trusted bypass path exists.</a:t>
              </a:r>
              <a:endParaRPr b="0" sz="115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19" name="Google Shape;519;p28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Idempotent Publish</a:t>
            </a:r>
            <a:endParaRPr/>
          </a:p>
        </p:txBody>
      </p:sp>
      <p:sp>
        <p:nvSpPr>
          <p:cNvPr id="520" name="Google Shape;520;p28"/>
          <p:cNvSpPr/>
          <p:nvPr/>
        </p:nvSpPr>
        <p:spPr>
          <a:xfrm>
            <a:off x="571500" y="117157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1" name="Google Shape;52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5745" y="3186470"/>
            <a:ext cx="49720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6" name="Google Shape;5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24740"/>
            <a:ext cx="11049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/>
        </p:nvSpPr>
        <p:spPr>
          <a:xfrm>
            <a:off x="6619875" y="2553890"/>
            <a:ext cx="50006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Every reviewer action returns .</a:t>
            </a:r>
            <a:endParaRPr/>
          </a:p>
        </p:txBody>
      </p:sp>
      <p:sp>
        <p:nvSpPr>
          <p:cNvPr id="528" name="Google Shape;528;p29"/>
          <p:cNvSpPr txBox="1"/>
          <p:nvPr/>
        </p:nvSpPr>
        <p:spPr>
          <a:xfrm>
            <a:off x="6619875" y="3129111"/>
            <a:ext cx="5000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With a plain field, each node's return value overwrites state — a second review decision would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erase the first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529" name="Google Shape;529;p29"/>
          <p:cNvSpPr txBox="1"/>
          <p:nvPr/>
        </p:nvSpPr>
        <p:spPr>
          <a:xfrm>
            <a:off x="6619875" y="3993802"/>
            <a:ext cx="5000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tells LangGraph how to merge: </a:t>
            </a:r>
            <a:r>
              <a:rPr lang="en-US" sz="14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concatenates 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lists instead of replacing them.</a:t>
            </a:r>
            <a:endParaRPr/>
          </a:p>
        </p:txBody>
      </p:sp>
      <p:sp>
        <p:nvSpPr>
          <p:cNvPr id="530" name="Google Shape;530;p29"/>
          <p:cNvSpPr txBox="1"/>
          <p:nvPr/>
        </p:nvSpPr>
        <p:spPr>
          <a:xfrm>
            <a:off x="6619875" y="4858494"/>
            <a:ext cx="5000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Lesson: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Any state field a node can update more than once needs an explicit reducer.</a:t>
            </a:r>
            <a:endParaRPr/>
          </a:p>
        </p:txBody>
      </p:sp>
      <p:sp>
        <p:nvSpPr>
          <p:cNvPr id="531" name="Google Shape;531;p29"/>
          <p:cNvSpPr txBox="1"/>
          <p:nvPr/>
        </p:nvSpPr>
        <p:spPr>
          <a:xfrm>
            <a:off x="6334125" y="255389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532" name="Google Shape;53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2575" y="2572940"/>
            <a:ext cx="2400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9"/>
          <p:cNvSpPr txBox="1"/>
          <p:nvPr/>
        </p:nvSpPr>
        <p:spPr>
          <a:xfrm>
            <a:off x="6334125" y="312911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34" name="Google Shape;534;p29"/>
          <p:cNvSpPr txBox="1"/>
          <p:nvPr/>
        </p:nvSpPr>
        <p:spPr>
          <a:xfrm>
            <a:off x="6334125" y="3993802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535" name="Google Shape;53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4012852"/>
            <a:ext cx="2781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9"/>
          <p:cNvSpPr txBox="1"/>
          <p:nvPr/>
        </p:nvSpPr>
        <p:spPr>
          <a:xfrm>
            <a:off x="6334125" y="4858494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37" name="Google Shape;537;p2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Bug #1: audit_trail</a:t>
            </a:r>
            <a:endParaRPr/>
          </a:p>
        </p:txBody>
      </p:sp>
      <p:sp>
        <p:nvSpPr>
          <p:cNvPr id="538" name="Google Shape;538;p29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9" name="Google Shape;53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1725" y="2830115"/>
            <a:ext cx="4067175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4" name="Google Shape;54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30040"/>
            <a:ext cx="11049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0"/>
          <p:cNvSpPr txBox="1"/>
          <p:nvPr/>
        </p:nvSpPr>
        <p:spPr>
          <a:xfrm>
            <a:off x="517075" y="2660413"/>
            <a:ext cx="5890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TypeError: Type is not msgpack serializable: Mock</a:t>
            </a:r>
            <a:endParaRPr/>
          </a:p>
        </p:txBody>
      </p:sp>
      <p:sp>
        <p:nvSpPr>
          <p:cNvPr id="546" name="Google Shape;546;p30"/>
          <p:cNvSpPr txBox="1"/>
          <p:nvPr/>
        </p:nvSpPr>
        <p:spPr>
          <a:xfrm>
            <a:off x="857250" y="3081486"/>
            <a:ext cx="5000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routing test injected objects into state fields meant to hold Domain Reports.</a:t>
            </a:r>
            <a:endParaRPr/>
          </a:p>
        </p:txBody>
      </p:sp>
      <p:sp>
        <p:nvSpPr>
          <p:cNvPr id="547" name="Google Shape;547;p30"/>
          <p:cNvSpPr txBox="1"/>
          <p:nvPr/>
        </p:nvSpPr>
        <p:spPr>
          <a:xfrm>
            <a:off x="857250" y="3946177"/>
            <a:ext cx="5000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LangGraph's checkpointer serializes state to persist it — and Mock instances aren't serializable.</a:t>
            </a:r>
            <a:endParaRPr/>
          </a:p>
        </p:txBody>
      </p:sp>
      <p:sp>
        <p:nvSpPr>
          <p:cNvPr id="548" name="Google Shape;548;p30"/>
          <p:cNvSpPr txBox="1"/>
          <p:nvPr/>
        </p:nvSpPr>
        <p:spPr>
          <a:xfrm>
            <a:off x="857250" y="4810869"/>
            <a:ext cx="5000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Lesson: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it goes into checkpointed state, it has to be a real, serializable domain object — a stand-in isn't enough.</a:t>
            </a:r>
            <a:endParaRPr/>
          </a:p>
        </p:txBody>
      </p:sp>
      <p:sp>
        <p:nvSpPr>
          <p:cNvPr id="549" name="Google Shape;549;p30"/>
          <p:cNvSpPr txBox="1"/>
          <p:nvPr/>
        </p:nvSpPr>
        <p:spPr>
          <a:xfrm>
            <a:off x="571500" y="308148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550" name="Google Shape;5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1775" y="3100536"/>
            <a:ext cx="6858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0"/>
          <p:cNvSpPr txBox="1"/>
          <p:nvPr/>
        </p:nvSpPr>
        <p:spPr>
          <a:xfrm>
            <a:off x="571500" y="3946177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52" name="Google Shape;552;p30"/>
          <p:cNvSpPr txBox="1"/>
          <p:nvPr/>
        </p:nvSpPr>
        <p:spPr>
          <a:xfrm>
            <a:off x="571500" y="4810869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53" name="Google Shape;553;p3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Bug #2: TypeError</a:t>
            </a:r>
            <a:endParaRPr/>
          </a:p>
        </p:txBody>
      </p:sp>
      <p:sp>
        <p:nvSpPr>
          <p:cNvPr id="554" name="Google Shape;554;p30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5" name="Google Shape;55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3275" y="2879715"/>
            <a:ext cx="53054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0" name="Google Shape;5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2858"/>
            <a:ext cx="110490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64433"/>
            <a:ext cx="1104900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3" name="Google Shape;56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8550" y="2592883"/>
            <a:ext cx="13335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4" name="Google Shape;56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9250" y="2592883"/>
            <a:ext cx="13335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5" name="Google Shape;565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19950" y="2592883"/>
            <a:ext cx="13335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6" name="Google Shape;566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021383"/>
            <a:ext cx="11049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7" name="Google Shape;567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14925" y="274052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8" name="Google Shape;568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05625" y="2740521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1"/>
          <p:cNvSpPr txBox="1"/>
          <p:nvPr/>
        </p:nvSpPr>
        <p:spPr>
          <a:xfrm>
            <a:off x="571500" y="3678730"/>
            <a:ext cx="3600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Test attempted to skip intermediate states</a:t>
            </a:r>
            <a:endParaRPr/>
          </a:p>
        </p:txBody>
      </p:sp>
      <p:sp>
        <p:nvSpPr>
          <p:cNvPr id="570" name="Google Shape;570;p31"/>
          <p:cNvSpPr txBox="1"/>
          <p:nvPr/>
        </p:nvSpPr>
        <p:spPr>
          <a:xfrm>
            <a:off x="857250" y="4479493"/>
            <a:ext cx="10763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S</a:t>
            </a:r>
            <a:r>
              <a:rPr b="1" lang="en-US" sz="1300">
                <a:solidFill>
                  <a:schemeClr val="lt1"/>
                </a:solidFill>
              </a:rPr>
              <a:t>tate Machine Invariant: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ReviewTaskRepository</a:t>
            </a:r>
            <a:r>
              <a:rPr lang="en-US" sz="1100">
                <a:solidFill>
                  <a:srgbClr val="38BDF8"/>
                </a:solidFill>
              </a:rPr>
              <a:t> </a:t>
            </a:r>
            <a:r>
              <a:rPr lang="en-US" sz="1100">
                <a:solidFill>
                  <a:schemeClr val="lt1"/>
                </a:solidFill>
              </a:rPr>
              <a:t>ensures a task cannot jump straight from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pending</a:t>
            </a:r>
            <a:r>
              <a:rPr lang="en-US" sz="1100">
                <a:solidFill>
                  <a:srgbClr val="38BDF8"/>
                </a:solidFill>
              </a:rPr>
              <a:t> </a:t>
            </a:r>
            <a:r>
              <a:rPr lang="en-US" sz="1100">
                <a:solidFill>
                  <a:schemeClr val="lt1"/>
                </a:solidFill>
              </a:rPr>
              <a:t>to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approved</a:t>
            </a:r>
            <a:r>
              <a:rPr lang="en-US" sz="1100">
                <a:solidFill>
                  <a:srgbClr val="38BDF8"/>
                </a:solidFill>
              </a:rPr>
              <a:t> 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571" name="Google Shape;571;p31"/>
          <p:cNvSpPr txBox="1"/>
          <p:nvPr/>
        </p:nvSpPr>
        <p:spPr>
          <a:xfrm>
            <a:off x="866321" y="5036571"/>
            <a:ext cx="10763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Test Bypass:</a:t>
            </a:r>
            <a:r>
              <a:rPr lang="en-US" sz="1100">
                <a:solidFill>
                  <a:schemeClr val="lt1"/>
                </a:solidFill>
              </a:rPr>
              <a:t> A test attempted to transition directly by hacking the property instead of using the controlled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assign()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chemeClr val="lt1"/>
                </a:solidFill>
              </a:rPr>
              <a:t>method</a:t>
            </a:r>
            <a:r>
              <a:rPr lang="en-US" sz="1100">
                <a:solidFill>
                  <a:schemeClr val="dk1"/>
                </a:solidFill>
              </a:rPr>
              <a:t>. </a:t>
            </a:r>
            <a:endParaRPr/>
          </a:p>
        </p:txBody>
      </p:sp>
      <p:sp>
        <p:nvSpPr>
          <p:cNvPr id="572" name="Google Shape;572;p31"/>
          <p:cNvSpPr txBox="1"/>
          <p:nvPr/>
        </p:nvSpPr>
        <p:spPr>
          <a:xfrm>
            <a:off x="857250" y="5608104"/>
            <a:ext cx="10763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Action Mapping:</a:t>
            </a:r>
            <a:r>
              <a:rPr lang="en-US" sz="1100">
                <a:solidFill>
                  <a:schemeClr val="lt1"/>
                </a:solidFill>
              </a:rPr>
              <a:t> Fixed the test, not the guardrail. The review action map permits only valid transitions</a:t>
            </a:r>
            <a:r>
              <a:rPr lang="en-US" sz="1100">
                <a:solidFill>
                  <a:schemeClr val="dk1"/>
                </a:solidFill>
              </a:rPr>
              <a:t>: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approve -&gt; approved</a:t>
            </a:r>
            <a:r>
              <a:rPr lang="en-US" sz="1100">
                <a:solidFill>
                  <a:srgbClr val="38BDF8"/>
                </a:solidFill>
              </a:rPr>
              <a:t> or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reject -&gt; rejected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573" name="Google Shape;573;p31"/>
          <p:cNvSpPr txBox="1"/>
          <p:nvPr/>
        </p:nvSpPr>
        <p:spPr>
          <a:xfrm>
            <a:off x="571500" y="4388778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74" name="Google Shape;574;p31"/>
          <p:cNvSpPr txBox="1"/>
          <p:nvPr/>
        </p:nvSpPr>
        <p:spPr>
          <a:xfrm>
            <a:off x="571500" y="4963999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75" name="Google Shape;575;p31"/>
          <p:cNvSpPr txBox="1"/>
          <p:nvPr/>
        </p:nvSpPr>
        <p:spPr>
          <a:xfrm>
            <a:off x="571500" y="553922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76" name="Google Shape;576;p3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Bug #3: State Flow</a:t>
            </a:r>
            <a:endParaRPr/>
          </a:p>
        </p:txBody>
      </p:sp>
      <p:sp>
        <p:nvSpPr>
          <p:cNvPr id="577" name="Google Shape;577;p31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2"/>
          <p:cNvSpPr txBox="1"/>
          <p:nvPr/>
        </p:nvSpPr>
        <p:spPr>
          <a:xfrm>
            <a:off x="571500" y="476250"/>
            <a:ext cx="11049000" cy="45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6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Live Demo</a:t>
            </a:r>
            <a:endParaRPr b="0" sz="296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83" name="Google Shape;583;p32"/>
          <p:cNvSpPr/>
          <p:nvPr/>
        </p:nvSpPr>
        <p:spPr>
          <a:xfrm>
            <a:off x="571500" y="1095375"/>
            <a:ext cx="110490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4" name="Google Shape;584;p32"/>
          <p:cNvGrpSpPr/>
          <p:nvPr/>
        </p:nvGrpSpPr>
        <p:grpSpPr>
          <a:xfrm>
            <a:off x="571500" y="1428750"/>
            <a:ext cx="6286500" cy="4762500"/>
            <a:chOff x="0" y="0"/>
            <a:chExt cx="6286500" cy="4762500"/>
          </a:xfrm>
        </p:grpSpPr>
        <p:sp>
          <p:nvSpPr>
            <p:cNvPr id="585" name="Google Shape;585;p32"/>
            <p:cNvSpPr/>
            <p:nvPr/>
          </p:nvSpPr>
          <p:spPr>
            <a:xfrm>
              <a:off x="0" y="0"/>
              <a:ext cx="6286500" cy="4762500"/>
            </a:xfrm>
            <a:prstGeom prst="roundRect">
              <a:avLst>
                <a:gd fmla="val 2400" name="adj"/>
              </a:avLst>
            </a:prstGeom>
            <a:solidFill>
              <a:srgbClr val="020617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0" y="0"/>
              <a:ext cx="6286500" cy="400200"/>
            </a:xfrm>
            <a:custGeom>
              <a:rect b="b" l="l" r="r" t="t"/>
              <a:pathLst>
                <a:path extrusionOk="0" h="120000" w="120000">
                  <a:moveTo>
                    <a:pt x="0" y="34286"/>
                  </a:moveTo>
                  <a:cubicBezTo>
                    <a:pt x="0" y="25193"/>
                    <a:pt x="230" y="16472"/>
                    <a:pt x="639" y="10042"/>
                  </a:cubicBezTo>
                  <a:cubicBezTo>
                    <a:pt x="1048" y="3612"/>
                    <a:pt x="1603" y="0"/>
                    <a:pt x="2182" y="0"/>
                  </a:cubicBezTo>
                  <a:lnTo>
                    <a:pt x="117818" y="0"/>
                  </a:lnTo>
                  <a:cubicBezTo>
                    <a:pt x="118397" y="-1"/>
                    <a:pt x="118952" y="3611"/>
                    <a:pt x="119361" y="10041"/>
                  </a:cubicBezTo>
                  <a:cubicBezTo>
                    <a:pt x="119770" y="16471"/>
                    <a:pt x="120000" y="25192"/>
                    <a:pt x="120000" y="34286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171450" y="142875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342900" y="142875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514350" y="142875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2"/>
            <p:cNvSpPr txBox="1"/>
            <p:nvPr/>
          </p:nvSpPr>
          <p:spPr>
            <a:xfrm>
              <a:off x="762000" y="95250"/>
              <a:ext cx="190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94A3B8"/>
                  </a:solidFill>
                  <a:latin typeface="Fira Code"/>
                  <a:ea typeface="Fira Code"/>
                  <a:cs typeface="Fira Code"/>
                  <a:sym typeface="Fira Code"/>
                </a:rPr>
                <a:t>bash - demo.sh</a:t>
              </a:r>
              <a:endParaRPr sz="105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591" name="Google Shape;591;p32"/>
            <p:cNvSpPr txBox="1"/>
            <p:nvPr/>
          </p:nvSpPr>
          <p:spPr>
            <a:xfrm>
              <a:off x="228600" y="552450"/>
              <a:ext cx="5829300" cy="40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BAE6FD"/>
                  </a:solidFill>
                  <a:latin typeface="Fira Code"/>
                  <a:ea typeface="Fira Code"/>
                  <a:cs typeface="Fira Code"/>
                  <a:sym typeface="Fira Code"/>
                </a:rPr>
                <a:t>$ python -m backend.scripts.run_hitl_demo</a:t>
              </a:r>
              <a:endParaRPr sz="1100">
                <a:solidFill>
                  <a:srgbClr val="BAE6FD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0B981"/>
                  </a:solidFill>
                  <a:latin typeface="Fira Code"/>
                  <a:ea typeface="Fira Code"/>
                  <a:cs typeface="Fira Code"/>
                  <a:sym typeface="Fira Code"/>
                </a:rPr>
                <a:t>🚀 Initializing Domain Copilot HITL Workflow Demo...</a:t>
              </a:r>
              <a:endParaRPr sz="1100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... standards_mapper -&gt; module_outline_generator -&gt; assessment_generator ...</a:t>
              </a:r>
              <a:endParaRPr sz="110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59E0B"/>
                  </a:solidFill>
                  <a:latin typeface="Fira Code"/>
                  <a:ea typeface="Fira Code"/>
                  <a:cs typeface="Fira Code"/>
                  <a:sym typeface="Fira Code"/>
                </a:rPr>
                <a:t>⏸ Paused before human_review. thread_id = demo-thread-001</a:t>
              </a:r>
              <a:endParaRPr sz="1100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# in a second terminal / psql, or via get_state():</a:t>
              </a:r>
              <a:endParaRPr sz="110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2E8F0"/>
                  </a:solidFill>
                  <a:latin typeface="Fira Code"/>
                  <a:ea typeface="Fira Code"/>
                  <a:cs typeface="Fira Code"/>
                  <a:sym typeface="Fira Code"/>
                </a:rPr>
                <a:t>&gt;&gt;&gt; review_service.get_pending_review("demo-thread-001")</a:t>
              </a:r>
              <a:endParaRPr sz="11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Fira Code"/>
                  <a:ea typeface="Fira Code"/>
                  <a:cs typeface="Fira Code"/>
                  <a:sym typeface="Fira Code"/>
                </a:rPr>
                <a:t>{'status': 'pending_review', 'competency_gap_report': {...}, ...}</a:t>
              </a:r>
              <a:endParaRPr sz="11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2E8F0"/>
                  </a:solidFill>
                  <a:latin typeface="Fira Code"/>
                  <a:ea typeface="Fira Code"/>
                  <a:cs typeface="Fira Code"/>
                  <a:sym typeface="Fira Code"/>
                </a:rPr>
                <a:t>&gt;&gt;&gt; review_service.process_review_decision("demo-thread-001", action="approve")</a:t>
              </a:r>
              <a:endParaRPr sz="11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0B981"/>
                  </a:solidFill>
                  <a:latin typeface="Fira Code"/>
                  <a:ea typeface="Fira Code"/>
                  <a:cs typeface="Fira Code"/>
                  <a:sym typeface="Fira Code"/>
                </a:rPr>
                <a:t>▶ Resuming thread demo-thread-001 from human_review...</a:t>
              </a:r>
              <a:endParaRPr sz="1100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592" name="Google Shape;592;p32"/>
          <p:cNvGrpSpPr/>
          <p:nvPr/>
        </p:nvGrpSpPr>
        <p:grpSpPr>
          <a:xfrm>
            <a:off x="7143750" y="1428750"/>
            <a:ext cx="4476900" cy="1428900"/>
            <a:chOff x="0" y="0"/>
            <a:chExt cx="4476900" cy="1428900"/>
          </a:xfrm>
        </p:grpSpPr>
        <p:sp>
          <p:nvSpPr>
            <p:cNvPr id="593" name="Google Shape;593;p32"/>
            <p:cNvSpPr/>
            <p:nvPr/>
          </p:nvSpPr>
          <p:spPr>
            <a:xfrm>
              <a:off x="0" y="0"/>
              <a:ext cx="44769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2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2"/>
            <p:cNvSpPr/>
            <p:nvPr/>
          </p:nvSpPr>
          <p:spPr>
            <a:xfrm>
              <a:off x="228600" y="19050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064E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2"/>
            <p:cNvSpPr txBox="1"/>
            <p:nvPr/>
          </p:nvSpPr>
          <p:spPr>
            <a:xfrm>
              <a:off x="22860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0B981"/>
                  </a:solidFill>
                  <a:latin typeface="Fira Code"/>
                  <a:ea typeface="Fira Code"/>
                  <a:cs typeface="Fira Code"/>
                  <a:sym typeface="Fira Code"/>
                </a:rPr>
                <a:t>01</a:t>
              </a:r>
              <a:endParaRPr b="1" sz="1300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597" name="Google Shape;597;p32"/>
            <p:cNvSpPr txBox="1"/>
            <p:nvPr/>
          </p:nvSpPr>
          <p:spPr>
            <a:xfrm>
              <a:off x="704850" y="152400"/>
              <a:ext cx="35814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Step 1 (The Trigger)</a:t>
              </a:r>
              <a:endParaRPr b="1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Initialize the script to spin up the agents (</a:t>
              </a:r>
              <a:r>
                <a:rPr lang="en-US" sz="105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standards_mapper</a:t>
              </a: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-&gt; </a:t>
              </a:r>
              <a:r>
                <a:rPr lang="en-US" sz="105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module_outline_generator</a:t>
              </a: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-&gt; </a:t>
              </a:r>
              <a:r>
                <a:rPr lang="en-US" sz="105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assessment_generator</a:t>
              </a: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8" name="Google Shape;598;p32"/>
          <p:cNvGrpSpPr/>
          <p:nvPr/>
        </p:nvGrpSpPr>
        <p:grpSpPr>
          <a:xfrm>
            <a:off x="7143750" y="3095625"/>
            <a:ext cx="4476900" cy="1428900"/>
            <a:chOff x="0" y="0"/>
            <a:chExt cx="4476900" cy="1428900"/>
          </a:xfrm>
        </p:grpSpPr>
        <p:sp>
          <p:nvSpPr>
            <p:cNvPr id="599" name="Google Shape;599;p32"/>
            <p:cNvSpPr/>
            <p:nvPr/>
          </p:nvSpPr>
          <p:spPr>
            <a:xfrm>
              <a:off x="0" y="0"/>
              <a:ext cx="44769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2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2"/>
            <p:cNvSpPr/>
            <p:nvPr/>
          </p:nvSpPr>
          <p:spPr>
            <a:xfrm>
              <a:off x="228600" y="19050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78350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2"/>
            <p:cNvSpPr txBox="1"/>
            <p:nvPr/>
          </p:nvSpPr>
          <p:spPr>
            <a:xfrm>
              <a:off x="22860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9E0B"/>
                  </a:solidFill>
                  <a:latin typeface="Fira Code"/>
                  <a:ea typeface="Fira Code"/>
                  <a:cs typeface="Fira Code"/>
                  <a:sym typeface="Fira Code"/>
                </a:rPr>
                <a:t>02</a:t>
              </a:r>
              <a:endParaRPr b="1" sz="1300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603" name="Google Shape;603;p32"/>
            <p:cNvSpPr txBox="1"/>
            <p:nvPr/>
          </p:nvSpPr>
          <p:spPr>
            <a:xfrm>
              <a:off x="704850" y="152400"/>
              <a:ext cx="35814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Step 2 (The Pause)</a:t>
              </a:r>
              <a:endParaRPr b="1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Watch the graph automatically halt at </a:t>
              </a:r>
              <a:r>
                <a:rPr lang="en-US" sz="1050">
                  <a:solidFill>
                    <a:srgbClr val="F59E0B"/>
                  </a:solidFill>
                  <a:latin typeface="Fira Code"/>
                  <a:ea typeface="Fira Code"/>
                  <a:cs typeface="Fira Code"/>
                  <a:sym typeface="Fira Code"/>
                </a:rPr>
                <a:t>interrupt_before</a:t>
              </a: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human review, persisting state safely to PostgreSQL.</a:t>
              </a:r>
              <a:endParaRPr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4" name="Google Shape;604;p32"/>
          <p:cNvGrpSpPr/>
          <p:nvPr/>
        </p:nvGrpSpPr>
        <p:grpSpPr>
          <a:xfrm>
            <a:off x="7143750" y="4762500"/>
            <a:ext cx="4476900" cy="1428900"/>
            <a:chOff x="0" y="0"/>
            <a:chExt cx="4476900" cy="1428900"/>
          </a:xfrm>
        </p:grpSpPr>
        <p:sp>
          <p:nvSpPr>
            <p:cNvPr id="605" name="Google Shape;605;p32"/>
            <p:cNvSpPr/>
            <p:nvPr/>
          </p:nvSpPr>
          <p:spPr>
            <a:xfrm>
              <a:off x="0" y="0"/>
              <a:ext cx="44769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2"/>
            <p:cNvSpPr/>
            <p:nvPr/>
          </p:nvSpPr>
          <p:spPr>
            <a:xfrm>
              <a:off x="228600" y="19050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0C4A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2"/>
            <p:cNvSpPr txBox="1"/>
            <p:nvPr/>
          </p:nvSpPr>
          <p:spPr>
            <a:xfrm>
              <a:off x="22860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03</a:t>
              </a:r>
              <a:endParaRPr b="1" sz="13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609" name="Google Shape;609;p32"/>
            <p:cNvSpPr txBox="1"/>
            <p:nvPr/>
          </p:nvSpPr>
          <p:spPr>
            <a:xfrm>
              <a:off x="704850" y="152400"/>
              <a:ext cx="35814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Step 3 (The Resume)</a:t>
              </a:r>
              <a:endParaRPr b="1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Fetch the pending review via the service, approve the decision, and watch the graph resume execution seamlessly.</a:t>
              </a:r>
              <a:endParaRPr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4" name="Google Shape;6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3"/>
          <p:cNvSpPr txBox="1"/>
          <p:nvPr/>
        </p:nvSpPr>
        <p:spPr>
          <a:xfrm>
            <a:off x="571500" y="2013793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Coming Up: What you'll do in the lab</a:t>
            </a:r>
            <a:endParaRPr/>
          </a:p>
        </p:txBody>
      </p:sp>
      <p:sp>
        <p:nvSpPr>
          <p:cNvPr id="616" name="Google Shape;616;p33"/>
          <p:cNvSpPr txBox="1"/>
          <p:nvPr/>
        </p:nvSpPr>
        <p:spPr>
          <a:xfrm>
            <a:off x="1684725" y="2763023"/>
            <a:ext cx="1076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Spin up &amp; Verify:</a:t>
            </a:r>
            <a:r>
              <a:rPr lang="en-US" sz="1500">
                <a:solidFill>
                  <a:schemeClr val="lt1"/>
                </a:solidFill>
              </a:rPr>
              <a:t> Run the local environment, Postgres, and architecture tests. 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17" name="Google Shape;617;p33"/>
          <p:cNvSpPr txBox="1"/>
          <p:nvPr/>
        </p:nvSpPr>
        <p:spPr>
          <a:xfrm>
            <a:off x="1681261" y="3390675"/>
            <a:ext cx="1076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</a:rPr>
              <a:t>Execute &amp; Inspect: Run the HITL workflow, pause at the review gate, and approve via the AP</a:t>
            </a:r>
            <a:r>
              <a:rPr lang="en-US" sz="1300">
                <a:solidFill>
                  <a:schemeClr val="lt1"/>
                </a:solidFill>
              </a:rPr>
              <a:t>I. 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618" name="Google Shape;618;p33"/>
          <p:cNvSpPr txBox="1"/>
          <p:nvPr/>
        </p:nvSpPr>
        <p:spPr>
          <a:xfrm>
            <a:off x="1681261" y="4061145"/>
            <a:ext cx="1076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</a:rPr>
              <a:t>Break &amp; Fix: Reproduce the state bugs (reducers and serialization) and implement the fixe</a:t>
            </a:r>
            <a:r>
              <a:rPr lang="en-US" sz="1300">
                <a:solidFill>
                  <a:schemeClr val="lt1"/>
                </a:solidFill>
              </a:rPr>
              <a:t>s.</a:t>
            </a:r>
            <a:r>
              <a:rPr lang="en-US" sz="13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619" name="Google Shape;619;p33"/>
          <p:cNvSpPr txBox="1"/>
          <p:nvPr/>
        </p:nvSpPr>
        <p:spPr>
          <a:xfrm>
            <a:off x="1712793" y="4731604"/>
            <a:ext cx="1076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</a:rPr>
              <a:t>Stretch Challenges: Tackle advanced tasks including writing the ADR documentation</a:t>
            </a:r>
            <a:r>
              <a:rPr lang="en-US" sz="1300">
                <a:solidFill>
                  <a:schemeClr val="dk1"/>
                </a:solidFill>
              </a:rPr>
              <a:t>. </a:t>
            </a:r>
            <a:endParaRPr sz="1600"/>
          </a:p>
        </p:txBody>
      </p:sp>
      <p:sp>
        <p:nvSpPr>
          <p:cNvPr id="620" name="Google Shape;620;p33"/>
          <p:cNvSpPr txBox="1"/>
          <p:nvPr/>
        </p:nvSpPr>
        <p:spPr>
          <a:xfrm>
            <a:off x="1265625" y="2720204"/>
            <a:ext cx="13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621" name="Google Shape;621;p33"/>
          <p:cNvSpPr txBox="1"/>
          <p:nvPr/>
        </p:nvSpPr>
        <p:spPr>
          <a:xfrm>
            <a:off x="1265625" y="3390675"/>
            <a:ext cx="13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622" name="Google Shape;622;p33"/>
          <p:cNvSpPr txBox="1"/>
          <p:nvPr/>
        </p:nvSpPr>
        <p:spPr>
          <a:xfrm>
            <a:off x="1265625" y="4061145"/>
            <a:ext cx="13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623" name="Google Shape;623;p33"/>
          <p:cNvSpPr txBox="1"/>
          <p:nvPr/>
        </p:nvSpPr>
        <p:spPr>
          <a:xfrm>
            <a:off x="1265625" y="4731616"/>
            <a:ext cx="13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624" name="Google Shape;624;p33"/>
          <p:cNvSpPr txBox="1"/>
          <p:nvPr/>
        </p:nvSpPr>
        <p:spPr>
          <a:xfrm>
            <a:off x="571500" y="5316587"/>
            <a:ext cx="1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Next Up: The Hands-On Lab</a:t>
            </a:r>
            <a:endParaRPr/>
          </a:p>
        </p:txBody>
      </p:sp>
      <p:sp>
        <p:nvSpPr>
          <p:cNvPr id="626" name="Google Shape;626;p33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1" name="Google Shape;6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2" name="Google Shape;63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714797"/>
            <a:ext cx="8572500" cy="361324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34"/>
          <p:cNvSpPr txBox="1"/>
          <p:nvPr/>
        </p:nvSpPr>
        <p:spPr>
          <a:xfrm>
            <a:off x="1365408" y="762297"/>
            <a:ext cx="946118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Recap &amp; Q&amp;A</a:t>
            </a:r>
            <a:endParaRPr/>
          </a:p>
        </p:txBody>
      </p:sp>
      <p:sp>
        <p:nvSpPr>
          <p:cNvPr id="634" name="Google Shape;634;p34"/>
          <p:cNvSpPr txBox="1"/>
          <p:nvPr/>
        </p:nvSpPr>
        <p:spPr>
          <a:xfrm>
            <a:off x="1590675" y="5709046"/>
            <a:ext cx="9010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rPr>
              <a:t>Questions? → docs/adr/, docs/AI-USAGE-LOG.md, and backend/tests/ are the real source of truth.</a:t>
            </a:r>
            <a:endParaRPr/>
          </a:p>
        </p:txBody>
      </p:sp>
      <p:sp>
        <p:nvSpPr>
          <p:cNvPr id="635" name="Google Shape;635;p34"/>
          <p:cNvSpPr txBox="1"/>
          <p:nvPr/>
        </p:nvSpPr>
        <p:spPr>
          <a:xfrm>
            <a:off x="2390775" y="2010072"/>
            <a:ext cx="76962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A graph buys you pause/resume, retry, and conditional routing for free — but only if state is designed carefully.</a:t>
            </a:r>
            <a:endParaRPr/>
          </a:p>
        </p:txBody>
      </p:sp>
      <p:sp>
        <p:nvSpPr>
          <p:cNvPr id="636" name="Google Shape;636;p34"/>
          <p:cNvSpPr txBox="1"/>
          <p:nvPr/>
        </p:nvSpPr>
        <p:spPr>
          <a:xfrm>
            <a:off x="2390775" y="2874764"/>
            <a:ext cx="76962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Every field a node can update more than once needs an explicit reducer.</a:t>
            </a:r>
            <a:endParaRPr/>
          </a:p>
        </p:txBody>
      </p:sp>
      <p:sp>
        <p:nvSpPr>
          <p:cNvPr id="637" name="Google Shape;637;p34"/>
          <p:cNvSpPr txBox="1"/>
          <p:nvPr/>
        </p:nvSpPr>
        <p:spPr>
          <a:xfrm>
            <a:off x="2390775" y="3449984"/>
            <a:ext cx="76962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Anything that reaches checkpointed state must be a real, serializable domain object.</a:t>
            </a:r>
            <a:endParaRPr/>
          </a:p>
        </p:txBody>
      </p:sp>
      <p:sp>
        <p:nvSpPr>
          <p:cNvPr id="638" name="Google Shape;638;p34"/>
          <p:cNvSpPr txBox="1"/>
          <p:nvPr/>
        </p:nvSpPr>
        <p:spPr>
          <a:xfrm>
            <a:off x="2390775" y="4025205"/>
            <a:ext cx="76962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Side-effecting nodes must assume they can be re-invoked.</a:t>
            </a:r>
            <a:endParaRPr/>
          </a:p>
        </p:txBody>
      </p:sp>
      <p:sp>
        <p:nvSpPr>
          <p:cNvPr id="639" name="Google Shape;639;p34"/>
          <p:cNvSpPr txBox="1"/>
          <p:nvPr/>
        </p:nvSpPr>
        <p:spPr>
          <a:xfrm>
            <a:off x="2390775" y="4600426"/>
            <a:ext cx="76962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"Stopped streaming" and "stopped computing" are two different things.</a:t>
            </a:r>
            <a:endParaRPr/>
          </a:p>
        </p:txBody>
      </p:sp>
      <p:sp>
        <p:nvSpPr>
          <p:cNvPr id="640" name="Google Shape;640;p34"/>
          <p:cNvSpPr txBox="1"/>
          <p:nvPr/>
        </p:nvSpPr>
        <p:spPr>
          <a:xfrm>
            <a:off x="2105025" y="2010072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41" name="Google Shape;641;p34"/>
          <p:cNvSpPr txBox="1"/>
          <p:nvPr/>
        </p:nvSpPr>
        <p:spPr>
          <a:xfrm>
            <a:off x="2105025" y="2874764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42" name="Google Shape;642;p34"/>
          <p:cNvSpPr txBox="1"/>
          <p:nvPr/>
        </p:nvSpPr>
        <p:spPr>
          <a:xfrm>
            <a:off x="2105025" y="3449984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43" name="Google Shape;643;p34"/>
          <p:cNvSpPr txBox="1"/>
          <p:nvPr/>
        </p:nvSpPr>
        <p:spPr>
          <a:xfrm>
            <a:off x="2105025" y="402520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44" name="Google Shape;644;p34"/>
          <p:cNvSpPr txBox="1"/>
          <p:nvPr/>
        </p:nvSpPr>
        <p:spPr>
          <a:xfrm>
            <a:off x="2105025" y="460042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9" name="Google Shape;64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35"/>
          <p:cNvSpPr txBox="1"/>
          <p:nvPr/>
        </p:nvSpPr>
        <p:spPr>
          <a:xfrm>
            <a:off x="1333500" y="2979475"/>
            <a:ext cx="9525000" cy="62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3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b="1" sz="403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35"/>
          <p:cNvSpPr txBox="1"/>
          <p:nvPr/>
        </p:nvSpPr>
        <p:spPr>
          <a:xfrm>
            <a:off x="5739300" y="4739275"/>
            <a:ext cx="511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Rana Alaa Abdelaziz | Software Developer 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